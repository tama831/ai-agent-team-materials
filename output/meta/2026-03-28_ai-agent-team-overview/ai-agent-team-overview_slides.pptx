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943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800" b="1">
                <a:solidFill>
                  <a:srgbClr val="F0F4FC"/>
                </a:solidFill>
                <a:latin typeface="Calibri"/>
              </a:defRPr>
            </a:pPr>
            <a:r>
              <a:t>AI Agent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0">
                <a:solidFill>
                  <a:srgbClr val="8A95BA"/>
                </a:solidFill>
                <a:latin typeface="Calibri"/>
              </a:defRPr>
            </a:pPr>
            <a:r>
              <a:t>学びをデザインする9人のエージェント会社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840480"/>
            <a:ext cx="50292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0F4FC"/>
                </a:solidFill>
                <a:latin typeface="Calibri"/>
              </a:defRPr>
            </a:pPr>
            <a:r>
              <a:t>Learning Design Lab | CEO: たまさん（家庭医 × 教育者 × AI実践者）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548640"/>
            <a:ext cx="2377440" cy="1828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548640"/>
            <a:ext cx="23774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800" b="1">
                <a:solidFill>
                  <a:srgbClr val="1E2761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0">
                <a:solidFill>
                  <a:srgbClr val="1E2761"/>
                </a:solidFill>
                <a:latin typeface="Calibri"/>
              </a:defRPr>
            </a:pPr>
            <a:r>
              <a:t>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なぜAIエージェントチーム？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3931920" cy="502920"/>
          </a:xfrm>
          <a:prstGeom prst="rect">
            <a:avLst/>
          </a:prstGeom>
          <a:solidFill>
            <a:srgbClr val="E8EEFA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0759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情報過多: 医療×AI×教育、毎日膨大な情報が流れる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931920" cy="502920"/>
          </a:xfrm>
          <a:prstGeom prst="rect">
            <a:avLst/>
          </a:prstGeom>
          <a:solidFill>
            <a:srgbClr val="E8EEFA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時間不足: 臨床・教育・研究の合間に処理しきれない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3931920" cy="502920"/>
          </a:xfrm>
          <a:prstGeom prst="rect">
            <a:avLst/>
          </a:prstGeom>
          <a:solidFill>
            <a:srgbClr val="E8EEFA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8775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発信したい: 学びを届けたいが制作時間が足りない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9144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解決策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234440"/>
            <a:ext cx="3749039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307592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9人のAIエージェントが24時間稼働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874519"/>
            <a:ext cx="3749039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1947672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情報収集→分析→教材→コンテンツを自動化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514600"/>
            <a:ext cx="3749039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587752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たまさんは「判断」と「声」に集中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931920"/>
            <a:ext cx="80284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05072"/>
            <a:ext cx="777240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t>一人会社だけど、チームで動く — それがAIエージェントカンパニー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チーム相関図</a:t>
            </a:r>
          </a:p>
        </p:txBody>
      </p:sp>
      <p:pic>
        <p:nvPicPr>
          <p:cNvPr id="4" name="Picture 3" descr="agent-team-org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🔵 学習支援チーム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8A95BA"/>
                </a:solidFill>
                <a:latin typeface="Calibri"/>
              </a:defRPr>
            </a:pPr>
            <a:r>
              <a:t>たまさんの学びを加速する6エージェント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2560320" cy="868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Scout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リサーチ部長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80160"/>
            <a:ext cx="2560320" cy="868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37160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Verifier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178308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検証ゲート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2560320" cy="868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企画部長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39"/>
            <a:ext cx="2560320" cy="868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68879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Conductor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80359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COO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377439"/>
            <a:ext cx="2560320" cy="868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2468879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Scribe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2880359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教育デザイナー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377439"/>
            <a:ext cx="2560320" cy="868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468879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Librarian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80359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ナレッジ管理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0">
                <a:solidFill>
                  <a:srgbClr val="00C9A7"/>
                </a:solidFill>
                <a:latin typeface="Calibri"/>
              </a:defRPr>
            </a:pPr>
            <a:r>
              <a:t>Scout → Verifier → Analyst → CEO判断 → Scribe → Librarian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03320"/>
            <a:ext cx="82296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Scout &amp; Verifier — 情報収集と検証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alibri"/>
              </a:defRPr>
            </a:pPr>
            <a:r>
              <a:t>Scout — リサーチ部長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84048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並列サブエージェントで4クラスター同時調査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一次ソース（論文・公式）と二次ソース（まとめ）を区別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信頼度スコア（high/medium/low）付与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トリガー: /scout [トピック]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alibri"/>
              </a:defRPr>
            </a:pPr>
            <a:r>
              <a:t>Verifier — 検証ゲート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384048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Scout出力のファクトチェック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URL検証・ソース到達確認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信頼度の再評価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パイプライン上の品質フィルター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914400"/>
            <a:ext cx="36576" cy="3200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Analyst &amp; Scribe — 分析と教材化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alibri"/>
              </a:defRPr>
            </a:pPr>
            <a:r>
              <a:t>Analyst — 企画部長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84048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3つのレンズで深掘り（医師×ID×AI）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Conductorの見立て＋予測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独自の切り口を発見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トリガー: /analyst [トピック]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alibri"/>
              </a:defRPr>
            </a:pPr>
            <a:r>
              <a:t>Scribe — 教育デザイナー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384048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ガニェの9教授事象に基づく設計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対象者別出力（研修医・全職員）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PPTX + DOCX自動生成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トリガー: /scribe [トピック]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914400"/>
            <a:ext cx="36576" cy="3200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Conductor &amp; Librarian — 統括とナレッジ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alibri"/>
              </a:defRPr>
            </a:pPr>
            <a:r>
              <a:t>Conductor — COO（最高執行責任者）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84048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t>朝・昼・週次の3モードブリーフィング</a:t>
            </a:r>
          </a:p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t>全パイプラインのオーケストレーション</a:t>
            </a:r>
          </a:p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t>承認ゲート管理</a:t>
            </a:r>
          </a:p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t>トリガー: /briefing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alibri"/>
              </a:defRPr>
            </a:pPr>
            <a:r>
              <a:t>Librarian — ナレッジ管理部長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384048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t>Eloベースの関心マップ（50トピック）</a:t>
            </a:r>
          </a:p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t>❤️🎓エンゲージメント追跡</a:t>
            </a:r>
          </a:p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t>週次レトロスペクティブ</a:t>
            </a:r>
          </a:p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t>トリガー: /librarian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914400"/>
            <a:ext cx="36576" cy="3200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🟠 ビジネスチーム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8A95BA"/>
                </a:solidFill>
                <a:latin typeface="Calibri"/>
              </a:defRPr>
            </a:pPr>
            <a:r>
              <a:t>学びを届ける4エージェント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92024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6459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Writer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制作部長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280160"/>
            <a:ext cx="192024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371600"/>
            <a:ext cx="16459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Editor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8308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品質管理部長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192024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371600"/>
            <a:ext cx="16459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Publisher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78308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配信部長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280160"/>
            <a:ext cx="192024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371600"/>
            <a:ext cx="16459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Marketer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78308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グロース部長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8880"/>
            <a:ext cx="82296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00C9A7"/>
                </a:solidFill>
                <a:latin typeface="Calibri"/>
              </a:defRPr>
            </a:pPr>
            <a:r>
              <a:t>Scout → Analyst → CEO → Writer → Editor → CEO → Publisher → Marketer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コンテンツの4本柱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192024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11880"/>
            <a:ext cx="17373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学び方のデザイン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3566160"/>
            <a:ext cx="192024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3611880"/>
            <a:ext cx="17373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AIエージェント一人会社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566160"/>
            <a:ext cx="192024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3611880"/>
            <a:ext cx="17373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家庭医の視点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3566160"/>
            <a:ext cx="192024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3611880"/>
            <a:ext cx="17373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趣味で学ぶID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Writer &amp; Editor — 制作と品質保証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Writer — 制作部長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3657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フォーマット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内容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note無料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学び方のデザイン・AI活用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note有料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深掘り分析・実践ガイド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Podcast台本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対話形式・20-30分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Xスレッド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要点まとめ・速報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メンバーシップ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限定コンテンツ・Q&amp;A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t>トリガー: /writer [テーマ]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Editor — 品質管理部長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384048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文章品質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ファクトチェック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リスクチェック（医師法・薬機法）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SEO・発見性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ブランド一貫性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t>トリガー: /editor [ファイル]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3931920"/>
            <a:ext cx="80284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05072"/>
            <a:ext cx="777240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t>CEOゲート: Writer→Editor の出力はたまさんの最終承認が必要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Publisher &amp; Marketer — 配信と成長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Publisher — 配信部長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657600" cy="411480"/>
          </a:xfrm>
          <a:prstGeom prst="rect">
            <a:avLst/>
          </a:prstGeom>
          <a:solidFill>
            <a:srgbClr val="E8EEF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note.com — 週2-3本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657600" cy="411480"/>
          </a:xfrm>
          <a:prstGeom prst="rect">
            <a:avLst/>
          </a:prstGeom>
          <a:solidFill>
            <a:srgbClr val="E8EEF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Podcast — 週1回・20-30分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3657600" cy="411480"/>
          </a:xfrm>
          <a:prstGeom prst="rect">
            <a:avLst/>
          </a:prstGeom>
          <a:solidFill>
            <a:srgbClr val="E8EEF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X — 毎日1-3投稿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5BA"/>
                </a:solidFill>
                <a:latin typeface="Calibri"/>
              </a:defRPr>
            </a:pPr>
            <a:r>
              <a:t>教育モード: Scribe出力→PPTX/DOCX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t>トリガー: /publisher [ファイル]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Marketer — グロース部長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371600"/>
            <a:ext cx="384048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フォロワー/リスナー数トラッキング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収益ダッシュボード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成長戦略立案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t>ABテスト設計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38328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t>トリガー: /marketer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914400"/>
            <a:ext cx="36576" cy="2743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パイプライン全体像 — 学習からビジネスへ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学習パイプライン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8872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Scout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17320"/>
            <a:ext cx="2286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371600"/>
            <a:ext cx="118872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39" y="1417320"/>
            <a:ext cx="10972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Verifier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39" y="1417320"/>
            <a:ext cx="2286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118872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17320"/>
            <a:ext cx="10972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2286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371600"/>
            <a:ext cx="118872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417320"/>
            <a:ext cx="10972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Conductor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417320"/>
            <a:ext cx="2286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118872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417320"/>
            <a:ext cx="10972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Scribe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417320"/>
            <a:ext cx="2286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371600"/>
            <a:ext cx="118872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1417320"/>
            <a:ext cx="10972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Librarian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48840"/>
            <a:ext cx="8229600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↕ クロスフロー: 調査結果→ネタ元 / 教材→有料コンテンツ 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Calibri"/>
              </a:defRPr>
            </a:pPr>
            <a:r>
              <a:t>ビジネスパイプライン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08960"/>
            <a:ext cx="9144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154680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Scout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54680"/>
            <a:ext cx="16459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F0F4F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53312" y="3108960"/>
            <a:ext cx="9144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9032" y="3154680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Analyst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67712" y="3154680"/>
            <a:ext cx="16459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F0F4F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32303" y="3108960"/>
            <a:ext cx="91440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78023" y="3154680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CEO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6703" y="3154680"/>
            <a:ext cx="16459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F0F4F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11296" y="3108960"/>
            <a:ext cx="9144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57015" y="3154680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Writer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25696" y="3154680"/>
            <a:ext cx="16459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F0F4F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108960"/>
            <a:ext cx="9144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36007" y="3154680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Editor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4688" y="3154680"/>
            <a:ext cx="16459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F0F4F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79" y="3108960"/>
            <a:ext cx="91440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4999" y="3154680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CEO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79" y="3154680"/>
            <a:ext cx="16459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F0F4F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48272" y="3108960"/>
            <a:ext cx="9144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3992" y="3154680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Publisher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2671" y="3154680"/>
            <a:ext cx="16459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F0F4F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27264" y="3108960"/>
            <a:ext cx="9144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72984" y="3154680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Marketer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931920"/>
            <a:ext cx="54864" cy="5943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3931920"/>
            <a:ext cx="811987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4005072"/>
            <a:ext cx="7863840" cy="4480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t>学習チームの調査結果がビジネスチームのネタ元に。Scribeの教材が有料コンテンツに。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進化ロードマップ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651760" cy="3474720"/>
          </a:xfrm>
          <a:prstGeom prst="rect">
            <a:avLst/>
          </a:prstGeom>
          <a:solidFill>
            <a:srgbClr val="E8EEFA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t>Phase 1 (Now)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基盤強化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37744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t>cron安定化・認証セッション維持</a:t>
            </a:r>
          </a:p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t>モバイル連携（Claude Code Channels）</a:t>
            </a:r>
          </a:p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t>ダッシュボード改善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005840"/>
            <a:ext cx="2651760" cy="3474720"/>
          </a:xfrm>
          <a:prstGeom prst="rect">
            <a:avLst/>
          </a:prstGeom>
          <a:solidFill>
            <a:srgbClr val="E8EEFA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097280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t>Phase 2 (Next)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37160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自律化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237744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t>秘書Agent（進捗横断管理）</a:t>
            </a:r>
          </a:p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t>A2Aプロトコル（エージェント間通信標準化）</a:t>
            </a:r>
          </a:p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t>n8nワークフロー（可視化・エラー通知）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2651760" cy="3474720"/>
          </a:xfrm>
          <a:prstGeom prst="rect">
            <a:avLst/>
          </a:prstGeom>
          <a:solidFill>
            <a:srgbClr val="E8EEFA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097280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t>Phase 3 (Future)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マルチLLM拡張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237744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t>Gemini連携（長文コンテキスト活用）</a:t>
            </a:r>
          </a:p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t>NotebookLM（ポッドキャスト自動生成）</a:t>
            </a:r>
          </a:p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t>外部API統合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注目アイデア4選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4023360" cy="1463040"/>
          </a:xfrm>
          <a:prstGeom prst="rect">
            <a:avLst/>
          </a:prstGeom>
          <a:solidFill>
            <a:srgbClr val="E8EEFA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秘書Agent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「誰がどこまで進んだか」を横断管理。Conductorの負荷分散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005840"/>
            <a:ext cx="4023360" cy="1463040"/>
          </a:xfrm>
          <a:prstGeom prst="rect">
            <a:avLst/>
          </a:prstGeom>
          <a:solidFill>
            <a:srgbClr val="E8EEFA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2040" y="1143000"/>
            <a:ext cx="457200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1430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188720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A2Aプロトコル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64592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Agent Cardによるサービスディスカバリ。動的ルーティング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4023360" cy="1463040"/>
          </a:xfrm>
          <a:prstGeom prst="rect">
            <a:avLst/>
          </a:prstGeom>
          <a:solidFill>
            <a:srgbClr val="E8EEFA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880360"/>
            <a:ext cx="457200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8036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926080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n8nワークフロー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8328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パイプラインの可視化。エラー通知・リトライ一元管理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743200"/>
            <a:ext cx="4023360" cy="1463040"/>
          </a:xfrm>
          <a:prstGeom prst="rect">
            <a:avLst/>
          </a:prstGeom>
          <a:solidFill>
            <a:srgbClr val="E8EEFA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40" y="2880360"/>
            <a:ext cx="457200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288036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926080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Gemini × NotebookLM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38328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マルチLLM活用。ポッドキャスト音声自動生成の可能性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Vision — たまさんが判断に集中できる世界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54864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005840"/>
            <a:ext cx="77541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7498079" cy="7680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E2761"/>
                </a:solidFill>
                <a:latin typeface="Georgia"/>
              </a:defRPr>
            </a:pPr>
            <a:r>
              <a:t>情報収集・分析・制作・配信…すべてをエージェントが担い、</a:t>
            </a:r>
            <a:br/>
            <a:r>
              <a:t>たまさんは「何を学ぶか」「何を届けるか」の判断だけに集中する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1188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現在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23774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週5-8時間の関与（方向性決定・最終承認・声入れ）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1188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目標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88920"/>
            <a:ext cx="23774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判断以外の作業時間をゼロに近づける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86000"/>
            <a:ext cx="2651760" cy="1188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最終形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88920"/>
            <a:ext cx="23774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学びと発信が自然に回り続けるエコシステム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8A95BA"/>
                </a:solidFill>
                <a:latin typeface="Calibri"/>
              </a:defRPr>
            </a:pPr>
            <a:r>
              <a:t>AI Agent Team | Learning Design Lab | 2026-03-28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