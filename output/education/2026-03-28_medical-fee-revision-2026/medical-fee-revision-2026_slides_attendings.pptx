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6400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t>2026年度 診療報酬改定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400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8A95BA"/>
                </a:solidFill>
                <a:latin typeface="Calibri"/>
              </a:defRPr>
            </a:pPr>
            <a:r>
              <a:t>管理者・指導医のための完全ガイド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645920"/>
            <a:ext cx="3657600" cy="18288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173736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5200" b="1">
                <a:solidFill>
                  <a:srgbClr val="1E2761"/>
                </a:solidFill>
                <a:latin typeface="Calibri"/>
              </a:defRPr>
            </a:pPr>
            <a:r>
              <a:t>+3.09%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51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1E2761"/>
                </a:solidFill>
                <a:latin typeface="Calibri"/>
              </a:defRPr>
            </a:pPr>
            <a:r>
              <a:t>本体改定率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97180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1E2761"/>
                </a:solidFill>
                <a:latin typeface="Calibri"/>
              </a:defRPr>
            </a:pPr>
            <a:r>
              <a:t>30年ぶりの大幅引き上げ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011680"/>
            <a:ext cx="40050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84832"/>
            <a:ext cx="3749039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t>賃上げ・DX・かかりつけ・急性期再編</a:t>
            </a:r>
            <a:br/>
            <a:r>
              <a:t>— 4つの柱を読み解く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Scribe Agent | 2026-03-28 | ガニェの9教授事象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本日の学習目標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8229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t>分析できる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88720"/>
            <a:ext cx="5486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Calibri"/>
              </a:defRPr>
            </a:pPr>
            <a:r>
              <a:t>改定の構造的背景と4つの柱の相互関係を説明できる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7680960" cy="8229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40279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t>評価できる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286000"/>
            <a:ext cx="5486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Calibri"/>
              </a:defRPr>
            </a:pPr>
            <a:r>
              <a:t>自院への影響を定量的に判断できる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91839"/>
            <a:ext cx="7680960" cy="8229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37559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t>創造できる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383279"/>
            <a:ext cx="5486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Calibri"/>
              </a:defRPr>
            </a:pPr>
            <a:r>
              <a:t>施設基準取得・維持の戦略ロードマップを立案できる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t>ブルームの分類法: 分析→評価→創造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改定の歴史的位置づけ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5BA"/>
                </a:solidFill>
                <a:latin typeface="Calibri"/>
              </a:defRPr>
            </a:pPr>
            <a:r>
              <a:t>30年ぶりの大幅プラス改定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4572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8A95BA"/>
                </a:solidFill>
                <a:latin typeface="Calibri"/>
              </a:defRPr>
            </a:pPr>
            <a:r>
              <a:t>2024年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25880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8A95BA"/>
                </a:solidFill>
                <a:latin typeface="Calibri"/>
              </a:defRPr>
            </a:pPr>
            <a:r>
              <a:t>+0.88%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41731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t>本体+0.46%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731520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t>2026年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40279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Calibri"/>
              </a:defRPr>
            </a:pPr>
            <a:r>
              <a:t>+3.09%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331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t>30年ぶり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108960"/>
            <a:ext cx="4572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0040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8A95BA"/>
                </a:solidFill>
                <a:latin typeface="Calibri"/>
              </a:defRPr>
            </a:pPr>
            <a:r>
              <a:t>1994年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154679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8A95BA"/>
                </a:solidFill>
                <a:latin typeface="Calibri"/>
              </a:defRPr>
            </a:pPr>
            <a:r>
              <a:t>+3.4%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2461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t>過去最大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420624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t>なぜ今、30年ぶりの引き上げが必要になったのか？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改定率の内訳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5029200" cy="6858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E2761"/>
                </a:solidFill>
                <a:latin typeface="Calibri"/>
              </a:defRPr>
            </a:pPr>
            <a:r>
              <a:t>賃上げ対応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143000"/>
            <a:ext cx="1371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t>+1.70%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14300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t>約7,700億円（55%）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65960"/>
            <a:ext cx="3200400" cy="685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79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E2761"/>
                </a:solidFill>
                <a:latin typeface="Calibri"/>
              </a:defRPr>
            </a:pPr>
            <a:r>
              <a:t>物価高騰対応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011679"/>
            <a:ext cx="1371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t>+0.76%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01167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t>約3,400億円（25%）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34639"/>
            <a:ext cx="1371600" cy="685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80359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E2761"/>
                </a:solidFill>
                <a:latin typeface="Calibri"/>
              </a:defRPr>
            </a:pPr>
            <a:r>
              <a:t>食費・光熱水費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59"/>
            <a:ext cx="1371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t>+0.09%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8035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t>約400億円（3%）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2286000" cy="685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49039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E2761"/>
                </a:solidFill>
                <a:latin typeface="Calibri"/>
              </a:defRPr>
            </a:pPr>
            <a:r>
              <a:t>経営難緊急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749039"/>
            <a:ext cx="1371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t>+0.44%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74903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t>約2,000億円（14%）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572000"/>
            <a:ext cx="54864" cy="3657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572000"/>
            <a:ext cx="811987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45152"/>
            <a:ext cx="786384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t>改定の半分以上（55%）が「賃上げ」— これは政策的メッセージ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改定の4本柱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965960" cy="2926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965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783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1E2761"/>
                </a:solidFill>
                <a:latin typeface="Calibri"/>
              </a:defRPr>
            </a:pPr>
            <a:r>
              <a:t>賃上げ・物価対応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7830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0">
                <a:solidFill>
                  <a:srgbClr val="1E2761"/>
                </a:solidFill>
                <a:latin typeface="Calibri"/>
              </a:defRPr>
            </a:pPr>
            <a:r>
              <a:t>ベースアップ評価料拡充</a:t>
            </a:r>
            <a:br/>
            <a:r>
              <a:t>物価対応料新設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914400"/>
            <a:ext cx="196596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005840"/>
            <a:ext cx="1965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0F4F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554480"/>
            <a:ext cx="1783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t>医療DX推進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377440"/>
            <a:ext cx="17830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0">
                <a:solidFill>
                  <a:srgbClr val="8A95BA"/>
                </a:solidFill>
                <a:latin typeface="Calibri"/>
              </a:defRPr>
            </a:pPr>
            <a:r>
              <a:t>旧加算廃止→</a:t>
            </a:r>
            <a:br/>
            <a:r>
              <a:t>電子的診療情報連携に統合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914400"/>
            <a:ext cx="196596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005840"/>
            <a:ext cx="1965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0F4FC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783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t>かかりつけ医</a:t>
            </a:r>
            <a:br/>
            <a:r>
              <a:t>機能強化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377440"/>
            <a:ext cx="17830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0">
                <a:solidFill>
                  <a:srgbClr val="8A95BA"/>
                </a:solidFill>
                <a:latin typeface="Calibri"/>
              </a:defRPr>
            </a:pPr>
            <a:r>
              <a:t>地域包括診療加算再編</a:t>
            </a:r>
            <a:br/>
            <a:r>
              <a:t>生活習慣病管理料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914400"/>
            <a:ext cx="196596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1005840"/>
            <a:ext cx="1965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0F4FC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554480"/>
            <a:ext cx="1783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t>急性期再編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377440"/>
            <a:ext cx="17830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0">
                <a:solidFill>
                  <a:srgbClr val="8A95BA"/>
                </a:solidFill>
                <a:latin typeface="Calibri"/>
              </a:defRPr>
            </a:pPr>
            <a:r>
              <a:t>地域包括医療病棟6区分化</a:t>
            </a:r>
            <a:br/>
            <a:r>
              <a:t>救急体制加算化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t>外来改定のポイント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5BA"/>
                </a:solidFill>
                <a:latin typeface="Calibri"/>
              </a:defRPr>
            </a:pPr>
            <a:r>
              <a:t>6つの主要変更を押さえる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777240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再診料の引き上げ（75→76点）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機能強化加算 + BCP義務化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地域包括診療加算の再編（2区分化）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生活習慣病管理料の変更（多科連携）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ベースアップ評価料の拡充（6→17点）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物価対応料の新設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再診料・基本診療料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97280"/>
            <a:ext cx="182880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1887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600" b="1">
                <a:solidFill>
                  <a:srgbClr val="8A95BA"/>
                </a:solidFill>
                <a:latin typeface="Calibri"/>
              </a:defRPr>
            </a:pPr>
            <a:r>
              <a:t>75点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9202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8A95BA"/>
                </a:solidFill>
                <a:latin typeface="Calibri"/>
              </a:defRPr>
            </a:pPr>
            <a:r>
              <a:t>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463040"/>
            <a:ext cx="457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000" b="1">
                <a:solidFill>
                  <a:srgbClr val="00C9A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097280"/>
            <a:ext cx="182880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1887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600" b="1">
                <a:solidFill>
                  <a:srgbClr val="1E2761"/>
                </a:solidFill>
                <a:latin typeface="Calibri"/>
              </a:defRPr>
            </a:pPr>
            <a:r>
              <a:t>76点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t>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260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1日100人の外来で年間約36万円増</a:t>
            </a:r>
            <a:br/>
            <a:r>
              <a:t>初診料（288点）・外来管理加算（52点）は変更なし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機能強化加算とBCP義務化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393192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39319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t>80点（維持）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9319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1E2761"/>
                </a:solidFill>
                <a:latin typeface="Calibri"/>
              </a:defRPr>
            </a:pPr>
            <a:r>
              <a:t>ただし施設基準に</a:t>
            </a:r>
            <a:br/>
            <a:r>
              <a:t>BCP策定が追加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914400"/>
            <a:ext cx="384048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005840"/>
            <a:ext cx="38404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0C9A7"/>
                </a:solidFill>
                <a:latin typeface="Calibri"/>
              </a:defRPr>
            </a:pPr>
            <a:r>
              <a:t>2027年5月31日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00200"/>
            <a:ext cx="38404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0F4FC"/>
                </a:solidFill>
                <a:latin typeface="Calibri"/>
              </a:defRPr>
            </a:pPr>
            <a:r>
              <a:t>経過措置期限</a:t>
            </a:r>
            <a:br/>
            <a:r>
              <a:t>未策定 = 算定不可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7432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1635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BCP = Business Continuity Plan（事業継続計画）</a:t>
            </a:r>
            <a:br/>
            <a:r>
              <a:t>自然災害 + サイバーセキュリティの2本立て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地域包括診療加算の再編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t>認知症地域包括診療加算を統合 → 2区分に再編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88720"/>
          <a:ext cx="7863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512064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区分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点数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主な要件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加算1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28点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認知症対応力向上研修修了 + 従来要件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加算2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20点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従来の地域包括診療加算要件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27432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27432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管理職視点: 研修修了者の確保が加算1の鍵</a:t>
            </a:r>
            <a:br/>
            <a:r>
              <a:t>加算1-2の差額: 8点/回 → 年間約28万円差（100人/日）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生活習慣病管理料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基本構造は維持（Ⅰ: 610/740/780点、Ⅱ: 333点）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新設: 眼科連携加算・歯科連携加算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療養計画書のICT活用要件緩和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92608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292608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99923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t>管理職視点: 多職種・他科連携の体制整備が収益に直結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ベースアップ評価料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914400"/>
            <a:ext cx="2743200" cy="18288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27432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8A95BA"/>
                </a:solidFill>
                <a:latin typeface="Calibri"/>
              </a:defRPr>
            </a:pPr>
            <a:r>
              <a:t>6点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8A95BA"/>
                </a:solidFill>
                <a:latin typeface="Calibri"/>
              </a:defRPr>
            </a:pPr>
            <a:r>
              <a:t>旧: 医療従事者のみ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371600"/>
            <a:ext cx="5486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600" b="1">
                <a:solidFill>
                  <a:srgbClr val="00C9A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914400"/>
            <a:ext cx="4114800" cy="18288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00584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1E2761"/>
                </a:solidFill>
                <a:latin typeface="Calibri"/>
              </a:defRPr>
            </a:pPr>
            <a:r>
              <a:t>17点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1E2761"/>
                </a:solidFill>
                <a:latin typeface="Calibri"/>
              </a:defRPr>
            </a:pPr>
            <a:r>
              <a:t>新: 事務職員含む全職員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004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32004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7355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外来100人/日で年間約600万円増</a:t>
            </a:r>
            <a:br/>
            <a:r>
              <a:t>注意: 実際に賃上げに充てる必要あり（報告義務）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物価対応料（新設）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914400"/>
            <a:ext cx="320040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1E2761"/>
                </a:solidFill>
                <a:latin typeface="Calibri"/>
              </a:defRPr>
            </a:pPr>
            <a:r>
              <a:t>2026年6月〜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3200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t>初診 2点 / 再診 2点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914400"/>
            <a:ext cx="384048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  <a:latin typeface="Calibri"/>
              </a:defRPr>
            </a:pPr>
            <a:r>
              <a:t>2027年度〜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46304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0F4FC"/>
                </a:solidFill>
                <a:latin typeface="Calibri"/>
              </a:defRPr>
            </a:pPr>
            <a:r>
              <a:t>初診 4点 / 再診 4点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8A95BA"/>
                </a:solidFill>
                <a:latin typeface="Calibri"/>
              </a:defRPr>
            </a:pPr>
            <a:r>
              <a:t>倍増予定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260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小さく見えるが、積み上げると年間数十万円規模</a:t>
            </a:r>
            <a:br/>
            <a:r>
              <a:t>2段階実施: 物価動向を見ながら段階的に対応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t>入院改定のポイント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5BA"/>
                </a:solidFill>
                <a:latin typeface="Calibri"/>
              </a:defRPr>
            </a:pPr>
            <a:r>
              <a:t>急性期再編の本丸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777240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地域包括医療病棟の6区分化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急性期入院料の見直し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総合診療機能評価の新設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紹介患者受入加算の拡充（60点新設）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救急の体制加算化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地域包括医療病棟の6区分化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t>従来の一律評価 → 6段階の機能分化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88720"/>
          <a:ext cx="7863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12064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区分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要件概要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入院料1（最高点）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救急搬送実績 + 自宅退院率高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入院料2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救急搬送実績あり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入院料3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一般的な包括医療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入院料4-6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段階的な要件緩和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347472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347472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4787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管理職視点: 自院がどの区分に該当するか、早期に評価が必要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急性期入院料の再編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t>看護配置・重症度基準の精緻化</a:t>
            </a:r>
          </a:p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t>在宅復帰率の評価強化</a:t>
            </a:r>
          </a:p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t>「急性期」の定義が厳格化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92608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292608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99923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t>対応できない病院は区分変更を検討すべきタイミング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総合診療機能評価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病院における総合診療の価値が初めて点数化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1E2761"/>
                </a:solidFill>
                <a:latin typeface="Calibri"/>
              </a:defRPr>
              <a:buChar char="●"/>
            </a:pPr>
            <a:r>
              <a:t>総合診療専門医の配置が評価対象に</a:t>
            </a:r>
          </a:p>
          <a:p>
            <a:pPr>
              <a:defRPr sz="1300">
                <a:solidFill>
                  <a:srgbClr val="1E2761"/>
                </a:solidFill>
                <a:latin typeface="Calibri"/>
              </a:defRPr>
              <a:buChar char="●"/>
            </a:pPr>
            <a:r>
              <a:t>複数診療科にまたがる患者の管理を評価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管理職視点: 総合診療医の採用・育成が経営戦略として浮上</a:t>
            </a:r>
            <a:br/>
            <a:r>
              <a:t>かかりつけ医機能報告制度との接点も注目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紹介患者受入加算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914400"/>
            <a:ext cx="3657600" cy="1645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1005840"/>
            <a:ext cx="3657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800" b="1">
                <a:solidFill>
                  <a:srgbClr val="1E2761"/>
                </a:solidFill>
                <a:latin typeface="Calibri"/>
              </a:defRPr>
            </a:pPr>
            <a:r>
              <a:t>60点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t>新設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逆紹介の推進（大病院→診療所の流れ）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t>紹介状なし受診の抑制策と連動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06240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4206240"/>
            <a:ext cx="81198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79392"/>
            <a:ext cx="78638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管理職視点: 連携パスの整備が収益に直結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救急の体制加算化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365760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32918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8A95BA"/>
                </a:solidFill>
                <a:latin typeface="Calibri"/>
              </a:defRPr>
            </a:pPr>
            <a:r>
              <a:t>旧: 院内トリアージ実施料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32918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t>実施ベースの評価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280160"/>
            <a:ext cx="457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00C9A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914400"/>
            <a:ext cx="384048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00584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t>新: 救急医療管理加算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63040"/>
            <a:ext cx="34747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t>体制ベースへの転換</a:t>
            </a:r>
            <a:br/>
            <a:r>
              <a:t>時間帯別段階評価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2608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292608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9923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管理職視点: 救急受入体制の整備が安定収入源に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t>医療DX改定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28016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t>「体制整備」から「実績評価」へ</a:t>
            </a:r>
            <a:br/>
            <a:r>
              <a:t>体制があるだけでは不十分、使われていることが必要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旧制度→新制度の統合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320040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8A95BA"/>
                </a:solidFill>
                <a:latin typeface="Calibri"/>
              </a:defRPr>
            </a:pPr>
            <a:r>
              <a:t>廃止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28346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8A95BA"/>
                </a:solidFill>
                <a:latin typeface="Calibri"/>
              </a:defRPr>
            </a:pPr>
            <a:r>
              <a:t>医療DX推進体制</a:t>
            </a:r>
            <a:br/>
            <a:r>
              <a:t>整備加算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3200400" cy="9144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8A95BA"/>
                </a:solidFill>
                <a:latin typeface="Calibri"/>
              </a:defRPr>
            </a:pPr>
            <a:r>
              <a:t>廃止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2834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8A95BA"/>
                </a:solidFill>
                <a:latin typeface="Calibri"/>
              </a:defRPr>
            </a:pPr>
            <a:r>
              <a:t>医療情報取得加算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554480"/>
            <a:ext cx="5486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000" b="1">
                <a:solidFill>
                  <a:srgbClr val="00C9A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914400"/>
            <a:ext cx="4389120" cy="24688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96012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t>統合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371600"/>
            <a:ext cx="40233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t>電子的診療情報</a:t>
            </a:r>
            <a:br/>
            <a:r>
              <a:t>連携体制整備加算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77440"/>
            <a:ext cx="40233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0">
                <a:solidFill>
                  <a:srgbClr val="1E2761"/>
                </a:solidFill>
                <a:latin typeface="Calibri"/>
              </a:defRPr>
            </a:pPr>
            <a:r>
              <a:t>3区分（15 / 9 / 4 点）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電子的診療情報連携の3区分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2651760" cy="2286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1E2761"/>
                </a:solidFill>
                <a:latin typeface="Calibri"/>
              </a:defRPr>
            </a:pPr>
            <a:r>
              <a:t>区分1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26517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1E2761"/>
                </a:solidFill>
                <a:latin typeface="Calibri"/>
              </a:defRPr>
            </a:pPr>
            <a:r>
              <a:t>15点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4688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E2761"/>
                </a:solidFill>
                <a:latin typeface="Calibri"/>
              </a:defRPr>
            </a:pPr>
            <a:r>
              <a:t>電子処方箋実績</a:t>
            </a:r>
            <a:br/>
            <a:r>
              <a:t>+ マイナ利用率30%以上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914400"/>
            <a:ext cx="2651760" cy="2011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05840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0F4FC"/>
                </a:solidFill>
                <a:latin typeface="Calibri"/>
              </a:defRPr>
            </a:pPr>
            <a:r>
              <a:t>区分2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280160"/>
            <a:ext cx="26517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Calibri"/>
              </a:defRPr>
            </a:pPr>
            <a:r>
              <a:t>9点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40"/>
            <a:ext cx="24688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F0F4FC"/>
                </a:solidFill>
                <a:latin typeface="Calibri"/>
              </a:defRPr>
            </a:pPr>
            <a:r>
              <a:t>電子処方箋</a:t>
            </a:r>
            <a:br/>
            <a:r>
              <a:t>体制あり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914400"/>
            <a:ext cx="2651760" cy="17373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005840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0F4FC"/>
                </a:solidFill>
                <a:latin typeface="Calibri"/>
              </a:defRPr>
            </a:pPr>
            <a:r>
              <a:t>区分3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280160"/>
            <a:ext cx="26517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Calibri"/>
              </a:defRPr>
            </a:pPr>
            <a:r>
              <a:t>4点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24688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F0F4FC"/>
                </a:solidFill>
                <a:latin typeface="Calibri"/>
              </a:defRPr>
            </a:pPr>
            <a:r>
              <a:t>マイナ基本体制</a:t>
            </a:r>
            <a:br/>
            <a:r>
              <a:t>のみ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5760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365760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3075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区分1 vs 区分3 = 11点/回の差</a:t>
            </a:r>
            <a:br/>
            <a:r>
              <a:t>1日100人で年間約400万円の差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マイナ保険証利用率30%の壁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914400"/>
            <a:ext cx="3657600" cy="1645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1005840"/>
            <a:ext cx="3657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5200" b="1">
                <a:solidFill>
                  <a:srgbClr val="1E2761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1E2761"/>
                </a:solidFill>
                <a:latin typeface="Calibri"/>
              </a:defRPr>
            </a:pPr>
            <a:r>
              <a:t>区分1取得の必須ライン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t>全国平均（2026年3月時点）: 約15-20%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施設でできること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t>受付でのマイナ保険証利用促進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t>ポスター掲示・声かけマニュアル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t>カードリーダーの動線最適化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電子処方箋の要件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9808" y="914400"/>
            <a:ext cx="81198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987552"/>
            <a:ext cx="78638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t>電子処方箋: もはや「対応済み」が前提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区分1・2の取得には電子処方箋が必須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導入コスト vs 長期的な加算収入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0040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320040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7355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t>管理職視点: 未導入なら最優先で導入計画を策定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t>BCP策定義務化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28016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t>もう「あると良い」ではなく「なければ算定不可」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103120"/>
            <a:ext cx="457200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2194560"/>
            <a:ext cx="4572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1E2761"/>
                </a:solidFill>
                <a:latin typeface="Calibri"/>
              </a:defRPr>
            </a:pPr>
            <a:r>
              <a:t>期限: 2027年5月31日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834640"/>
            <a:ext cx="4572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1E2761"/>
                </a:solidFill>
                <a:latin typeface="Calibri"/>
              </a:defRPr>
            </a:pPr>
            <a:r>
              <a:t>機能強化加算・在支診・在支病の施設基準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自然災害BCP チェックリスト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7つの策定項目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77724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優先業務の特定と順位付け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職員参集計画（連絡網・代替手段）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患者安全確保手順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ライフライン途絶時の対応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備蓄計画（医薬品・食料・燃料）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地域連携体制（受入・搬送）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t>年1回以上の訓練実施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サイバーセキュリティBCP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365760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32004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1E2761"/>
                </a:solidFill>
                <a:latin typeface="Calibri"/>
              </a:defRPr>
            </a:pPr>
            <a:r>
              <a:t>2024年だけで33件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E2761"/>
                </a:solidFill>
                <a:latin typeface="Calibri"/>
              </a:defRPr>
            </a:pPr>
            <a:r>
              <a:t>医療機関へのサイバー攻撃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777240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バックアップ体制（3-2-1ルール）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ランサムウェア対策（ネットワーク分離）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紙カルテ運用への切り替え手順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全職員向けセキュリティ教育（年1回以上）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t>インシデント発生時の報告・対応フロー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t>経営戦略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5BA"/>
                </a:solidFill>
                <a:latin typeface="Calibri"/>
              </a:defRPr>
            </a:pPr>
            <a:r>
              <a:t>自院への影響をどう評価するか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768096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73736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C"/>
                </a:solidFill>
                <a:latin typeface="Calibri"/>
              </a:defRPr>
            </a:pPr>
            <a:r>
              <a:t>現在の施設基準一覧を棚卸し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768096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51460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C"/>
                </a:solidFill>
                <a:latin typeface="Calibri"/>
              </a:defRPr>
            </a:pPr>
            <a:r>
              <a:t>改定後の点数変動をシミュレーション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00400"/>
            <a:ext cx="768096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9184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C"/>
                </a:solidFill>
                <a:latin typeface="Calibri"/>
              </a:defRPr>
            </a:pPr>
            <a:r>
              <a:t>新規取得可能な施設基準を洗い出し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977639"/>
            <a:ext cx="768096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69079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069079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C"/>
                </a:solidFill>
                <a:latin typeface="Calibri"/>
              </a:defRPr>
            </a:pPr>
            <a:r>
              <a:t>投資対効果（ROI）で優先順位づけ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施設基準 優先度マトリクス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4114800" cy="18288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E2761"/>
                </a:solidFill>
                <a:latin typeface="Calibri"/>
              </a:defRPr>
            </a:pPr>
            <a:r>
              <a:t>緊急度高 × 効果大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3749039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t>BCP策定（期限あり）</a:t>
            </a:r>
            <a:br/>
            <a:r>
              <a:t>ベースアップ評価料申請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914400"/>
            <a:ext cx="4114800" cy="1828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E2761"/>
                </a:solidFill>
                <a:latin typeface="Calibri"/>
              </a:defRPr>
            </a:pPr>
            <a:r>
              <a:t>緊急度低 × 効果大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280160"/>
            <a:ext cx="3749039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t>電子処方箋導入</a:t>
            </a:r>
            <a:br/>
            <a:r>
              <a:t>地域包括診療加算1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411480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8A95BA"/>
                </a:solidFill>
                <a:latin typeface="Calibri"/>
              </a:defRPr>
            </a:pPr>
            <a:r>
              <a:t>緊急度高 × 効果小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3749039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Calibri"/>
              </a:defRPr>
            </a:pPr>
            <a:r>
              <a:t>物価対応料の届出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2926080"/>
            <a:ext cx="4114800" cy="13716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97180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8A95BA"/>
                </a:solidFill>
                <a:latin typeface="Calibri"/>
              </a:defRPr>
            </a:pPr>
            <a:r>
              <a:t>緊急度低 × 効果小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91840"/>
            <a:ext cx="3749039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5BA"/>
                </a:solidFill>
                <a:latin typeface="Calibri"/>
              </a:defRPr>
            </a:pPr>
            <a:r>
              <a:t>その他の加算見直し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t>全職員への伝え方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9808" y="822960"/>
            <a:ext cx="81198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896112"/>
            <a:ext cx="78638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t>「改定は経営の話」で終わらせない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768096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ベースアップ評価料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645920"/>
            <a:ext cx="4572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0F4FC"/>
                </a:solidFill>
                <a:latin typeface="Calibri"/>
              </a:defRPr>
            </a:pPr>
            <a:r>
              <a:t>「あなたの給与に直結します」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768096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06039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マイナ保険証利用促進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51760"/>
            <a:ext cx="4572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0F4FC"/>
                </a:solidFill>
                <a:latin typeface="Calibri"/>
              </a:defRPr>
            </a:pPr>
            <a:r>
              <a:t>「受付での声かけが収入を変えます」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768096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11880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t>BCP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0F4FC"/>
                </a:solidFill>
                <a:latin typeface="Calibri"/>
              </a:defRPr>
            </a:pPr>
            <a:r>
              <a:t>「あなたと患者を守る計画です」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t>事務部門・看護部門・リハビリ部門それぞれの伝え方を変える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t>今日から始める5つのアクション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7863840" cy="5943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645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今週中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868680"/>
            <a:ext cx="5760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t>施設基準の棚卸し（現状把握）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7863840" cy="5943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645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今月中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600200"/>
            <a:ext cx="5760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t>BCP策定プロジェクトチーム発足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7863840" cy="5943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1645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来月中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331720"/>
            <a:ext cx="5760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t>マイナ保険証利用率の現状把握と目標設定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7863840" cy="5943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1645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t>6月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063240"/>
            <a:ext cx="5760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t>改定施行 — 算定開始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49040"/>
            <a:ext cx="7863840" cy="5943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94760"/>
            <a:ext cx="1645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E2761"/>
                </a:solidFill>
                <a:latin typeface="Calibri"/>
              </a:defRPr>
            </a:pPr>
            <a:r>
              <a:t>2027年5月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794760"/>
            <a:ext cx="5760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t>BCP経過措置期限 — 完了必須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438912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6227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t>自院で最もインパクトが大きい改定項目はどれか？</a:t>
            </a:r>
            <a:br/>
            <a:r>
              <a:t>今日の帰りの車の中で考えてみてください。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t>Scribe Agent | 2026-03-28 | ガニェの9教授事象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