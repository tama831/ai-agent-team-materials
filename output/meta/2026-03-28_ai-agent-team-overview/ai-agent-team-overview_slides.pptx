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AI Agent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5943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8A95BA"/>
                </a:solidFill>
                <a:latin typeface="Calibri"/>
              </a:defRPr>
            </a:pPr>
            <a:r>
              <a:rPr/>
              <a:t>学びをデザインする9人のエージェント会社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840480"/>
            <a:ext cx="50292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4663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Learning Design Lab | CEO: たまさん（家庭医 × 教育者 × AI実践者）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548640"/>
            <a:ext cx="237744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0" y="548640"/>
            <a:ext cx="237744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1E2761"/>
                </a:solidFill>
                <a:latin typeface="Calibri"/>
              </a:defRPr>
            </a:pPr>
            <a:r>
              <a:rPr/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73936"/>
            <a:ext cx="23774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1E2761"/>
                </a:solidFill>
                <a:latin typeface="Calibri"/>
              </a:defRPr>
            </a:pPr>
            <a:r>
              <a:rPr/>
              <a:t>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なぜAIエージェントチーム？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8288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3931920" cy="5029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30759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情報過多: 医療×AI×教育、毎日膨大な情報が流れる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931920" cy="5029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時間不足: 臨床・教育・研究の合間に処理しきれない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3931920" cy="5029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77240" y="258775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発信したい: 学びを届けたいが制作時間が足りない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914400"/>
            <a:ext cx="18288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解決策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234440"/>
            <a:ext cx="3749039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166360" y="1307592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9人のAIエージェントが24時間稼働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874519"/>
            <a:ext cx="3749039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66360" y="1947672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情報収集→分析→教材→コンテンツを自動化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514600"/>
            <a:ext cx="3749039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166360" y="2587752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たまさんは「判断」と「声」に集中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Rectangle 18"/>
          <p:cNvSpPr/>
          <p:nvPr/>
        </p:nvSpPr>
        <p:spPr>
          <a:xfrm>
            <a:off x="749808" y="3931920"/>
            <a:ext cx="80284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68680" y="4005072"/>
            <a:ext cx="777240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一人会社だけど、チームで動く — それがAIエージェントカンパニー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チーム相関図</a:t>
            </a:r>
          </a:p>
        </p:txBody>
      </p:sp>
      <p:pic>
        <p:nvPicPr>
          <p:cNvPr id="4" name="Picture 3" descr="agent-team-org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84124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🔵 学習支援チーム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5BA"/>
                </a:solidFill>
                <a:latin typeface="Calibri"/>
              </a:defRPr>
            </a:pPr>
            <a:r>
              <a:rPr/>
              <a:t>たまさんの学びを加速する6エージェント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Scout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リサーチ部長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280160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611879" y="1371600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Verifier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1783080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検証ゲート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280160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企画部長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77439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77240" y="2468879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Conductor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80359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COO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377439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611879" y="2468879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Scribe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2880359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教育デザイナー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377439"/>
            <a:ext cx="2560320" cy="8686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46520" y="2468879"/>
            <a:ext cx="22860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Librarian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880359"/>
            <a:ext cx="22860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ナレッジ管理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404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00C9A7"/>
                </a:solidFill>
                <a:latin typeface="Calibri"/>
              </a:defRPr>
            </a:pPr>
            <a:r>
              <a:rPr/>
              <a:t>Scout → Verifier → Analyst → CEO判断 → Scribe → Librarian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8229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Scout &amp; Verifier — 情報収集と検証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Scout — リサーチ部長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並列サブエージェントで4クラスター同時調査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一次ソース（論文・公式）と二次ソース（まとめ）を区別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信頼度スコア（high/medium/low）付与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トリガー: /scout [トピック]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Verifier — 検証ゲート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Scout出力のファクトチェック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URL検証・ソース到達確認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信頼度の再評価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パイプライン上の品質フィルター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914400"/>
            <a:ext cx="36576" cy="3200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Analyst &amp; Scribe — 分析と教材化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Analyst — 企画部長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3つのレンズで深掘り（医師×ID×AI）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Conductorの見立て＋予測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独自の切り口を発見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トリガー: /analyst [トピック]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Scribe — 教育デザイナー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ガニェの9教授事象に基づく設計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対象者別出力（研修医・全職員）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PPTX + DOCX自動生成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トリガー: /scribe [トピック]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914400"/>
            <a:ext cx="36576" cy="3200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Conductor &amp; Librarian — 統括とナレッジ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Conductor — COO（最高執行責任者）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朝・昼・週次の3モードブリーフィング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全パイプラインのオーケストレーション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承認ゲート管理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トリガー: /briefing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Librarian — ナレッジ管理部長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Eloベースの関心マップ（50トピック）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❤️🎓エンゲージメント追跡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週次レトロスペクティブ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トリガー: /librarian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914400"/>
            <a:ext cx="36576" cy="3200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🟠 ビジネスチーム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7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5BA"/>
                </a:solidFill>
                <a:latin typeface="Calibri"/>
              </a:defRPr>
            </a:pPr>
            <a:r>
              <a:rPr/>
              <a:t>学びを届ける4エージェント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92024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64592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Writer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645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制作部長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280160"/>
            <a:ext cx="192024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2743200" y="1371600"/>
            <a:ext cx="164592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Editor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1645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品質管理部長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1280160"/>
            <a:ext cx="192024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892040" y="1371600"/>
            <a:ext cx="164592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Publisher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783080"/>
            <a:ext cx="1645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配信部長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280160"/>
            <a:ext cx="1920240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040880" y="1371600"/>
            <a:ext cx="164592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Marketer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783080"/>
            <a:ext cx="1645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グロース部長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68880"/>
            <a:ext cx="8229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0C9A7"/>
                </a:solidFill>
                <a:latin typeface="Calibri"/>
              </a:defRPr>
            </a:pPr>
            <a:r>
              <a:rPr/>
              <a:t>Scout → Analyst → CEO → Writer → Editor → CEO → Publisher → Marketer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00400"/>
            <a:ext cx="3657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Calibri"/>
              </a:defRPr>
            </a:pPr>
            <a:r>
              <a:rPr/>
              <a:t>コンテンツの4本柱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192024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7373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学び方のデザイン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3566160"/>
            <a:ext cx="192024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2697480" y="3611880"/>
            <a:ext cx="17373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AIエージェント一人会社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566160"/>
            <a:ext cx="192024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846320" y="3611880"/>
            <a:ext cx="17373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家庭医の視点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03720" y="3566160"/>
            <a:ext cx="192024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995160" y="3611880"/>
            <a:ext cx="17373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趣味で学ぶID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Writer &amp; Editor — 制作と品質保証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5A623"/>
                </a:solidFill>
                <a:latin typeface="Calibri"/>
              </a:defRPr>
            </a:pPr>
            <a:r>
              <a:rPr/>
              <a:t>Writer — 制作部長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フォーマット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note無料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学び方のデザイン・AI活用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note有料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深掘り分析・実践ガイド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Podcast台本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対話形式・20-30分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Xスレッド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要点まとめ・速報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メンバーシップ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限定コンテンツ・Q&amp;A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91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トリガー: /writer [テーマ]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5A623"/>
                </a:solidFill>
                <a:latin typeface="Calibri"/>
              </a:defRPr>
            </a:pPr>
            <a:r>
              <a:rPr/>
              <a:t>Editor — 品質管理部長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384048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文章品質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ファクトチェック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リスクチェック（医師法・薬機法）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SEO・発見性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ブランド一貫性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2918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トリガー: /editor [ファイル]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749808" y="3931920"/>
            <a:ext cx="80284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68680" y="4005072"/>
            <a:ext cx="777240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CEOゲート: Writer→Editor の出力はたまさんの最終承認が必要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Publisher &amp; Marketer — 配信と成長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5A623"/>
                </a:solidFill>
                <a:latin typeface="Calibri"/>
              </a:defRPr>
            </a:pPr>
            <a:r>
              <a:rPr/>
              <a:t>Publisher — 配信部長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657600" cy="411480"/>
          </a:xfrm>
          <a:prstGeom prst="rect">
            <a:avLst/>
          </a:prstGeom>
          <a:solidFill>
            <a:srgbClr val="E8EEFA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note.com — 週2-3本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657600" cy="411480"/>
          </a:xfrm>
          <a:prstGeom prst="rect">
            <a:avLst/>
          </a:prstGeom>
          <a:solidFill>
            <a:srgbClr val="E8EEFA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Podcast — 週1回・20-30分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3657600" cy="411480"/>
          </a:xfrm>
          <a:prstGeom prst="rect">
            <a:avLst/>
          </a:prstGeom>
          <a:solidFill>
            <a:srgbClr val="E8EEFA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X — 毎日1-3投稿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教育モード: Scribe出力→PPTX/DOCX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トリガー: /publisher [ファイル]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914400"/>
            <a:ext cx="384048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5A623"/>
                </a:solidFill>
                <a:latin typeface="Calibri"/>
              </a:defRPr>
            </a:pPr>
            <a:r>
              <a:rPr/>
              <a:t>Marketer — グロース部長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71600"/>
            <a:ext cx="384048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フォロワー/リスナー数トラッキング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収益ダッシュボード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成長戦略立案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ABテスト設計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83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トリガー: /marketer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914400"/>
            <a:ext cx="36576" cy="27432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パイプライン全体像 — 学習からビジネスへ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27432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学習パイプライン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Scout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17320"/>
            <a:ext cx="2286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920239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Verifier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39" y="1417320"/>
            <a:ext cx="2286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337560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417320"/>
            <a:ext cx="2286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754880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Conductor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417320"/>
            <a:ext cx="2286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72200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Scribe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417320"/>
            <a:ext cx="22860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1371600"/>
            <a:ext cx="1188720" cy="502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589520" y="1417320"/>
            <a:ext cx="109728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1E2761"/>
                </a:solidFill>
                <a:latin typeface="Calibri"/>
              </a:defRPr>
            </a:pPr>
            <a:r>
              <a:rPr/>
              <a:t>Librarian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40"/>
            <a:ext cx="8229600" cy="548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CADCFC"/>
                </a:solidFill>
                <a:latin typeface="Calibri"/>
              </a:defRPr>
            </a:pPr>
            <a:r>
              <a:rPr/>
              <a:t>↕ クロスフロー: 調査結果→ネタ元 / 教材→有料コンテンツ 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2743200"/>
            <a:ext cx="27432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F5A623"/>
                </a:solidFill>
                <a:latin typeface="Calibri"/>
              </a:defRPr>
            </a:pPr>
            <a:r>
              <a:rPr/>
              <a:t>ビジネスパイプライン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320040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Scout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53312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1399032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67712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32303" y="3108960"/>
            <a:ext cx="914400" cy="5029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2478023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CEO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6703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11296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3557015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Writer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5696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4636007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Editor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79" y="3108960"/>
            <a:ext cx="914400" cy="5029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5714999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CEO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79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48272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5" name="TextBox 44"/>
          <p:cNvSpPr txBox="1"/>
          <p:nvPr/>
        </p:nvSpPr>
        <p:spPr>
          <a:xfrm>
            <a:off x="6793992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Publisher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3154680"/>
            <a:ext cx="164592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27264" y="3108960"/>
            <a:ext cx="9144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7872984" y="3154680"/>
            <a:ext cx="82296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1">
                <a:solidFill>
                  <a:srgbClr val="1E2761"/>
                </a:solidFill>
                <a:latin typeface="Calibri"/>
              </a:defRPr>
            </a:pPr>
            <a:r>
              <a:rPr/>
              <a:t>Marketer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931920"/>
            <a:ext cx="54864" cy="5943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0" name="Rectangle 49"/>
          <p:cNvSpPr/>
          <p:nvPr/>
        </p:nvSpPr>
        <p:spPr>
          <a:xfrm>
            <a:off x="566928" y="3931920"/>
            <a:ext cx="811987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7863840" cy="4480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学習チームの調査結果がビジネスチームのネタ元に。Scribeの教材が有料コンテンツに。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進化ロードマップ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651760" cy="34747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Phase 1 (Now)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237744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基盤強化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37744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cron安定化・認証セッション維持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モバイル連携（Claude Code Channels）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ダッシュボード改善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2651760" cy="34747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474720" y="109728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Phase 2 (Next)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371600"/>
            <a:ext cx="237744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自律化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37744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秘書Agent（進捗横断管理）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A2Aプロトコル（エージェント間通信標準化）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n8nワークフロー（可視化・エラー通知）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05840"/>
            <a:ext cx="2651760" cy="347472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355080" y="109728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Phase 3 (Future)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371600"/>
            <a:ext cx="237744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マルチLLM拡張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20240"/>
            <a:ext cx="237744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Gemini連携（長文コンテキスト活用）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NotebookLM（ポッドキャスト自動生成）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外部API統合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注目アイデア4選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023360" cy="146304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457200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188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秘書Agent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「誰がどこまで進んだか」を横断管理。Conductorの負荷分散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005840"/>
            <a:ext cx="4023360" cy="146304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4892040" y="1143000"/>
            <a:ext cx="457200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188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A2Aプロトコル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4592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Agent Cardによるサービスディスカバリ。動的ルーティング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4023360" cy="146304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594360" y="2880360"/>
            <a:ext cx="457200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288036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92608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n8nワークフロー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8328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パイプラインの可視化。エラー通知・リトライ一元管理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2743200"/>
            <a:ext cx="4023360" cy="1463040"/>
          </a:xfrm>
          <a:prstGeom prst="rect">
            <a:avLst/>
          </a:prstGeom>
          <a:solidFill>
            <a:srgbClr val="E8EEFA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4892040" y="2880360"/>
            <a:ext cx="457200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457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92608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rPr/>
              <a:t>Gemini × NotebookLM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383280"/>
            <a:ext cx="30175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マルチLLM活用。ポッドキャスト音声自動生成の可能性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Vision — たまさんが判断に集中できる世界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05840"/>
            <a:ext cx="54864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49808" y="1005840"/>
            <a:ext cx="775411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1078992"/>
            <a:ext cx="7498079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情報収集・分析・制作・配信…すべてをエージェントが担い、</a:t>
            </a:r>
            <a:br/>
            <a:r>
              <a:rPr/>
              <a:t>たまさんは「何を学ぶか」「何を届けるか」の判断だけに集中する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651760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2377440" cy="393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現在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88920"/>
            <a:ext cx="23774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週5-8時間の関与（方向性決定・最終承認・声入れ）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286000"/>
            <a:ext cx="2651760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377440" cy="393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目標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788920"/>
            <a:ext cx="23774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判断以外の作業時間をゼロに近づける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86000"/>
            <a:ext cx="2651760" cy="1188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55080" y="2377440"/>
            <a:ext cx="2377440" cy="393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最終形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23774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学びと発信が自然に回り続けるエコシステム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AI Agent Team | Learning Design Lab | 2026-03-28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