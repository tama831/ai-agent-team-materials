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FDF5EB"/>
                </a:solidFill>
                <a:latin typeface="Calibri"/>
              </a:defRPr>
            </a:pPr>
            <a:r>
              <a:t>「思い込み」が判断を狂わせる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0">
                <a:solidFill>
                  <a:srgbClr val="E89B6D"/>
                </a:solidFill>
                <a:latin typeface="Calibri"/>
              </a:defRPr>
            </a:pPr>
            <a:r>
              <a:t>— 利用可能性バイアスと医療安全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011680"/>
            <a:ext cx="36576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8A9E94"/>
                </a:solidFill>
                <a:latin typeface="Calibri"/>
              </a:defRPr>
            </a:pPr>
            <a:r>
              <a:t>10分 | 全スタッフ向け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54864" cy="109728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2926080"/>
            <a:ext cx="72054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99232"/>
            <a:ext cx="6949440" cy="95097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Georgia"/>
              </a:defRPr>
            </a:pPr>
            <a:r>
              <a:t>「先週ノロウイルスの患者さんが続いた後、</a:t>
            </a:r>
            <a:br/>
            <a:r>
              <a:t>今日も嘔吐の患者さんが来たら...</a:t>
            </a:r>
            <a:br/>
            <a:r>
              <a:t>つい“またノロかな”って思いませんか？」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3A3A3A"/>
                </a:solidFill>
                <a:latin typeface="Calibri"/>
              </a:defRPr>
            </a:pPr>
            <a:r>
              <a:t>今日のゴール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914400" cy="91440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3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600" b="1">
                <a:solidFill>
                  <a:srgbClr val="4A766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43000"/>
            <a:ext cx="7132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3A3A3A"/>
                </a:solidFill>
                <a:latin typeface="Calibri"/>
              </a:defRPr>
            </a:pPr>
            <a:r>
              <a:t>説明できる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7132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94"/>
                </a:solidFill>
                <a:latin typeface="Calibri"/>
              </a:defRPr>
            </a:pPr>
            <a:r>
              <a:t>「利用可能性バイアス」が何かを</a:t>
            </a:r>
            <a:br/>
            <a:r>
              <a:t>ざっくり説明できる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914400" cy="91440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600" b="1">
                <a:solidFill>
                  <a:srgbClr val="4A766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31720"/>
            <a:ext cx="7132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3A3A3A"/>
                </a:solidFill>
                <a:latin typeface="Calibri"/>
              </a:defRPr>
            </a:pPr>
            <a:r>
              <a:t>気づける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97480"/>
            <a:ext cx="7132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94"/>
                </a:solidFill>
                <a:latin typeface="Calibri"/>
              </a:defRPr>
            </a:pPr>
            <a:r>
              <a:t>自分の仕事の中で「思い込み」が</a:t>
            </a:r>
            <a:br/>
            <a:r>
              <a:t>起きやすい場面を1つ挙げられる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914400" cy="91440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1187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600" b="1">
                <a:solidFill>
                  <a:srgbClr val="4A766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20439"/>
            <a:ext cx="7132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3A3A3A"/>
                </a:solidFill>
                <a:latin typeface="Calibri"/>
              </a:defRPr>
            </a:pPr>
            <a:r>
              <a:t>やってみる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86200"/>
            <a:ext cx="7132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94"/>
                </a:solidFill>
                <a:latin typeface="Calibri"/>
              </a:defRPr>
            </a:pPr>
            <a:r>
              <a:t>明日から使える「思い込み防止」の</a:t>
            </a:r>
            <a:br/>
            <a:r>
              <a:t>コツを1つ実践できる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FDF5EB"/>
                </a:solidFill>
                <a:latin typeface="Calibri"/>
              </a:defRPr>
            </a:pPr>
            <a:r>
              <a:t>私たちの脳は「ショートカット」が大好き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solidFill>
            <a:srgbClr val="4A7666"/>
          </a:solidFill>
          <a:ln w="12700">
            <a:solidFill>
              <a:srgbClr val="E8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E89B6D"/>
                </a:solidFill>
                <a:latin typeface="Calibri"/>
              </a:defRPr>
            </a:pPr>
            <a:r>
              <a:t>速い脳（直感モード）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840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DF5EB"/>
                </a:solidFill>
                <a:latin typeface="Calibri"/>
              </a:defRPr>
            </a:pPr>
            <a:r>
              <a:t>パッと判断する</a:t>
            </a:r>
            <a:br/>
            <a:r>
              <a:t>普段はこちらが大活躍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97280"/>
            <a:ext cx="4114800" cy="1371600"/>
          </a:xfrm>
          <a:prstGeom prst="rect">
            <a:avLst/>
          </a:prstGeom>
          <a:solidFill>
            <a:srgbClr val="4A7666"/>
          </a:solidFill>
          <a:ln w="12700">
            <a:solidFill>
              <a:srgbClr val="E8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188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E89B6D"/>
                </a:solidFill>
                <a:latin typeface="Calibri"/>
              </a:defRPr>
            </a:pPr>
            <a:r>
              <a:t>遅い脳（じっくりモード）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691640"/>
            <a:ext cx="3840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DF5EB"/>
                </a:solidFill>
                <a:latin typeface="Calibri"/>
              </a:defRPr>
            </a:pPr>
            <a:r>
              <a:t>よく考えて判断する</a:t>
            </a:r>
            <a:br/>
            <a:r>
              <a:t>時間とエネルギーが必要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FDF5EB"/>
                </a:solidFill>
                <a:latin typeface="Calibri"/>
              </a:defRPr>
            </a:pPr>
            <a:r>
              <a:t>忙しい医療現場では「速い脳」に頼りがち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6D"/>
                </a:solidFill>
                <a:latin typeface="Calibri"/>
              </a:defRPr>
            </a:pPr>
            <a:r>
              <a:t>ただし「速い脳」には思い込みのクセ（＝認知バイアス）がある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3A3A3A"/>
                </a:solidFill>
                <a:latin typeface="Calibri"/>
              </a:defRPr>
            </a:pPr>
            <a:r>
              <a:t>利用可能性バイアスってなに？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54864" cy="73152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097280"/>
            <a:ext cx="73883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70432"/>
            <a:ext cx="7132319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0">
                <a:solidFill>
                  <a:srgbClr val="3A3A3A"/>
                </a:solidFill>
                <a:latin typeface="Georgia"/>
              </a:defRPr>
            </a:pPr>
            <a:r>
              <a:t>「最近見たもの・印象に残ったもの」を、</a:t>
            </a:r>
            <a:br/>
            <a:r>
              <a:t>実際よりも多いと思い込むこと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6D"/>
                </a:solidFill>
                <a:latin typeface="Calibri"/>
              </a:defRPr>
            </a:pPr>
            <a:r>
              <a:t>日常の例: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657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3A3A3A"/>
                </a:solidFill>
                <a:latin typeface="Calibri"/>
              </a:defRPr>
            </a:pPr>
            <a:r>
              <a:t>飛行機事故のニュース → 飛行機が怖くなる</a:t>
            </a:r>
            <a:br/>
            <a:r>
              <a:t>食中毒の報道 → 食品の鮮度が気になる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0312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6D"/>
                </a:solidFill>
                <a:latin typeface="Calibri"/>
              </a:defRPr>
            </a:pPr>
            <a:r>
              <a:t>医療現場の例: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468880"/>
            <a:ext cx="4114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3A3A3A"/>
                </a:solidFill>
                <a:latin typeface="Calibri"/>
              </a:defRPr>
            </a:pPr>
            <a:r>
              <a:t>インフルエンザ5人連続 → 似た症状は全部インフル</a:t>
            </a:r>
            <a:br/>
            <a:r>
              <a:t>前回の夜勤で転倒事故 → 転倒にだけ注意が向く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DF5EB"/>
                </a:solidFill>
                <a:latin typeface="Calibri"/>
              </a:defRPr>
            </a:pPr>
            <a:r>
              <a:t>最新研究が示した衝撃の結果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E89B6D"/>
                </a:solidFill>
                <a:latin typeface="Calibri"/>
              </a:defRPr>
            </a:pPr>
            <a:r>
              <a:t>BMJ Quality &amp; Safety (2026年2月) | 対象: 1015名の医師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DF5EB"/>
                          </a:solidFill>
                          <a:latin typeface="Calibri"/>
                        </a:defRPr>
                      </a:pPr>
                      <a:r>
                        <a:t>発見</a:t>
                      </a:r>
                    </a:p>
                  </a:txBody>
                  <a:tcPr marL="45720" marR="45720" marT="18288" marB="18288">
                    <a:solidFill>
                      <a:srgbClr val="4A7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DF5EB"/>
                          </a:solidFill>
                          <a:latin typeface="Calibri"/>
                        </a:defRPr>
                      </a:pPr>
                      <a:r>
                        <a:t>意味</a:t>
                      </a:r>
                    </a:p>
                  </a:txBody>
                  <a:tcPr marL="45720" marR="45720" marT="18288" marB="18288">
                    <a:solidFill>
                      <a:srgbClr val="4A76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直近7日以内に同じ病気の患者</a:t>
                      </a:r>
                    </a:p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を診た医師は誤診率が有意に上昇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最近の経験が判断を歪める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ベテランでも新人でも同じ傾向</a:t>
                      </a:r>
                    </a:p>
                  </a:txBody>
                  <a:tcPr marL="45720" marR="45720" marT="18288" marB="18288">
                    <a:solidFill>
                      <a:srgbClr val="FD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経験年数だけでは防げない</a:t>
                      </a:r>
                    </a:p>
                  </a:txBody>
                  <a:tcPr marL="45720" marR="45720" marT="18288" marB="18288">
                    <a:solidFill>
                      <a:srgbClr val="FDF5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「構造化されたフィードバック」を</a:t>
                      </a:r>
                    </a:p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受けている医師はバイアスが少ない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振り返りの習慣が大事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4114800"/>
            <a:ext cx="54864" cy="45720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4114800"/>
            <a:ext cx="72054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187952"/>
            <a:ext cx="694944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Georgia"/>
              </a:defRPr>
            </a:pPr>
            <a:r>
              <a:t>ポイント: 「たくさん経験していれば大丈夫」ではない！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3A3A3A"/>
                </a:solidFill>
                <a:latin typeface="Calibri"/>
              </a:defRPr>
            </a:pPr>
            <a:r>
              <a:t>医師だけの話？ — 全職種に起きる「思い込み」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100584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828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4A7666"/>
                </a:solidFill>
                <a:latin typeface="Calibri"/>
              </a:defRPr>
            </a:pPr>
            <a:r>
              <a:t>看護師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143000"/>
            <a:ext cx="64008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3A3A3A"/>
                </a:solidFill>
                <a:latin typeface="Calibri"/>
              </a:defRPr>
            </a:pPr>
            <a:r>
              <a:t>転倒が続いた → 身体拘束の判断に影響</a:t>
            </a:r>
            <a:br/>
            <a:r>
              <a:t>急変があった → バイタル変動を過剰に心配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828800" cy="100584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828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4A7666"/>
                </a:solidFill>
                <a:latin typeface="Calibri"/>
              </a:defRPr>
            </a:pPr>
            <a:r>
              <a:t>薬剤師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31720"/>
            <a:ext cx="64008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3A3A3A"/>
                </a:solidFill>
                <a:latin typeface="Calibri"/>
              </a:defRPr>
            </a:pPr>
            <a:r>
              <a:t>処方ミスを発見した薬 → その薬ばかりに注意</a:t>
            </a:r>
            <a:br/>
            <a:r>
              <a:t>他の薬のチェックが甘くなる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1828800" cy="100584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828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4A7666"/>
                </a:solidFill>
                <a:latin typeface="Calibri"/>
              </a:defRPr>
            </a:pPr>
            <a:r>
              <a:t>事務・管理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520439"/>
            <a:ext cx="64008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3A3A3A"/>
                </a:solidFill>
                <a:latin typeface="Calibri"/>
              </a:defRPr>
            </a:pPr>
            <a:r>
              <a:t>クレームが多かった部署 → その部署の問題</a:t>
            </a:r>
            <a:br/>
            <a:r>
              <a:t>ばかりが目につく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54864" cy="45720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4572000"/>
            <a:ext cx="73883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45152"/>
            <a:ext cx="713231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3A3A3A"/>
                </a:solidFill>
                <a:latin typeface="Georgia"/>
              </a:defRPr>
            </a:pPr>
            <a:r>
              <a:t>思い込みは全職種に起きます。だからこそチームで対策する意味がある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DF5EB"/>
                </a:solidFill>
                <a:latin typeface="Calibri"/>
              </a:defRPr>
            </a:pPr>
            <a:r>
              <a:t>グループトーク（3分間）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54864" cy="182880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371600"/>
            <a:ext cx="72054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444752"/>
            <a:ext cx="6949440" cy="16824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0">
                <a:solidFill>
                  <a:srgbClr val="3A3A3A"/>
                </a:solidFill>
                <a:latin typeface="Georgia"/>
              </a:defRPr>
            </a:pPr>
            <a:r>
              <a:t>近くの人と話してみましょう:</a:t>
            </a:r>
            <a:br/>
            <a:br/>
            <a:r>
              <a:t>「最近、“前と同じだろう” と思って</a:t>
            </a:r>
            <a:br/>
            <a:r>
              <a:t>判断したことはありますか？</a:t>
            </a:r>
            <a:br/>
            <a:r>
              <a:t>その判断は正しかったですか？」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94"/>
                </a:solidFill>
                <a:latin typeface="Calibri"/>
              </a:defRPr>
            </a:pPr>
            <a:r>
              <a:t>2-3人グループ / 正解・不正解は気にせず「あるある」を共有しましょう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3A3A3A"/>
                </a:solidFill>
                <a:latin typeface="Calibri"/>
              </a:defRPr>
            </a:pPr>
            <a:r>
              <a:t>共有タイム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Calibri"/>
              </a:defRPr>
            </a:pPr>
            <a:r>
              <a:t>グループで出た「あるある」を1-2グループから共有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6D"/>
                </a:solidFill>
                <a:latin typeface="Calibri"/>
              </a:defRPr>
            </a:pPr>
            <a:r>
              <a:t>ファシリテーターからのまとめ: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Calibri"/>
              </a:defRPr>
            </a:pPr>
            <a:r>
              <a:t>「思い込み」は能力の問題ではなく、脳の仕組みの問題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3A3A3A"/>
                </a:solidFill>
                <a:latin typeface="Calibri"/>
              </a:defRPr>
            </a:pPr>
            <a:r>
              <a:t>だから「気をつけよう」だけでは防げない → 仕組みが必要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DF5EB"/>
                </a:solidFill>
                <a:latin typeface="Calibri"/>
              </a:defRPr>
            </a:pPr>
            <a:r>
              <a:t>明日から使える3つのコツ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011680" cy="100584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39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4A7666"/>
                </a:solidFill>
                <a:latin typeface="Calibri"/>
              </a:defRPr>
            </a:pPr>
            <a:r>
              <a:t>立ち止まる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4A7666"/>
                </a:solidFill>
                <a:latin typeface="Calibri"/>
              </a:defRPr>
            </a:pPr>
            <a:r>
              <a:t>5秒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188720"/>
            <a:ext cx="62179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DF5EB"/>
                </a:solidFill>
                <a:latin typeface="Calibri"/>
              </a:defRPr>
            </a:pPr>
            <a:r>
              <a:t>判断する前に「本当に？</a:t>
            </a:r>
            <a:br/>
            <a:r>
              <a:t>前回と同じとは限らないよね」と自問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011680" cy="100584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4A7666"/>
                </a:solidFill>
                <a:latin typeface="Calibri"/>
              </a:defRPr>
            </a:pPr>
            <a:r>
              <a:t>声に出す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4A7666"/>
                </a:solidFill>
                <a:latin typeface="Calibri"/>
              </a:defRPr>
            </a:pPr>
            <a:r>
              <a:t>30秒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77440"/>
            <a:ext cx="62179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DF5EB"/>
                </a:solidFill>
                <a:latin typeface="Calibri"/>
              </a:defRPr>
            </a:pPr>
            <a:r>
              <a:t>「私は○○だと思う。他の可能性は？」</a:t>
            </a:r>
            <a:br/>
            <a:r>
              <a:t>と同僚に一言聞く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2011680" cy="100584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11879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4A7666"/>
                </a:solidFill>
                <a:latin typeface="Calibri"/>
              </a:defRPr>
            </a:pPr>
            <a:r>
              <a:t>書き出す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4A7666"/>
                </a:solidFill>
                <a:latin typeface="Calibri"/>
              </a:defRPr>
            </a:pPr>
            <a:r>
              <a:t>1分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566160"/>
            <a:ext cx="62179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DF5EB"/>
                </a:solidFill>
                <a:latin typeface="Calibri"/>
              </a:defRPr>
            </a:pPr>
            <a:r>
              <a:t>判断に迷った場面をメモしておき、</a:t>
            </a:r>
            <a:br/>
            <a:r>
              <a:t>後で振り返る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572000"/>
            <a:ext cx="54864" cy="45720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1328" y="4572000"/>
            <a:ext cx="62910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4645152"/>
            <a:ext cx="603504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Georgia"/>
              </a:defRPr>
            </a:pPr>
            <a:r>
              <a:t>今週1つだけ試してみましょう。どれを選びますか？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3A3A3A"/>
                </a:solidFill>
                <a:latin typeface="Calibri"/>
              </a:defRPr>
            </a:pPr>
            <a:r>
              <a:t>まとめと振り返り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914400" cy="91440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600" b="1">
                <a:solidFill>
                  <a:srgbClr val="4A766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5156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3A3A3A"/>
                </a:solidFill>
                <a:latin typeface="Calibri"/>
              </a:defRPr>
            </a:pPr>
            <a:r>
              <a:t>利用可能性バイアス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8A9E94"/>
                </a:solidFill>
                <a:latin typeface="Calibri"/>
              </a:defRPr>
            </a:pPr>
            <a:r>
              <a:t>最近の経験が判断を歪めること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914400" cy="91440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7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600" b="1">
                <a:solidFill>
                  <a:srgbClr val="4A766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48839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3A3A3A"/>
                </a:solidFill>
                <a:latin typeface="Calibri"/>
              </a:defRPr>
            </a:pPr>
            <a:r>
              <a:t>防御策は経験年数ではない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603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8A9E94"/>
                </a:solidFill>
                <a:latin typeface="Calibri"/>
              </a:defRPr>
            </a:pPr>
            <a:r>
              <a:t>振り返りとフィードバックの習慣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914400" cy="91440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600" b="1">
                <a:solidFill>
                  <a:srgbClr val="4A766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461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3A3A3A"/>
                </a:solidFill>
                <a:latin typeface="Calibri"/>
              </a:defRPr>
            </a:pPr>
            <a:r>
              <a:t>チームの力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5760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8A9E94"/>
                </a:solidFill>
                <a:latin typeface="Calibri"/>
              </a:defRPr>
            </a:pPr>
            <a:r>
              <a:t>一人で頑張るのではなく、声をかけ合う文化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54864" cy="45720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4297680"/>
            <a:ext cx="73883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70832"/>
            <a:ext cx="713231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3A3A3A"/>
                </a:solidFill>
                <a:latin typeface="Georgia"/>
              </a:defRPr>
            </a:pPr>
            <a:r>
              <a:t>確認: 隣の人に「利用可能性バイアスって何？」を30秒で説明してみましょう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