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3D1E3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600" b="1">
                <a:solidFill>
                  <a:srgbClr val="C76B8A"/>
                </a:solidFill>
                <a:latin typeface="Yu Gothic"/>
              </a:rPr>
              <a:t>行動経済学で支えるメンタルヘルス診療</a:t>
            </a:r>
          </a:p>
        </p:txBody>
      </p:sp>
      <p:sp>
        <p:nvSpPr>
          <p:cNvPr id="4" name="TextBox 3"/>
          <p:cNvSpPr txBox="1"/>
          <p:nvPr/>
        </p:nvSpPr>
        <p:spPr>
          <a:xfrm>
            <a:off x="457200" y="1298448"/>
            <a:ext cx="11430000" cy="731520"/>
          </a:xfrm>
          <a:prstGeom prst="rect">
            <a:avLst/>
          </a:prstGeom>
          <a:noFill/>
        </p:spPr>
        <p:txBody>
          <a:bodyPr wrap="square" lIns="45720" rIns="45720" tIns="27432" bIns="27432">
            <a:spAutoFit/>
          </a:bodyPr>
          <a:lstStyle/>
          <a:p>
            <a:pPr algn="l">
              <a:defRPr/>
            </a:pPr>
            <a:r>
              <a:rPr sz="2000" b="0">
                <a:solidFill>
                  <a:srgbClr val="FCF6F0"/>
                </a:solidFill>
                <a:latin typeface="Yu Gothic"/>
              </a:rPr>
              <a:t>ナッジ・インセンティブ・コミットメントデバイス — 説教から設計へ</a:t>
            </a:r>
          </a:p>
        </p:txBody>
      </p:sp>
      <p:sp>
        <p:nvSpPr>
          <p:cNvPr id="5" name="TextBox 4"/>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6" name="TextBox 5"/>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1 / 29</a:t>
            </a:r>
          </a:p>
        </p:txBody>
      </p:sp>
      <p:pic>
        <p:nvPicPr>
          <p:cNvPr id="7" name="Picture 6" descr="image.png"/>
          <p:cNvPicPr>
            <a:picLocks noChangeAspect="1"/>
          </p:cNvPicPr>
          <p:nvPr/>
        </p:nvPicPr>
        <p:blipFill>
          <a:blip r:embed="rId2"/>
          <a:stretch>
            <a:fillRect/>
          </a:stretch>
        </p:blipFill>
        <p:spPr>
          <a:xfrm>
            <a:off x="10424160" y="5120640"/>
            <a:ext cx="1371600" cy="1371600"/>
          </a:xfrm>
          <a:prstGeom prst="rect">
            <a:avLst/>
          </a:prstGeom>
        </p:spPr>
      </p:pic>
      <p:sp>
        <p:nvSpPr>
          <p:cNvPr id="8" name="TextBox 7"/>
          <p:cNvSpPr txBox="1"/>
          <p:nvPr/>
        </p:nvSpPr>
        <p:spPr>
          <a:xfrm>
            <a:off x="10424160" y="4892040"/>
            <a:ext cx="1463040" cy="228600"/>
          </a:xfrm>
          <a:prstGeom prst="rect">
            <a:avLst/>
          </a:prstGeom>
          <a:noFill/>
        </p:spPr>
        <p:txBody>
          <a:bodyPr wrap="square" lIns="45720" rIns="45720" tIns="27432" bIns="27432">
            <a:spAutoFit/>
          </a:bodyPr>
          <a:lstStyle/>
          <a:p>
            <a:pPr algn="l">
              <a:defRPr/>
            </a:pPr>
            <a:r>
              <a:rPr sz="900" b="1">
                <a:solidFill>
                  <a:srgbClr val="FCF6F0"/>
                </a:solidFill>
                <a:latin typeface="Yu Gothic"/>
              </a:rPr>
              <a:t>出典 (主)</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このセッションで持ち帰ってもらう3つ</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1. 「分かっていてもやめられない」を 脳の報酬処理の問題 として説明できる</a:t>
            </a:r>
            <a:br/>
            <a:r>
              <a:rPr sz="1800" b="0">
                <a:solidFill>
                  <a:srgbClr val="2E1A2B"/>
                </a:solidFill>
                <a:latin typeface="Yu Gothic"/>
              </a:rPr>
              <a:t>2. ナッジ / インセンティブ / コミットメントデバイス の 使い分けの軸 を持つ</a:t>
            </a:r>
            <a:br/>
            <a:r>
              <a:rPr sz="1800" b="0">
                <a:solidFill>
                  <a:srgbClr val="2E1A2B"/>
                </a:solidFill>
                <a:latin typeface="Yu Gothic"/>
              </a:rPr>
              <a:t>3. 自分の外来導線を 行動設計の対象 として眺められる視点</a:t>
            </a:r>
            <a:br/>
            <a:r>
              <a:rPr sz="1800" b="0">
                <a:solidFill>
                  <a:srgbClr val="2E1A2B"/>
                </a:solidFill>
                <a:latin typeface="Yu Gothic"/>
              </a:rPr>
              <a:t>約束: 今日の話は、明日の外来で1人の患者にかける一言から始まります。</a:t>
            </a:r>
            <a:br/>
            <a:r>
              <a:rPr sz="1800" b="0">
                <a:solidFill>
                  <a:srgbClr val="2E1A2B"/>
                </a:solidFill>
                <a:latin typeface="Yu Gothic"/>
              </a:rPr>
              <a:t>後半に進むにつれて、外来の壁紙やリマインダー文言まで話が広がりますが、置いていきません。</a:t>
            </a:r>
          </a:p>
        </p:txBody>
      </p:sp>
      <p:sp>
        <p:nvSpPr>
          <p:cNvPr id="5" name="TextBox 4"/>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6" name="TextBox 5"/>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2 / 29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0. なぜ今この話?</a:t>
            </a:r>
          </a:p>
        </p:txBody>
      </p:sp>
      <p:sp>
        <p:nvSpPr>
          <p:cNvPr id="4" name="TextBox 3"/>
          <p:cNvSpPr txBox="1"/>
          <p:nvPr/>
        </p:nvSpPr>
        <p:spPr>
          <a:xfrm>
            <a:off x="548640" y="1463040"/>
            <a:ext cx="10972800" cy="4023360"/>
          </a:xfrm>
          <a:prstGeom prst="rect">
            <a:avLst/>
          </a:prstGeom>
          <a:noFill/>
        </p:spPr>
        <p:txBody>
          <a:bodyPr wrap="square">
            <a:spAutoFit/>
          </a:bodyPr>
          <a:lstStyle/>
          <a:p>
            <a:pPr>
              <a:defRPr/>
            </a:pPr>
            <a:r>
              <a:rPr sz="1800">
                <a:solidFill>
                  <a:srgbClr val="2E1A2B"/>
                </a:solidFill>
                <a:latin typeface="Yu Gothic"/>
              </a:rPr>
              <a:t>• 2025年、米国の主要レビュー論文が 「メンタルヘルスへの行動経済学・神経経済学の応用」 を整理</a:t>
            </a:r>
          </a:p>
          <a:p>
            <a:pPr>
              <a:defRPr/>
            </a:pPr>
            <a:r>
              <a:rPr sz="1800">
                <a:solidFill>
                  <a:srgbClr val="2E1A2B"/>
                </a:solidFill>
                <a:latin typeface="Yu Gothic"/>
              </a:rPr>
              <a:t>• うつ病・依存症・不安症は、それぞれ別物のように語られてきた</a:t>
            </a:r>
          </a:p>
          <a:p>
            <a:pPr>
              <a:defRPr/>
            </a:pPr>
            <a:r>
              <a:rPr sz="1800">
                <a:solidFill>
                  <a:srgbClr val="2E1A2B"/>
                </a:solidFill>
                <a:latin typeface="Yu Gothic"/>
              </a:rPr>
              <a:t>• でも 報酬処理の障害 という共通の機能不全がある(=transdiagnostic)</a:t>
            </a:r>
          </a:p>
          <a:p>
            <a:pPr>
              <a:defRPr/>
            </a:pPr>
            <a:r>
              <a:rPr sz="1800">
                <a:solidFill>
                  <a:srgbClr val="2E1A2B"/>
                </a:solidFill>
                <a:latin typeface="Yu Gothic"/>
              </a:rPr>
              <a:t>• ペンシルベニア大学医学部には Penn Medicine Nudge Unit という世界初の医療機関組み込み型行動設計チームがある</a:t>
            </a:r>
          </a:p>
          <a:p>
            <a:pPr>
              <a:defRPr/>
            </a:pPr>
            <a:r>
              <a:rPr sz="1800">
                <a:solidFill>
                  <a:srgbClr val="2E1A2B"/>
                </a:solidFill>
                <a:latin typeface="Yu Gothic"/>
              </a:rPr>
              <a:t>• 「説教」では行動は変わらない、というのは我々が薄々知っていたこと。それを 科学が裏打ち してくれた</a:t>
            </a:r>
          </a:p>
          <a:p>
            <a:pPr>
              <a:defRPr/>
            </a:pPr>
            <a:r>
              <a:rPr sz="1800">
                <a:solidFill>
                  <a:srgbClr val="2E1A2B"/>
                </a:solidFill>
                <a:latin typeface="Yu Gothic"/>
              </a:rPr>
              <a:t>• 出典: Applications of Behavioral Economics and Neuroeconomics in Mental Health, *PMC11904746*, 2025</a:t>
            </a:r>
          </a:p>
        </p:txBody>
      </p:sp>
      <p:sp>
        <p:nvSpPr>
          <p:cNvPr id="5" name="TextBox 4"/>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6" name="TextBox 5"/>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3 / 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3D1E3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C76B8A"/>
                </a:solidFill>
                <a:latin typeface="Yu Gothic"/>
              </a:rPr>
              <a:t>Part 1. 症例から入る</a:t>
            </a:r>
          </a:p>
        </p:txBody>
      </p:sp>
      <p:sp>
        <p:nvSpPr>
          <p:cNvPr id="4" name="TextBox 3"/>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5" name="TextBox 4"/>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4 / 29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症例: 38歳女性、うつ病、抗うつ薬治療中</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この人は、怠けているのか?</a:t>
            </a:r>
            <a:br/>
            <a:r>
              <a:rPr sz="1800" b="0">
                <a:solidFill>
                  <a:srgbClr val="2E1A2B"/>
                </a:solidFill>
                <a:latin typeface="Yu Gothic"/>
              </a:rPr>
              <a:t>30秒、隣の人と話してみてください。</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大うつ病性障害、SSRI内服中、半年経過</a:t>
            </a:r>
          </a:p>
          <a:p>
            <a:pPr>
              <a:defRPr/>
            </a:pPr>
            <a:r>
              <a:rPr sz="1800">
                <a:solidFill>
                  <a:srgbClr val="2E1A2B"/>
                </a:solidFill>
                <a:latin typeface="Yu Gothic"/>
              </a:rPr>
              <a:t>• 「最近どうですか?」→「変わらないです……」</a:t>
            </a:r>
          </a:p>
          <a:p>
            <a:pPr>
              <a:defRPr/>
            </a:pPr>
            <a:r>
              <a:rPr sz="1800">
                <a:solidFill>
                  <a:srgbClr val="2E1A2B"/>
                </a:solidFill>
                <a:latin typeface="Yu Gothic"/>
              </a:rPr>
              <a:t>• 「お薬は飲めてますか?」→「……たまに忘れます」</a:t>
            </a:r>
          </a:p>
          <a:p>
            <a:pPr>
              <a:defRPr/>
            </a:pPr>
            <a:r>
              <a:rPr sz="1800">
                <a:solidFill>
                  <a:srgbClr val="2E1A2B"/>
                </a:solidFill>
                <a:latin typeface="Yu Gothic"/>
              </a:rPr>
              <a:t>• 「散歩、続いてますか?」→「先生が言ってたから、やろうと思ってるんですけど……」</a:t>
            </a:r>
          </a:p>
          <a:p>
            <a:pPr>
              <a:defRPr/>
            </a:pPr>
            <a:r>
              <a:rPr sz="1800">
                <a:solidFill>
                  <a:srgbClr val="2E1A2B"/>
                </a:solidFill>
                <a:latin typeface="Yu Gothic"/>
              </a:rPr>
              <a:t>• 「ジムの体験予約、行けました?」→「ネットで予約まではしたんですけど、当日になると……」</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5 / 29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「分かっていてもやめられない/始められない」の正体</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「やるべきだと分かっている」と「実際にやる」の間には、巨大な溝がある。</a:t>
            </a:r>
            <a:br/>
            <a:r>
              <a:rPr sz="1800" b="0">
                <a:solidFill>
                  <a:srgbClr val="2E1A2B"/>
                </a:solidFill>
                <a:latin typeface="Yu Gothic"/>
              </a:rPr>
              <a:t>そして、うつ病・依存症・不安症の患者では その溝が脳機能レベルで深くなっている。</a:t>
            </a:r>
            <a:br/>
            <a:r>
              <a:rPr sz="1800" b="0">
                <a:solidFill>
                  <a:srgbClr val="2E1A2B"/>
                </a:solidFill>
                <a:latin typeface="Yu Gothic"/>
              </a:rPr>
              <a:t>これは「意志の弱さ」ではない。脳の演算が違う。</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腹側線条体・前頭前野 — 報酬回路の中心</a:t>
            </a:r>
          </a:p>
          <a:p>
            <a:pPr>
              <a:defRPr/>
            </a:pPr>
            <a:r>
              <a:rPr sz="1800">
                <a:solidFill>
                  <a:srgbClr val="2E1A2B"/>
                </a:solidFill>
                <a:latin typeface="Yu Gothic"/>
              </a:rPr>
              <a:t>• 「将来の報酬」を 小さく見積もる バイアス(双曲割引)が強い</a:t>
            </a:r>
          </a:p>
          <a:p>
            <a:pPr>
              <a:defRPr/>
            </a:pPr>
            <a:r>
              <a:rPr sz="1800">
                <a:solidFill>
                  <a:srgbClr val="2E1A2B"/>
                </a:solidFill>
                <a:latin typeface="Yu Gothic"/>
              </a:rPr>
              <a:t>• 将来の散歩の気分の良さ &lt; 今ベッドにいる安心感</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6 / 29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"怠惰" ではなく "報酬処理の連続体"</a:t>
            </a:r>
          </a:p>
        </p:txBody>
      </p:sp>
      <p:graphicFrame>
        <p:nvGraphicFramePr>
          <p:cNvPr id="4" name="Table 3"/>
          <p:cNvGraphicFramePr>
            <a:graphicFrameLocks noGrp="1"/>
          </p:cNvGraphicFramePr>
          <p:nvPr/>
        </p:nvGraphicFramePr>
        <p:xfrm>
          <a:off x="548640" y="146304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r>
                        <a:rPr sz="1400" b="1">
                          <a:solidFill>
                            <a:srgbClr val="FCF6F0"/>
                          </a:solidFill>
                          <a:latin typeface="Yu Gothic"/>
                        </a:rPr>
                        <a:t>病名</a:t>
                      </a:r>
                    </a:p>
                  </a:txBody>
                  <a:tcPr marL="54864" marR="54864" marT="27432" marB="27432">
                    <a:solidFill>
                      <a:srgbClr val="5A2D50"/>
                    </a:solidFill>
                  </a:tcPr>
                </a:tc>
                <a:tc>
                  <a:txBody>
                    <a:bodyPr/>
                    <a:lstStyle/>
                    <a:p>
                      <a:r>
                        <a:rPr sz="1400" b="1">
                          <a:solidFill>
                            <a:srgbClr val="FCF6F0"/>
                          </a:solidFill>
                          <a:latin typeface="Yu Gothic"/>
                        </a:rPr>
                        <a:t>共通する報酬処理の特徴</a:t>
                      </a:r>
                    </a:p>
                  </a:txBody>
                  <a:tcPr marL="54864" marR="54864" marT="27432" marB="27432">
                    <a:solidFill>
                      <a:srgbClr val="5A2D50"/>
                    </a:solidFill>
                  </a:tcPr>
                </a:tc>
              </a:tr>
              <a:tr h="548640">
                <a:tc>
                  <a:txBody>
                    <a:bodyPr/>
                    <a:lstStyle/>
                    <a:p>
                      <a:r>
                        <a:rPr sz="1400">
                          <a:solidFill>
                            <a:srgbClr val="2E1A2B"/>
                          </a:solidFill>
                          <a:latin typeface="Yu Gothic"/>
                        </a:rPr>
                        <a:t>うつ病</a:t>
                      </a:r>
                    </a:p>
                  </a:txBody>
                  <a:tcPr marL="54864" marR="54864" marT="27432" marB="27432">
                    <a:solidFill>
                      <a:srgbClr val="F5ECF0"/>
                    </a:solidFill>
                  </a:tcPr>
                </a:tc>
                <a:tc>
                  <a:txBody>
                    <a:bodyPr/>
                    <a:lstStyle/>
                    <a:p>
                      <a:r>
                        <a:rPr sz="1400">
                          <a:solidFill>
                            <a:srgbClr val="2E1A2B"/>
                          </a:solidFill>
                          <a:latin typeface="Yu Gothic"/>
                        </a:rPr>
                        <a:t>報酬への期待感の低下、努力に対する報酬感度の低下</a:t>
                      </a:r>
                    </a:p>
                  </a:txBody>
                  <a:tcPr marL="54864" marR="54864" marT="27432" marB="27432">
                    <a:solidFill>
                      <a:srgbClr val="F5ECF0"/>
                    </a:solidFill>
                  </a:tcPr>
                </a:tc>
              </a:tr>
              <a:tr h="548640">
                <a:tc>
                  <a:txBody>
                    <a:bodyPr/>
                    <a:lstStyle/>
                    <a:p>
                      <a:r>
                        <a:rPr sz="1400">
                          <a:solidFill>
                            <a:srgbClr val="2E1A2B"/>
                          </a:solidFill>
                          <a:latin typeface="Yu Gothic"/>
                        </a:rPr>
                        <a:t>依存症</a:t>
                      </a:r>
                    </a:p>
                  </a:txBody>
                  <a:tcPr marL="54864" marR="54864" marT="27432" marB="27432">
                    <a:solidFill>
                      <a:srgbClr val="FCF6F0"/>
                    </a:solidFill>
                  </a:tcPr>
                </a:tc>
                <a:tc>
                  <a:txBody>
                    <a:bodyPr/>
                    <a:lstStyle/>
                    <a:p>
                      <a:r>
                        <a:rPr sz="1400">
                          <a:solidFill>
                            <a:srgbClr val="2E1A2B"/>
                          </a:solidFill>
                          <a:latin typeface="Yu Gothic"/>
                        </a:rPr>
                        <a:t>即時報酬への過大評価、長期コストの過小評価</a:t>
                      </a:r>
                    </a:p>
                  </a:txBody>
                  <a:tcPr marL="54864" marR="54864" marT="27432" marB="27432">
                    <a:solidFill>
                      <a:srgbClr val="FCF6F0"/>
                    </a:solidFill>
                  </a:tcPr>
                </a:tc>
              </a:tr>
              <a:tr h="548640">
                <a:tc>
                  <a:txBody>
                    <a:bodyPr/>
                    <a:lstStyle/>
                    <a:p>
                      <a:r>
                        <a:rPr sz="1400">
                          <a:solidFill>
                            <a:srgbClr val="2E1A2B"/>
                          </a:solidFill>
                          <a:latin typeface="Yu Gothic"/>
                        </a:rPr>
                        <a:t>不安症</a:t>
                      </a:r>
                    </a:p>
                  </a:txBody>
                  <a:tcPr marL="54864" marR="54864" marT="27432" marB="27432">
                    <a:solidFill>
                      <a:srgbClr val="F5ECF0"/>
                    </a:solidFill>
                  </a:tcPr>
                </a:tc>
                <a:tc>
                  <a:txBody>
                    <a:bodyPr/>
                    <a:lstStyle/>
                    <a:p>
                      <a:r>
                        <a:rPr sz="1400">
                          <a:solidFill>
                            <a:srgbClr val="2E1A2B"/>
                          </a:solidFill>
                          <a:latin typeface="Yu Gothic"/>
                        </a:rPr>
                        <a:t>将来の損失への過剰な重み付け、回避行動の強化</a:t>
                      </a:r>
                    </a:p>
                  </a:txBody>
                  <a:tcPr marL="54864" marR="54864" marT="27432" marB="27432">
                    <a:solidFill>
                      <a:srgbClr val="F5ECF0"/>
                    </a:solidFill>
                  </a:tcPr>
                </a:tc>
              </a:tr>
            </a:tbl>
          </a:graphicData>
        </a:graphic>
      </p:graphicFrame>
      <p:sp>
        <p:nvSpPr>
          <p:cNvPr id="5" name="TextBox 4"/>
          <p:cNvSpPr txBox="1"/>
          <p:nvPr/>
        </p:nvSpPr>
        <p:spPr>
          <a:xfrm>
            <a:off x="548640" y="3931920"/>
            <a:ext cx="10972800" cy="1371600"/>
          </a:xfrm>
          <a:prstGeom prst="rect">
            <a:avLst/>
          </a:prstGeom>
          <a:noFill/>
        </p:spPr>
        <p:txBody>
          <a:bodyPr wrap="square" lIns="45720" rIns="45720" tIns="27432" bIns="27432">
            <a:spAutoFit/>
          </a:bodyPr>
          <a:lstStyle/>
          <a:p>
            <a:pPr algn="l">
              <a:defRPr/>
            </a:pPr>
            <a:r>
              <a:rPr sz="1800" b="0">
                <a:solidFill>
                  <a:srgbClr val="2E1A2B"/>
                </a:solidFill>
                <a:latin typeface="Yu Gothic"/>
              </a:rPr>
              <a:t>違う病名のように見えるが、腹側線条体と前頭前野の同じ回路 の異なる現れ方。</a:t>
            </a:r>
            <a:br/>
            <a:r>
              <a:rPr sz="1800" b="0">
                <a:solidFill>
                  <a:srgbClr val="2E1A2B"/>
                </a:solidFill>
                <a:latin typeface="Yu Gothic"/>
              </a:rPr>
              <a:t>RDoC(米国NIMHの研究領域分類) でも Positive Valence Systems としてまとめられている。</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7 / 29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3D1E3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C76B8A"/>
                </a:solidFill>
                <a:latin typeface="Yu Gothic"/>
              </a:rPr>
              <a:t>Part 2. 概念整理 — 3つの介入</a:t>
            </a:r>
          </a:p>
        </p:txBody>
      </p:sp>
      <p:sp>
        <p:nvSpPr>
          <p:cNvPr id="4" name="TextBox 3"/>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5" name="TextBox 4"/>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8 / 29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介入1: ナッジ (Nudge)</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特徴: コスト低い、抵抗感少ない、効果は穏やか〜中等度</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選択肢を変えずに、選びやすさを変える</a:t>
            </a:r>
          </a:p>
          <a:p>
            <a:pPr>
              <a:defRPr/>
            </a:pPr>
            <a:r>
              <a:rPr sz="1800">
                <a:solidFill>
                  <a:srgbClr val="2E1A2B"/>
                </a:solidFill>
                <a:latin typeface="Yu Gothic"/>
              </a:rPr>
              <a:t>• 強制ではない。インセンティブも与えない。設計だけを変える</a:t>
            </a:r>
          </a:p>
          <a:p>
            <a:pPr>
              <a:defRPr/>
            </a:pPr>
            <a:r>
              <a:rPr sz="1800">
                <a:solidFill>
                  <a:srgbClr val="2E1A2B"/>
                </a:solidFill>
                <a:latin typeface="Yu Gothic"/>
              </a:rPr>
              <a:t>• 例: 学校給食で野菜を目線の高さに置くと摂取量が増える</a:t>
            </a:r>
          </a:p>
          <a:p>
            <a:pPr>
              <a:defRPr/>
            </a:pPr>
            <a:r>
              <a:rPr sz="1800">
                <a:solidFill>
                  <a:srgbClr val="2E1A2B"/>
                </a:solidFill>
                <a:latin typeface="Yu Gothic"/>
              </a:rPr>
              <a:t>• 医療例: 処方箋のデフォルトをジェネリックにすると後発薬使用率が上がる</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9 / 29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介入2: インセンティブ (Incentive)</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特徴: 効果は強い、ただしコスト・倫理的配慮・終了後の reversion(逆戻り)に注意</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行動した本人に報酬を与える(金銭・ポイント・特典)</a:t>
            </a:r>
          </a:p>
          <a:p>
            <a:pPr>
              <a:defRPr/>
            </a:pPr>
            <a:r>
              <a:rPr sz="1800">
                <a:solidFill>
                  <a:srgbClr val="2E1A2B"/>
                </a:solidFill>
                <a:latin typeface="Yu Gothic"/>
              </a:rPr>
              <a:t>• 例: 禁煙プログラムで1か月禁煙できたら $100 給付</a:t>
            </a:r>
          </a:p>
          <a:p>
            <a:pPr>
              <a:defRPr/>
            </a:pPr>
            <a:r>
              <a:rPr sz="1800">
                <a:solidFill>
                  <a:srgbClr val="2E1A2B"/>
                </a:solidFill>
                <a:latin typeface="Yu Gothic"/>
              </a:rPr>
              <a:t>• 神経経済学的根拠: 即時報酬で双曲割引のバイアスを逆手に取る</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10 / 29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介入3: コミットメントデバイス (Commitment Device)</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特徴: 本人の意志に基づくのでパターナリズムの問題が小さい、設計の手間がいる</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未来の自分を縛る仕組みを、現在の自分に作らせる</a:t>
            </a:r>
          </a:p>
          <a:p>
            <a:pPr>
              <a:defRPr/>
            </a:pPr>
            <a:r>
              <a:rPr sz="1800">
                <a:solidFill>
                  <a:srgbClr val="2E1A2B"/>
                </a:solidFill>
                <a:latin typeface="Yu Gothic"/>
              </a:rPr>
              <a:t>• 例: 「3か月後に体重が減らなかったら $200 寄付」と公言してウェブで管理</a:t>
            </a:r>
          </a:p>
          <a:p>
            <a:pPr>
              <a:defRPr/>
            </a:pPr>
            <a:r>
              <a:rPr sz="1800">
                <a:solidFill>
                  <a:srgbClr val="2E1A2B"/>
                </a:solidFill>
                <a:latin typeface="Yu Gothic"/>
              </a:rPr>
              <a:t>• 例: 病院予約を "自動再予約" にする(キャンセルにアクションが要る)</a:t>
            </a:r>
          </a:p>
          <a:p>
            <a:pPr>
              <a:defRPr/>
            </a:pPr>
            <a:r>
              <a:rPr sz="1800">
                <a:solidFill>
                  <a:srgbClr val="2E1A2B"/>
                </a:solidFill>
                <a:latin typeface="Yu Gothic"/>
              </a:rPr>
              <a:t>• 神経経済学的根拠: 「合理的な現在の自分」と「弱い未来の自分」を分離する</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11 / 29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3つを使い分けるデシジョンツリー</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Q1. 患者本人が「変えたい」と言っている?</a:t>
            </a:r>
            <a:br/>
            <a:r>
              <a:rPr sz="1800" b="0">
                <a:solidFill>
                  <a:srgbClr val="2E1A2B"/>
                </a:solidFill>
                <a:latin typeface="Yu Gothic"/>
              </a:rPr>
              <a:t>   ├─ NO  → ナッジから(本人の合意がいらない)</a:t>
            </a:r>
            <a:br/>
            <a:r>
              <a:rPr sz="1800" b="0">
                <a:solidFill>
                  <a:srgbClr val="2E1A2B"/>
                </a:solidFill>
                <a:latin typeface="Yu Gothic"/>
              </a:rPr>
              <a:t>   └─ YES → Q2へ</a:t>
            </a:r>
            <a:br/>
            <a:r>
              <a:rPr sz="1800" b="0">
                <a:solidFill>
                  <a:srgbClr val="2E1A2B"/>
                </a:solidFill>
                <a:latin typeface="Yu Gothic"/>
              </a:rPr>
              <a:t>              Q2. 自制心のサポートが必要そう?</a:t>
            </a:r>
            <a:br/>
            <a:r>
              <a:rPr sz="1800" b="0">
                <a:solidFill>
                  <a:srgbClr val="2E1A2B"/>
                </a:solidFill>
                <a:latin typeface="Yu Gothic"/>
              </a:rPr>
              <a:t>                 ├─ NO  → インセンティブ(短期決戦)</a:t>
            </a:r>
            <a:br/>
            <a:r>
              <a:rPr sz="1800" b="0">
                <a:solidFill>
                  <a:srgbClr val="2E1A2B"/>
                </a:solidFill>
                <a:latin typeface="Yu Gothic"/>
              </a:rPr>
              <a:t>                 └─ YES → コミットメントデバイス(本人主導の縛り)</a:t>
            </a:r>
            <a:br/>
            <a:r>
              <a:rPr sz="1800" b="0">
                <a:solidFill>
                  <a:srgbClr val="2E1A2B"/>
                </a:solidFill>
                <a:latin typeface="Yu Gothic"/>
              </a:rPr>
              <a:t>もちろん組み合わせOK。</a:t>
            </a:r>
            <a:br/>
            <a:r>
              <a:rPr sz="1800" b="0">
                <a:solidFill>
                  <a:srgbClr val="2E1A2B"/>
                </a:solidFill>
                <a:latin typeface="Yu Gothic"/>
              </a:rPr>
              <a:t>「ナッジで導線を整え、コミットメントデバイスで本人を縛る」は最強パターン。</a:t>
            </a:r>
          </a:p>
        </p:txBody>
      </p:sp>
      <p:sp>
        <p:nvSpPr>
          <p:cNvPr id="5" name="TextBox 4"/>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6" name="TextBox 5"/>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12 / 29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さっきの症例に当てはめると</a:t>
            </a:r>
          </a:p>
        </p:txBody>
      </p:sp>
      <p:graphicFrame>
        <p:nvGraphicFramePr>
          <p:cNvPr id="4" name="Table 3"/>
          <p:cNvGraphicFramePr>
            <a:graphicFrameLocks noGrp="1"/>
          </p:cNvGraphicFramePr>
          <p:nvPr/>
        </p:nvGraphicFramePr>
        <p:xfrm>
          <a:off x="548640" y="146304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r>
                        <a:rPr sz="1400" b="1">
                          <a:solidFill>
                            <a:srgbClr val="FCF6F0"/>
                          </a:solidFill>
                          <a:latin typeface="Yu Gothic"/>
                        </a:rPr>
                        <a:t>介入</a:t>
                      </a:r>
                    </a:p>
                  </a:txBody>
                  <a:tcPr marL="54864" marR="54864" marT="27432" marB="27432">
                    <a:solidFill>
                      <a:srgbClr val="5A2D50"/>
                    </a:solidFill>
                  </a:tcPr>
                </a:tc>
                <a:tc>
                  <a:txBody>
                    <a:bodyPr/>
                    <a:lstStyle/>
                    <a:p>
                      <a:r>
                        <a:rPr sz="1400" b="1">
                          <a:solidFill>
                            <a:srgbClr val="FCF6F0"/>
                          </a:solidFill>
                          <a:latin typeface="Yu Gothic"/>
                        </a:rPr>
                        <a:t>この症例での実装案</a:t>
                      </a:r>
                    </a:p>
                  </a:txBody>
                  <a:tcPr marL="54864" marR="54864" marT="27432" marB="27432">
                    <a:solidFill>
                      <a:srgbClr val="5A2D50"/>
                    </a:solidFill>
                  </a:tcPr>
                </a:tc>
              </a:tr>
              <a:tr h="548640">
                <a:tc>
                  <a:txBody>
                    <a:bodyPr/>
                    <a:lstStyle/>
                    <a:p>
                      <a:r>
                        <a:rPr sz="1400">
                          <a:solidFill>
                            <a:srgbClr val="2E1A2B"/>
                          </a:solidFill>
                          <a:latin typeface="Yu Gothic"/>
                        </a:rPr>
                        <a:t>ナッジ</a:t>
                      </a:r>
                    </a:p>
                  </a:txBody>
                  <a:tcPr marL="54864" marR="54864" marT="27432" marB="27432">
                    <a:solidFill>
                      <a:srgbClr val="F5ECF0"/>
                    </a:solidFill>
                  </a:tcPr>
                </a:tc>
                <a:tc>
                  <a:txBody>
                    <a:bodyPr/>
                    <a:lstStyle/>
                    <a:p>
                      <a:r>
                        <a:rPr sz="1400">
                          <a:solidFill>
                            <a:srgbClr val="2E1A2B"/>
                          </a:solidFill>
                          <a:latin typeface="Yu Gothic"/>
                        </a:rPr>
                        <a:t>服薬管理アプリのリマインダー時刻を「夕食の時間」にデフォルト設定。散歩は「玄関に靴を出しておく」だけのワーク</a:t>
                      </a:r>
                    </a:p>
                  </a:txBody>
                  <a:tcPr marL="54864" marR="54864" marT="27432" marB="27432">
                    <a:solidFill>
                      <a:srgbClr val="F5ECF0"/>
                    </a:solidFill>
                  </a:tcPr>
                </a:tc>
              </a:tr>
              <a:tr h="548640">
                <a:tc>
                  <a:txBody>
                    <a:bodyPr/>
                    <a:lstStyle/>
                    <a:p>
                      <a:r>
                        <a:rPr sz="1400">
                          <a:solidFill>
                            <a:srgbClr val="2E1A2B"/>
                          </a:solidFill>
                          <a:latin typeface="Yu Gothic"/>
                        </a:rPr>
                        <a:t>インセンティブ</a:t>
                      </a:r>
                    </a:p>
                  </a:txBody>
                  <a:tcPr marL="54864" marR="54864" marT="27432" marB="27432">
                    <a:solidFill>
                      <a:srgbClr val="FCF6F0"/>
                    </a:solidFill>
                  </a:tcPr>
                </a:tc>
                <a:tc>
                  <a:txBody>
                    <a:bodyPr/>
                    <a:lstStyle/>
                    <a:p>
                      <a:r>
                        <a:rPr sz="1400">
                          <a:solidFill>
                            <a:srgbClr val="2E1A2B"/>
                          </a:solidFill>
                          <a:latin typeface="Yu Gothic"/>
                        </a:rPr>
                        <a:t>「次回までに散歩を5回できたら、自分で何か小さなご褒美を決めておく」と一緒に決める</a:t>
                      </a:r>
                    </a:p>
                  </a:txBody>
                  <a:tcPr marL="54864" marR="54864" marT="27432" marB="27432">
                    <a:solidFill>
                      <a:srgbClr val="FCF6F0"/>
                    </a:solidFill>
                  </a:tcPr>
                </a:tc>
              </a:tr>
              <a:tr h="548640">
                <a:tc>
                  <a:txBody>
                    <a:bodyPr/>
                    <a:lstStyle/>
                    <a:p>
                      <a:r>
                        <a:rPr sz="1400">
                          <a:solidFill>
                            <a:srgbClr val="2E1A2B"/>
                          </a:solidFill>
                          <a:latin typeface="Yu Gothic"/>
                        </a:rPr>
                        <a:t>コミットメントデバイス</a:t>
                      </a:r>
                    </a:p>
                  </a:txBody>
                  <a:tcPr marL="54864" marR="54864" marT="27432" marB="27432">
                    <a:solidFill>
                      <a:srgbClr val="F5ECF0"/>
                    </a:solidFill>
                  </a:tcPr>
                </a:tc>
                <a:tc>
                  <a:txBody>
                    <a:bodyPr/>
                    <a:lstStyle/>
                    <a:p>
                      <a:r>
                        <a:rPr sz="1400">
                          <a:solidFill>
                            <a:srgbClr val="2E1A2B"/>
                          </a:solidFill>
                          <a:latin typeface="Yu Gothic"/>
                        </a:rPr>
                        <a:t>「次回外来日を今ここで一緒に予約する。私と看護師さんで覚えておく」=スケジュールの外部化</a:t>
                      </a:r>
                    </a:p>
                  </a:txBody>
                  <a:tcPr marL="54864" marR="54864" marT="27432" marB="27432">
                    <a:solidFill>
                      <a:srgbClr val="F5ECF0"/>
                    </a:solidFill>
                  </a:tcPr>
                </a:tc>
              </a:tr>
            </a:tbl>
          </a:graphicData>
        </a:graphic>
      </p:graphicFrame>
      <p:sp>
        <p:nvSpPr>
          <p:cNvPr id="5" name="TextBox 4"/>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6" name="TextBox 5"/>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13 / 29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3D1E3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C76B8A"/>
                </a:solidFill>
                <a:latin typeface="Yu Gothic"/>
              </a:rPr>
              <a:t>Part 3. 自分の診療への適用</a:t>
            </a:r>
          </a:p>
        </p:txBody>
      </p:sp>
      <p:sp>
        <p:nvSpPr>
          <p:cNvPr id="4" name="TextBox 3"/>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5" name="TextBox 4"/>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14 / 29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明日の外来で1つだけ試せること</a:t>
            </a:r>
          </a:p>
        </p:txBody>
      </p:sp>
      <p:graphicFrame>
        <p:nvGraphicFramePr>
          <p:cNvPr id="4" name="Table 3"/>
          <p:cNvGraphicFramePr>
            <a:graphicFrameLocks noGrp="1"/>
          </p:cNvGraphicFramePr>
          <p:nvPr/>
        </p:nvGraphicFramePr>
        <p:xfrm>
          <a:off x="548640" y="146304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r>
                        <a:rPr sz="1400" b="1">
                          <a:solidFill>
                            <a:srgbClr val="FCF6F0"/>
                          </a:solidFill>
                          <a:latin typeface="Yu Gothic"/>
                        </a:rPr>
                        <a:t>❌ 説教モード</a:t>
                      </a:r>
                    </a:p>
                  </a:txBody>
                  <a:tcPr marL="54864" marR="54864" marT="27432" marB="27432">
                    <a:solidFill>
                      <a:srgbClr val="5A2D50"/>
                    </a:solidFill>
                  </a:tcPr>
                </a:tc>
                <a:tc>
                  <a:txBody>
                    <a:bodyPr/>
                    <a:lstStyle/>
                    <a:p>
                      <a:r>
                        <a:rPr sz="1400" b="1">
                          <a:solidFill>
                            <a:srgbClr val="FCF6F0"/>
                          </a:solidFill>
                          <a:latin typeface="Yu Gothic"/>
                        </a:rPr>
                        <a:t>✅ 設計モード</a:t>
                      </a:r>
                    </a:p>
                  </a:txBody>
                  <a:tcPr marL="54864" marR="54864" marT="27432" marB="27432">
                    <a:solidFill>
                      <a:srgbClr val="5A2D50"/>
                    </a:solidFill>
                  </a:tcPr>
                </a:tc>
              </a:tr>
              <a:tr h="548640">
                <a:tc>
                  <a:txBody>
                    <a:bodyPr/>
                    <a:lstStyle/>
                    <a:p>
                      <a:r>
                        <a:rPr sz="1400">
                          <a:solidFill>
                            <a:srgbClr val="2E1A2B"/>
                          </a:solidFill>
                          <a:latin typeface="Yu Gothic"/>
                        </a:rPr>
                        <a:t>「散歩、続けてくださいね」</a:t>
                      </a:r>
                    </a:p>
                  </a:txBody>
                  <a:tcPr marL="54864" marR="54864" marT="27432" marB="27432">
                    <a:solidFill>
                      <a:srgbClr val="F5ECF0"/>
                    </a:solidFill>
                  </a:tcPr>
                </a:tc>
                <a:tc>
                  <a:txBody>
                    <a:bodyPr/>
                    <a:lstStyle/>
                    <a:p>
                      <a:r>
                        <a:rPr sz="1400">
                          <a:solidFill>
                            <a:srgbClr val="2E1A2B"/>
                          </a:solidFill>
                          <a:latin typeface="Yu Gothic"/>
                        </a:rPr>
                        <a:t>「次の散歩の前に何を準備しておいたら一番楽になりそうですか?」</a:t>
                      </a:r>
                    </a:p>
                  </a:txBody>
                  <a:tcPr marL="54864" marR="54864" marT="27432" marB="27432">
                    <a:solidFill>
                      <a:srgbClr val="F5ECF0"/>
                    </a:solidFill>
                  </a:tcPr>
                </a:tc>
              </a:tr>
              <a:tr h="548640">
                <a:tc>
                  <a:txBody>
                    <a:bodyPr/>
                    <a:lstStyle/>
                    <a:p>
                      <a:r>
                        <a:rPr sz="1400">
                          <a:solidFill>
                            <a:srgbClr val="2E1A2B"/>
                          </a:solidFill>
                          <a:latin typeface="Yu Gothic"/>
                        </a:rPr>
                        <a:t>「お薬、ちゃんと飲んでくださいね」</a:t>
                      </a:r>
                    </a:p>
                  </a:txBody>
                  <a:tcPr marL="54864" marR="54864" marT="27432" marB="27432">
                    <a:solidFill>
                      <a:srgbClr val="FCF6F0"/>
                    </a:solidFill>
                  </a:tcPr>
                </a:tc>
                <a:tc>
                  <a:txBody>
                    <a:bodyPr/>
                    <a:lstStyle/>
                    <a:p>
                      <a:r>
                        <a:rPr sz="1400">
                          <a:solidFill>
                            <a:srgbClr val="2E1A2B"/>
                          </a:solidFill>
                          <a:latin typeface="Yu Gothic"/>
                        </a:rPr>
                        <a:t>「飲み忘れる時って、どんな時ですか? その時間帯のリマインダー、一緒に決めましょう」</a:t>
                      </a:r>
                    </a:p>
                  </a:txBody>
                  <a:tcPr marL="54864" marR="54864" marT="27432" marB="27432">
                    <a:solidFill>
                      <a:srgbClr val="FCF6F0"/>
                    </a:solidFill>
                  </a:tcPr>
                </a:tc>
              </a:tr>
              <a:tr h="548640">
                <a:tc>
                  <a:txBody>
                    <a:bodyPr/>
                    <a:lstStyle/>
                    <a:p>
                      <a:r>
                        <a:rPr sz="1400">
                          <a:solidFill>
                            <a:srgbClr val="2E1A2B"/>
                          </a:solidFill>
                          <a:latin typeface="Yu Gothic"/>
                        </a:rPr>
                        <a:t>「禁煙、頑張ってくださいね」</a:t>
                      </a:r>
                    </a:p>
                  </a:txBody>
                  <a:tcPr marL="54864" marR="54864" marT="27432" marB="27432">
                    <a:solidFill>
                      <a:srgbClr val="F5ECF0"/>
                    </a:solidFill>
                  </a:tcPr>
                </a:tc>
                <a:tc>
                  <a:txBody>
                    <a:bodyPr/>
                    <a:lstStyle/>
                    <a:p>
                      <a:r>
                        <a:rPr sz="1400">
                          <a:solidFill>
                            <a:srgbClr val="2E1A2B"/>
                          </a:solidFill>
                          <a:latin typeface="Yu Gothic"/>
                        </a:rPr>
                        <a:t>「次に吸いたくなったら、その代わりに3分だけ別のことをするとしたら、何をしたいですか?」</a:t>
                      </a:r>
                    </a:p>
                  </a:txBody>
                  <a:tcPr marL="54864" marR="54864" marT="27432" marB="27432">
                    <a:solidFill>
                      <a:srgbClr val="F5ECF0"/>
                    </a:solidFill>
                  </a:tcPr>
                </a:tc>
              </a:tr>
            </a:tbl>
          </a:graphicData>
        </a:graphic>
      </p:graphicFrame>
      <p:sp>
        <p:nvSpPr>
          <p:cNvPr id="5" name="TextBox 4"/>
          <p:cNvSpPr txBox="1"/>
          <p:nvPr/>
        </p:nvSpPr>
        <p:spPr>
          <a:xfrm>
            <a:off x="548640" y="3931920"/>
            <a:ext cx="10972800" cy="1371600"/>
          </a:xfrm>
          <a:prstGeom prst="rect">
            <a:avLst/>
          </a:prstGeom>
          <a:noFill/>
        </p:spPr>
        <p:txBody>
          <a:bodyPr wrap="square" lIns="45720" rIns="45720" tIns="27432" bIns="27432">
            <a:spAutoFit/>
          </a:bodyPr>
          <a:lstStyle/>
          <a:p>
            <a:pPr algn="l">
              <a:defRPr/>
            </a:pPr>
            <a:r>
              <a:rPr sz="1800" b="0">
                <a:solidFill>
                  <a:srgbClr val="2E1A2B"/>
                </a:solidFill>
                <a:latin typeface="Yu Gothic"/>
              </a:rPr>
              <a:t>説教モードの一言を、設計モードの一言に置き換えてみる:</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15 / 29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言葉のフレーミングを変える</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「やってないんですね」 → 「今は、それをやるエネルギーが必要な状態じゃないんですね」</a:t>
            </a:r>
            <a:br/>
            <a:r>
              <a:rPr sz="1800" b="0">
                <a:solidFill>
                  <a:srgbClr val="2E1A2B"/>
                </a:solidFill>
                <a:latin typeface="Yu Gothic"/>
              </a:rPr>
              <a:t>これは責任を回避する言い方ではない。</a:t>
            </a:r>
            <a:br/>
            <a:r>
              <a:rPr sz="1800" b="0">
                <a:solidFill>
                  <a:srgbClr val="2E1A2B"/>
                </a:solidFill>
                <a:latin typeface="Yu Gothic"/>
              </a:rPr>
              <a:t>「怠惰」フレームから「報酬処理」フレームへの言い換え で、患者は自分を責めずに次の一歩を考えやすくなる。</a:t>
            </a:r>
            <a:br/>
            <a:r>
              <a:rPr sz="1800" b="0">
                <a:solidFill>
                  <a:srgbClr val="2E1A2B"/>
                </a:solidFill>
                <a:latin typeface="Yu Gothic"/>
              </a:rPr>
              <a:t>報酬処理障害は 脳の状態 であって、人格ではない。これは患者にも伝えていい。</a:t>
            </a:r>
          </a:p>
        </p:txBody>
      </p:sp>
      <p:sp>
        <p:nvSpPr>
          <p:cNvPr id="5" name="TextBox 4"/>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6" name="TextBox 5"/>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16 / 29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自分の外来でのふりかえり(30秒)</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外来終わりに30秒、こう問う:</a:t>
            </a:r>
            <a:br/>
            <a:r>
              <a:rPr sz="1800" b="0">
                <a:solidFill>
                  <a:srgbClr val="2E1A2B"/>
                </a:solidFill>
                <a:latin typeface="Yu Gothic"/>
              </a:rPr>
              <a:t>1. 今日、説教モードに 流されかけた瞬間 はなかったか?</a:t>
            </a:r>
            <a:br/>
            <a:r>
              <a:rPr sz="1800" b="0">
                <a:solidFill>
                  <a:srgbClr val="2E1A2B"/>
                </a:solidFill>
                <a:latin typeface="Yu Gothic"/>
              </a:rPr>
              <a:t>2. その時、設計モードならどう声をかけられたか?</a:t>
            </a:r>
            <a:br/>
            <a:r>
              <a:rPr sz="1800" b="0">
                <a:solidFill>
                  <a:srgbClr val="2E1A2B"/>
                </a:solidFill>
                <a:latin typeface="Yu Gothic"/>
              </a:rPr>
              <a:t>3. 患者の生活の中の "次の一歩のハードル" は、どこに下げられそうか?</a:t>
            </a:r>
            <a:br/>
            <a:r>
              <a:rPr sz="1800" b="0">
                <a:solidFill>
                  <a:srgbClr val="2E1A2B"/>
                </a:solidFill>
                <a:latin typeface="Yu Gothic"/>
              </a:rPr>
              <a:t>メモは要らない。考える習慣だけでいい。</a:t>
            </a:r>
          </a:p>
        </p:txBody>
      </p:sp>
      <p:sp>
        <p:nvSpPr>
          <p:cNvPr id="5" name="TextBox 4"/>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6" name="TextBox 5"/>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17 / 29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3D1E3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C76B8A"/>
                </a:solidFill>
                <a:latin typeface="Yu Gothic"/>
              </a:rPr>
              <a:t>Part 4. 次の半径へ — 外来導線という "見えないナッジ"</a:t>
            </a:r>
          </a:p>
        </p:txBody>
      </p:sp>
      <p:sp>
        <p:nvSpPr>
          <p:cNvPr id="4" name="TextBox 3"/>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5" name="TextBox 4"/>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18 / 29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あなたの外来は、すでにナッジ設計されている(良くも悪くも)</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「どうデザインするか」を意識しないとき、それは "たまたまそうなっているデザイン" になっている。</a:t>
            </a:r>
            <a:br/>
            <a:r>
              <a:rPr sz="1800" b="0">
                <a:solidFill>
                  <a:srgbClr val="2E1A2B"/>
                </a:solidFill>
                <a:latin typeface="Yu Gothic"/>
              </a:rPr>
              <a:t>ナッジ設計とは、その "たまたま" を 意図的に することにすぎない。</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待合室の椅子の配置 → 患者同士の距離感</a:t>
            </a:r>
          </a:p>
          <a:p>
            <a:pPr>
              <a:defRPr/>
            </a:pPr>
            <a:r>
              <a:rPr sz="1800">
                <a:solidFill>
                  <a:srgbClr val="2E1A2B"/>
                </a:solidFill>
                <a:latin typeface="Yu Gothic"/>
              </a:rPr>
              <a:t>• 問診票の質問順 → 何を最初に話してもらうか</a:t>
            </a:r>
          </a:p>
          <a:p>
            <a:pPr>
              <a:defRPr/>
            </a:pPr>
            <a:r>
              <a:rPr sz="1800">
                <a:solidFill>
                  <a:srgbClr val="2E1A2B"/>
                </a:solidFill>
                <a:latin typeface="Yu Gothic"/>
              </a:rPr>
              <a:t>• 検査結果の表示順 → 何に注目させるか</a:t>
            </a:r>
          </a:p>
          <a:p>
            <a:pPr>
              <a:defRPr/>
            </a:pPr>
            <a:r>
              <a:rPr sz="1800">
                <a:solidFill>
                  <a:srgbClr val="2E1A2B"/>
                </a:solidFill>
                <a:latin typeface="Yu Gothic"/>
              </a:rPr>
              <a:t>• 予約システムのデフォルト → 通院頻度を決めている</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19 / 29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外来導線で「ちょっと触る」レベルの工夫</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どれも今日明日で全部やる必要はない。</a:t>
            </a:r>
            <a:br/>
            <a:r>
              <a:rPr sz="1800" b="0">
                <a:solidFill>
                  <a:srgbClr val="2E1A2B"/>
                </a:solidFill>
                <a:latin typeface="Yu Gothic"/>
              </a:rPr>
              <a:t>「これは自分が将来触れる場所だ」と思って外来を歩くと、見え方が変わる。</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受付の問診票に「今日一番話したいこと」を1行書ける欄を追加</a:t>
            </a:r>
          </a:p>
          <a:p>
            <a:pPr>
              <a:defRPr/>
            </a:pPr>
            <a:r>
              <a:rPr sz="1800">
                <a:solidFill>
                  <a:srgbClr val="2E1A2B"/>
                </a:solidFill>
                <a:latin typeface="Yu Gothic"/>
              </a:rPr>
              <a:t>• 電子カルテのテンプレに「次回までの宿題」欄を作る(処方→学習への自分用ナッジ)</a:t>
            </a:r>
          </a:p>
          <a:p>
            <a:pPr>
              <a:defRPr/>
            </a:pPr>
            <a:r>
              <a:rPr sz="1800">
                <a:solidFill>
                  <a:srgbClr val="2E1A2B"/>
                </a:solidFill>
                <a:latin typeface="Yu Gothic"/>
              </a:rPr>
              <a:t>• 検査結果説明で「数値」を見せる前に「前回からの間に何がありましたか?」を聞く順番に</a:t>
            </a:r>
          </a:p>
          <a:p>
            <a:pPr>
              <a:defRPr/>
            </a:pPr>
            <a:r>
              <a:rPr sz="1800">
                <a:solidFill>
                  <a:srgbClr val="2E1A2B"/>
                </a:solidFill>
                <a:latin typeface="Yu Gothic"/>
              </a:rPr>
              <a:t>• 待合のポスターを「禁煙してください」から「次に吸いたくなった時のための作戦を1つ持っていますか?」に変える</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20 / 29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3D1E36"/>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C76B8A"/>
                </a:solidFill>
                <a:latin typeface="Yu Gothic"/>
              </a:rPr>
              <a:t>Part 5. 自院・地域に持ち帰る — 診療デザイナーとしての医師</a:t>
            </a:r>
          </a:p>
        </p:txBody>
      </p:sp>
      <p:sp>
        <p:nvSpPr>
          <p:cNvPr id="4" name="TextBox 3"/>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5" name="TextBox 4"/>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21 / 29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Penn Medicine Nudge Unit という存在</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重要なのは「医療機関の中に行動設計チームが組み込まれている」という事実そのもの。</a:t>
            </a:r>
            <a:br/>
            <a:r>
              <a:rPr sz="1800" b="0">
                <a:solidFill>
                  <a:srgbClr val="2E1A2B"/>
                </a:solidFill>
                <a:latin typeface="Yu Gothic"/>
              </a:rPr>
              <a:t>「医療は科学だが、その科学を 誰かに届ける ところは設計の問題」、と組織が宣言している。</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ペンシルベニア大学医学部に常駐する、行動経済学者・心理学者・医師混成のチーム</a:t>
            </a:r>
          </a:p>
          <a:p>
            <a:pPr>
              <a:defRPr/>
            </a:pPr>
            <a:r>
              <a:rPr sz="1800">
                <a:solidFill>
                  <a:srgbClr val="2E1A2B"/>
                </a:solidFill>
                <a:latin typeface="Yu Gothic"/>
              </a:rPr>
              <a:t>• 院内のあらゆる導線を「行動設計の対象」として捉え、実証実験を回している</a:t>
            </a:r>
          </a:p>
          <a:p>
            <a:pPr>
              <a:defRPr/>
            </a:pPr>
            <a:r>
              <a:rPr sz="1800">
                <a:solidFill>
                  <a:srgbClr val="2E1A2B"/>
                </a:solidFill>
                <a:latin typeface="Yu Gothic"/>
              </a:rPr>
              <a:t>• 例: 処方デフォルト変更で後発薬使用率が劇的に上がった、ワクチン接種リマインダー文言を変えたら接種率が上がった、など多数の論文</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22 / 29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我々がそこから持ち帰れるもの</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すぐにNudge Unitを作れなくても:</a:t>
            </a:r>
            <a:br/>
            <a:r>
              <a:rPr sz="1800" b="0">
                <a:solidFill>
                  <a:srgbClr val="2E1A2B"/>
                </a:solidFill>
                <a:latin typeface="Yu Gothic"/>
              </a:rPr>
              <a:t>医師は治療者であると同時に、患者の生活と医療システムを繋ぐ "設計者" でもある。</a:t>
            </a:r>
            <a:br/>
            <a:r>
              <a:rPr sz="1800" b="0">
                <a:solidFill>
                  <a:srgbClr val="2E1A2B"/>
                </a:solidFill>
                <a:latin typeface="Yu Gothic"/>
              </a:rPr>
              <a:t>この役割は、訓練すれば誰でも身につけられる。</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「うちの外来のここが患者の選択を歪めている」を1つ言語化 してみる</a:t>
            </a:r>
          </a:p>
          <a:p>
            <a:pPr>
              <a:defRPr/>
            </a:pPr>
            <a:r>
              <a:rPr sz="1800">
                <a:solidFill>
                  <a:srgbClr val="2E1A2B"/>
                </a:solidFill>
                <a:latin typeface="Yu Gothic"/>
              </a:rPr>
              <a:t>• 多職種カンファで「行動設計の話」を1スライド入れてみる</a:t>
            </a:r>
          </a:p>
          <a:p>
            <a:pPr>
              <a:defRPr/>
            </a:pPr>
            <a:r>
              <a:rPr sz="1800">
                <a:solidFill>
                  <a:srgbClr val="2E1A2B"/>
                </a:solidFill>
                <a:latin typeface="Yu Gothic"/>
              </a:rPr>
              <a:t>• 「説教ではなく設計」という共通言語を、看護師・薬剤師・MSWと共有してみる</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23 / 29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マクロ予測</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論文と Conductor の予測:</a:t>
            </a:r>
            <a:br/>
            <a:r>
              <a:rPr sz="1800" b="0">
                <a:solidFill>
                  <a:srgbClr val="2E1A2B"/>
                </a:solidFill>
                <a:latin typeface="Yu Gothic"/>
              </a:rPr>
              <a:t>家庭医療・総合診療は、患者の生活全体を見ているという点で、この分野の 相性が極めて良い 専門職。</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2026〜2028年に EMR組み込み型ナッジ の議論が日本でも始まる</a:t>
            </a:r>
          </a:p>
          <a:p>
            <a:pPr>
              <a:defRPr/>
            </a:pPr>
            <a:r>
              <a:rPr sz="1800">
                <a:solidFill>
                  <a:srgbClr val="2E1A2B"/>
                </a:solidFill>
                <a:latin typeface="Yu Gothic"/>
              </a:rPr>
              <a:t>• 時間的割引率の簡易測定 が依存症スクリーニングの補助指標として普及し始める</a:t>
            </a:r>
          </a:p>
          <a:p>
            <a:pPr>
              <a:defRPr/>
            </a:pPr>
            <a:r>
              <a:rPr sz="1800">
                <a:solidFill>
                  <a:srgbClr val="2E1A2B"/>
                </a:solidFill>
                <a:latin typeface="Yu Gothic"/>
              </a:rPr>
              <a:t>• 家庭医がナッジ設計チームのコアメンバーとして位置付けられる動きも加速する見通し</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24 / 29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今日のまとめ</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1. 「分かっていてもやめられない」は 報酬処理の脳機能の話(怠惰ではない)</a:t>
            </a:r>
            <a:br/>
            <a:r>
              <a:rPr sz="1800" b="0">
                <a:solidFill>
                  <a:srgbClr val="2E1A2B"/>
                </a:solidFill>
                <a:latin typeface="Yu Gothic"/>
              </a:rPr>
              <a:t>2. ナッジ / インセンティブ / コミットメントデバイス の3つの介入があり、使い分けの軸がある</a:t>
            </a:r>
            <a:br/>
            <a:r>
              <a:rPr sz="1800" b="0">
                <a:solidFill>
                  <a:srgbClr val="2E1A2B"/>
                </a:solidFill>
                <a:latin typeface="Yu Gothic"/>
              </a:rPr>
              <a:t>3. 明日の外来で 説教モード→設計モードの一言 に置き換えられる</a:t>
            </a:r>
            <a:br/>
            <a:r>
              <a:rPr sz="1800" b="0">
                <a:solidFill>
                  <a:srgbClr val="2E1A2B"/>
                </a:solidFill>
                <a:latin typeface="Yu Gothic"/>
              </a:rPr>
              <a:t>4. 半径を広げると、外来導線・院内全体が 行動設計の対象 に見えてくる</a:t>
            </a:r>
            <a:br/>
            <a:r>
              <a:rPr sz="1800" b="0">
                <a:solidFill>
                  <a:srgbClr val="2E1A2B"/>
                </a:solidFill>
                <a:latin typeface="Yu Gothic"/>
              </a:rPr>
              <a:t>5. 医師は治療者であると同時に 診療デザイナー という役割を持てる</a:t>
            </a:r>
          </a:p>
        </p:txBody>
      </p:sp>
      <p:sp>
        <p:nvSpPr>
          <p:cNvPr id="5" name="TextBox 4"/>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6" name="TextBox 5"/>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25 / 29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明日からの宿題(任意)</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うまくいかなくてもOK。やってみて気づいたことを次回シェア してください。</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1人の患者で「設計モードの一言」を試す</a:t>
            </a:r>
          </a:p>
          <a:p>
            <a:pPr>
              <a:defRPr/>
            </a:pPr>
            <a:r>
              <a:rPr sz="1800">
                <a:solidFill>
                  <a:srgbClr val="2E1A2B"/>
                </a:solidFill>
                <a:latin typeface="Yu Gothic"/>
              </a:rPr>
              <a:t>• 自分の外来で「ここはたまたまそうなっているデザイン」を1つ見つける</a:t>
            </a:r>
          </a:p>
          <a:p>
            <a:pPr>
              <a:defRPr/>
            </a:pPr>
            <a:r>
              <a:rPr sz="1800">
                <a:solidFill>
                  <a:srgbClr val="2E1A2B"/>
                </a:solidFill>
                <a:latin typeface="Yu Gothic"/>
              </a:rPr>
              <a:t>• 「説教ではなく設計」という言葉をチーム内で1回使ってみる</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26 / 29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出典</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&lt;https://pmc.ncbi.nlm.nih.gov/articles/PMC11904746/&gt;</a:t>
            </a:r>
            <a:br/>
            <a:r>
              <a:rPr sz="1800" b="0">
                <a:solidFill>
                  <a:srgbClr val="2E1A2B"/>
                </a:solidFill>
                <a:latin typeface="Yu Gothic"/>
              </a:rPr>
              <a:t>  &lt;https://chti.upenn.edu/nudge-unit&gt;</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主出典: *Applications of Behavioral Economics and Neuroeconomics in Mental Health*. PMC11904746. 2025年.</a:t>
            </a:r>
          </a:p>
          <a:p>
            <a:pPr>
              <a:defRPr/>
            </a:pPr>
            <a:r>
              <a:rPr sz="1800">
                <a:solidFill>
                  <a:srgbClr val="2E1A2B"/>
                </a:solidFill>
                <a:latin typeface="Yu Gothic"/>
              </a:rPr>
              <a:t>• 副出典: Penn Medicine Nudge Unit | CHTI.</a:t>
            </a:r>
          </a:p>
          <a:p>
            <a:pPr>
              <a:defRPr/>
            </a:pPr>
            <a:r>
              <a:rPr sz="1800">
                <a:solidFill>
                  <a:srgbClr val="2E1A2B"/>
                </a:solidFill>
                <a:latin typeface="Yu Gothic"/>
              </a:rPr>
              <a:t>• 背景文献:</a:t>
            </a:r>
          </a:p>
          <a:p>
            <a:pPr>
              <a:defRPr/>
            </a:pPr>
            <a:r>
              <a:rPr sz="1800">
                <a:solidFill>
                  <a:srgbClr val="2E1A2B"/>
                </a:solidFill>
                <a:latin typeface="Yu Gothic"/>
              </a:rPr>
              <a:t>• カーネマン『ファスト&amp;スロー』</a:t>
            </a:r>
          </a:p>
          <a:p>
            <a:pPr>
              <a:defRPr/>
            </a:pPr>
            <a:r>
              <a:rPr sz="1800">
                <a:solidFill>
                  <a:srgbClr val="2E1A2B"/>
                </a:solidFill>
                <a:latin typeface="Yu Gothic"/>
              </a:rPr>
              <a:t>• セイラー&amp;サンスティーン『NUDGE — 実践 行動経済学』</a:t>
            </a:r>
          </a:p>
          <a:p>
            <a:pPr>
              <a:defRPr/>
            </a:pPr>
            <a:r>
              <a:rPr sz="1800">
                <a:solidFill>
                  <a:srgbClr val="2E1A2B"/>
                </a:solidFill>
                <a:latin typeface="Yu Gothic"/>
              </a:rPr>
              <a:t>• NIMH RDoC: Positive Valence Systems</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27 / 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457200" y="365760"/>
            <a:ext cx="11430000" cy="914400"/>
          </a:xfrm>
          <a:prstGeom prst="rect">
            <a:avLst/>
          </a:prstGeom>
          <a:noFill/>
        </p:spPr>
        <p:txBody>
          <a:bodyPr wrap="square" lIns="45720" rIns="45720" tIns="27432" bIns="27432">
            <a:spAutoFit/>
          </a:bodyPr>
          <a:lstStyle/>
          <a:p>
            <a:pPr algn="l">
              <a:defRPr/>
            </a:pPr>
            <a:r>
              <a:rPr sz="3000" b="1">
                <a:solidFill>
                  <a:srgbClr val="3D1E36"/>
                </a:solidFill>
                <a:latin typeface="Yu Gothic"/>
              </a:rPr>
              <a:t>参考: もう一歩深めたい人へ</a:t>
            </a:r>
          </a:p>
        </p:txBody>
      </p:sp>
      <p:sp>
        <p:nvSpPr>
          <p:cNvPr id="4" name="TextBox 3"/>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興味が湧いたら、Slack #learning にひとこと投げてください。文献紹介します。</a:t>
            </a:r>
          </a:p>
        </p:txBody>
      </p:sp>
      <p:sp>
        <p:nvSpPr>
          <p:cNvPr id="5" name="TextBox 4"/>
          <p:cNvSpPr txBox="1"/>
          <p:nvPr/>
        </p:nvSpPr>
        <p:spPr>
          <a:xfrm>
            <a:off x="548640" y="3108960"/>
            <a:ext cx="10972800" cy="2377439"/>
          </a:xfrm>
          <a:prstGeom prst="rect">
            <a:avLst/>
          </a:prstGeom>
          <a:noFill/>
        </p:spPr>
        <p:txBody>
          <a:bodyPr wrap="square">
            <a:spAutoFit/>
          </a:bodyPr>
          <a:lstStyle/>
          <a:p>
            <a:pPr>
              <a:defRPr/>
            </a:pPr>
            <a:r>
              <a:rPr sz="1800">
                <a:solidFill>
                  <a:srgbClr val="2E1A2B"/>
                </a:solidFill>
                <a:latin typeface="Yu Gothic"/>
              </a:rPr>
              <a:t>• プロスペクト理論・損失回避・双曲割引・フレーミング効果 (カーネマン)</a:t>
            </a:r>
          </a:p>
          <a:p>
            <a:pPr>
              <a:defRPr/>
            </a:pPr>
            <a:r>
              <a:rPr sz="1800">
                <a:solidFill>
                  <a:srgbClr val="2E1A2B"/>
                </a:solidFill>
                <a:latin typeface="Yu Gothic"/>
              </a:rPr>
              <a:t>• 神経経済学: 腹側線条体・前頭前野・ドーパミン報酬予測誤差シグナル</a:t>
            </a:r>
          </a:p>
          <a:p>
            <a:pPr>
              <a:defRPr/>
            </a:pPr>
            <a:r>
              <a:rPr sz="1800">
                <a:solidFill>
                  <a:srgbClr val="2E1A2B"/>
                </a:solidFill>
                <a:latin typeface="Yu Gothic"/>
              </a:rPr>
              <a:t>• トランスダイアグノスティック・アプローチ: NIMH RDoC Positive Valence Systems</a:t>
            </a:r>
          </a:p>
          <a:p>
            <a:pPr>
              <a:defRPr/>
            </a:pPr>
            <a:r>
              <a:rPr sz="1800">
                <a:solidFill>
                  <a:srgbClr val="2E1A2B"/>
                </a:solidFill>
                <a:latin typeface="Yu Gothic"/>
              </a:rPr>
              <a:t>• リバタリアン・パターナリズム: セイラー&amp;サンスティーン</a:t>
            </a:r>
          </a:p>
        </p:txBody>
      </p:sp>
      <p:sp>
        <p:nvSpPr>
          <p:cNvPr id="6" name="TextBox 5"/>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7" name="TextBox 6"/>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28 / 29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6F0"/>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C76B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pPr>
          </a:p>
        </p:txBody>
      </p:sp>
      <p:sp>
        <p:nvSpPr>
          <p:cNvPr id="3" name="TextBox 2"/>
          <p:cNvSpPr txBox="1"/>
          <p:nvPr/>
        </p:nvSpPr>
        <p:spPr>
          <a:xfrm>
            <a:off x="548640" y="1463040"/>
            <a:ext cx="10972800" cy="3566160"/>
          </a:xfrm>
          <a:prstGeom prst="rect">
            <a:avLst/>
          </a:prstGeom>
          <a:noFill/>
        </p:spPr>
        <p:txBody>
          <a:bodyPr wrap="square" lIns="45720" rIns="45720" tIns="27432" bIns="27432">
            <a:spAutoFit/>
          </a:bodyPr>
          <a:lstStyle/>
          <a:p>
            <a:pPr algn="l">
              <a:defRPr/>
            </a:pPr>
            <a:r>
              <a:rPr sz="1800" b="0">
                <a:solidFill>
                  <a:srgbClr val="2E1A2B"/>
                </a:solidFill>
                <a:latin typeface="Yu Gothic"/>
              </a:rPr>
              <a:t>*Generated by Scribe / 2026-04-09 / 出典は必ず一次資料を確認してください*</a:t>
            </a:r>
          </a:p>
        </p:txBody>
      </p:sp>
      <p:sp>
        <p:nvSpPr>
          <p:cNvPr id="4" name="TextBox 3"/>
          <p:cNvSpPr txBox="1"/>
          <p:nvPr/>
        </p:nvSpPr>
        <p:spPr>
          <a:xfrm>
            <a:off x="457200" y="6492240"/>
            <a:ext cx="9601200" cy="320040"/>
          </a:xfrm>
          <a:prstGeom prst="rect">
            <a:avLst/>
          </a:prstGeom>
          <a:noFill/>
        </p:spPr>
        <p:txBody>
          <a:bodyPr wrap="square" lIns="45720" rIns="45720" tIns="27432" bIns="27432">
            <a:spAutoFit/>
          </a:bodyPr>
          <a:lstStyle/>
          <a:p>
            <a:pPr algn="l">
              <a:defRPr/>
            </a:pPr>
            <a:r>
              <a:rPr sz="1000" b="0">
                <a:solidFill>
                  <a:srgbClr val="A08A9C"/>
                </a:solidFill>
                <a:latin typeface="Yu Gothic"/>
              </a:rPr>
              <a:t>藪医者の学び / 2026-04-09 / 行動経済学×メンタルヘルス</a:t>
            </a:r>
          </a:p>
        </p:txBody>
      </p:sp>
      <p:sp>
        <p:nvSpPr>
          <p:cNvPr id="5" name="TextBox 4"/>
          <p:cNvSpPr txBox="1"/>
          <p:nvPr/>
        </p:nvSpPr>
        <p:spPr>
          <a:xfrm>
            <a:off x="11247120" y="6492240"/>
            <a:ext cx="914400" cy="320040"/>
          </a:xfrm>
          <a:prstGeom prst="rect">
            <a:avLst/>
          </a:prstGeom>
          <a:noFill/>
        </p:spPr>
        <p:txBody>
          <a:bodyPr wrap="square" lIns="45720" rIns="45720" tIns="27432" bIns="27432">
            <a:spAutoFit/>
          </a:bodyPr>
          <a:lstStyle/>
          <a:p>
            <a:pPr algn="r">
              <a:defRPr/>
            </a:pPr>
            <a:r>
              <a:rPr sz="1000" b="0">
                <a:solidFill>
                  <a:srgbClr val="A08A9C"/>
                </a:solidFill>
                <a:latin typeface="Yu Gothic"/>
              </a:rPr>
              <a:t>29 / 29</a:t>
            </a:r>
          </a:p>
        </p:txBody>
      </p:sp>
      <p:pic>
        <p:nvPicPr>
          <p:cNvPr id="6" name="Picture 5" descr="image.png"/>
          <p:cNvPicPr>
            <a:picLocks noChangeAspect="1"/>
          </p:cNvPicPr>
          <p:nvPr/>
        </p:nvPicPr>
        <p:blipFill>
          <a:blip r:embed="rId2"/>
          <a:stretch>
            <a:fillRect/>
          </a:stretch>
        </p:blipFill>
        <p:spPr>
          <a:xfrm>
            <a:off x="10424160" y="5120640"/>
            <a:ext cx="1371600" cy="1371600"/>
          </a:xfrm>
          <a:prstGeom prst="rect">
            <a:avLst/>
          </a:prstGeom>
        </p:spPr>
      </p:pic>
      <p:sp>
        <p:nvSpPr>
          <p:cNvPr id="7" name="TextBox 6"/>
          <p:cNvSpPr txBox="1"/>
          <p:nvPr/>
        </p:nvSpPr>
        <p:spPr>
          <a:xfrm>
            <a:off x="10424160" y="4892040"/>
            <a:ext cx="1463040" cy="228600"/>
          </a:xfrm>
          <a:prstGeom prst="rect">
            <a:avLst/>
          </a:prstGeom>
          <a:noFill/>
        </p:spPr>
        <p:txBody>
          <a:bodyPr wrap="square" lIns="45720" rIns="45720" tIns="27432" bIns="27432">
            <a:spAutoFit/>
          </a:bodyPr>
          <a:lstStyle/>
          <a:p>
            <a:pPr algn="l">
              <a:defRPr/>
            </a:pPr>
            <a:r>
              <a:rPr sz="900" b="1">
                <a:solidFill>
                  <a:srgbClr val="2E1A2B"/>
                </a:solidFill>
                <a:latin typeface="Yu Gothic"/>
              </a:rPr>
              <a:t>出典 (主)</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