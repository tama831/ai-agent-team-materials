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5C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822960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800" b="1">
                <a:solidFill>
                  <a:srgbClr val="FAF3E8"/>
                </a:solidFill>
                <a:latin typeface="Calibri"/>
              </a:defRPr>
            </a:pPr>
            <a:r>
              <a:t>なぜ優秀な人でも</a:t>
            </a:r>
            <a:br/>
            <a:r>
              <a:t>判断を間違えるのか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0" y="1645920"/>
            <a:ext cx="3657600" cy="54864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8229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400" b="0">
                <a:solidFill>
                  <a:srgbClr val="D47B56"/>
                </a:solidFill>
                <a:latin typeface="Calibri"/>
              </a:defRPr>
            </a:pPr>
            <a:r>
              <a:t>ベテラン医師が「完全に確信がある」と言った診断の40%が間違いだった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8229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300" b="0">
                <a:solidFill>
                  <a:srgbClr val="9E8A7E"/>
                </a:solidFill>
                <a:latin typeface="Calibri"/>
              </a:defRPr>
            </a:pPr>
            <a:r>
              <a:t>— これは能力の問題ではありません。脳の仕組みの問題です —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017520"/>
            <a:ext cx="7315200" cy="1097280"/>
          </a:xfrm>
          <a:prstGeom prst="rect">
            <a:avLst/>
          </a:prstGeom>
          <a:solidFill>
            <a:srgbClr val="7A5C4F"/>
          </a:solidFill>
          <a:ln w="12700">
            <a:solidFill>
              <a:srgbClr val="D47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063240"/>
            <a:ext cx="694944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D47B56"/>
                </a:solidFill>
                <a:latin typeface="Calibri"/>
              </a:defRPr>
            </a:pPr>
            <a:r>
              <a:t>航空業界の教訓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383280"/>
            <a:ext cx="694944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FAF3E8"/>
                </a:solidFill>
                <a:latin typeface="Calibri"/>
              </a:defRPr>
            </a:pPr>
            <a:r>
              <a:t>パイロットのミスをヒューマンファクターとして再定義した結果、</a:t>
            </a:r>
            <a:br/>
            <a:r>
              <a:t>航空事故は劇的に減少。医療でも同じアプローチが使える。</a:t>
            </a:r>
            <a:br/>
            <a:r>
              <a:t>今日のテーマ: 注意しましょうではなく仕組みで防ごう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3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800" b="1">
                <a:solidFill>
                  <a:srgbClr val="3A3A3A"/>
                </a:solidFill>
                <a:latin typeface="Calibri"/>
              </a:defRPr>
            </a:pPr>
            <a:r>
              <a:t>この勉強会の後、あなたは以下ができるようになります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914400" cy="91440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39"/>
            <a:ext cx="9144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143000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3A3A3A"/>
                </a:solidFill>
                <a:latin typeface="Calibri"/>
              </a:defRPr>
            </a:pPr>
            <a:r>
              <a:t>説明できる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463040"/>
            <a:ext cx="68580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3A3A3A"/>
                </a:solidFill>
                <a:latin typeface="Calibri"/>
              </a:defRPr>
            </a:pPr>
            <a:r>
              <a:t>認知バイアスが「個人のミス」ではなく</a:t>
            </a:r>
            <a:br/>
            <a:r>
              <a:t>「脳の仕組み」であることを説明できる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914400" cy="91440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9144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331720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3A3A3A"/>
                </a:solidFill>
                <a:latin typeface="Calibri"/>
              </a:defRPr>
            </a:pPr>
            <a:r>
              <a:t>実践できる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651760"/>
            <a:ext cx="68580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3A3A3A"/>
                </a:solidFill>
                <a:latin typeface="Calibri"/>
              </a:defRPr>
            </a:pPr>
            <a:r>
              <a:t>日常業務で1つ、バイアスを防ぐ</a:t>
            </a:r>
            <a:br/>
            <a:r>
              <a:t>具体的な方法を実践できる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474720"/>
            <a:ext cx="914400" cy="91440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611879"/>
            <a:ext cx="9144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520439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3A3A3A"/>
                </a:solidFill>
                <a:latin typeface="Calibri"/>
              </a:defRPr>
            </a:pPr>
            <a:r>
              <a:t>評価できる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840480"/>
            <a:ext cx="68580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3A3A3A"/>
                </a:solidFill>
                <a:latin typeface="Calibri"/>
              </a:defRPr>
            </a:pPr>
            <a:r>
              <a:t>チームでの安全確認の仕組みが</a:t>
            </a:r>
            <a:br/>
            <a:r>
              <a:t>機能しているか振り返れる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5C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AF3E8"/>
                </a:solidFill>
                <a:latin typeface="Calibri"/>
              </a:defRPr>
            </a:pPr>
            <a:r>
              <a:t>速い脳と遅い脳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05840"/>
          <a:ext cx="859536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383280"/>
                <a:gridCol w="3383280"/>
              </a:tblGrid>
              <a:tr h="5029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AF3E8"/>
                          </a:solidFill>
                          <a:latin typeface="Calibri"/>
                        </a:defRPr>
                      </a:pPr>
                    </a:p>
                  </a:txBody>
                  <a:tcPr marL="45720" marR="45720" marT="18288" marB="18288">
                    <a:solidFill>
                      <a:srgbClr val="7A5C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AF3E8"/>
                          </a:solidFill>
                          <a:latin typeface="Calibri"/>
                        </a:defRPr>
                      </a:pPr>
                      <a:r>
                        <a:t>速い脳（System 1）</a:t>
                      </a:r>
                    </a:p>
                  </a:txBody>
                  <a:tcPr marL="45720" marR="45720" marT="18288" marB="18288">
                    <a:solidFill>
                      <a:srgbClr val="7A5C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AF3E8"/>
                          </a:solidFill>
                          <a:latin typeface="Calibri"/>
                        </a:defRPr>
                      </a:pPr>
                      <a:r>
                        <a:t>遅い脳（System 2）</a:t>
                      </a:r>
                    </a:p>
                  </a:txBody>
                  <a:tcPr marL="45720" marR="45720" marT="18288" marB="18288">
                    <a:solidFill>
                      <a:srgbClr val="7A5C4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スピード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一瞬で判断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じっくり考える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エネルギー</a:t>
                      </a:r>
                    </a:p>
                  </a:txBody>
                  <a:tcPr marL="45720" marR="45720" marT="18288" marB="18288">
                    <a:solidFill>
                      <a:srgbClr val="FAF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省エネ</a:t>
                      </a:r>
                    </a:p>
                  </a:txBody>
                  <a:tcPr marL="45720" marR="45720" marT="18288" marB="18288">
                    <a:solidFill>
                      <a:srgbClr val="FAF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エネルギー大量消費</a:t>
                      </a:r>
                    </a:p>
                  </a:txBody>
                  <a:tcPr marL="45720" marR="45720" marT="18288" marB="18288">
                    <a:solidFill>
                      <a:srgbClr val="FAF3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得意なこと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パターン認識、直感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論理的思考、計算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日常の例</a:t>
                      </a:r>
                    </a:p>
                  </a:txBody>
                  <a:tcPr marL="45720" marR="45720" marT="18288" marB="18288">
                    <a:solidFill>
                      <a:srgbClr val="FAF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「あ、この人怒ってる」</a:t>
                      </a:r>
                    </a:p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と表情で察する</a:t>
                      </a:r>
                    </a:p>
                  </a:txBody>
                  <a:tcPr marL="45720" marR="45720" marT="18288" marB="18288">
                    <a:solidFill>
                      <a:srgbClr val="FAF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「78×34は…」</a:t>
                      </a:r>
                    </a:p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と計算する</a:t>
                      </a:r>
                    </a:p>
                  </a:txBody>
                  <a:tcPr marL="45720" marR="45720" marT="18288" marB="18288">
                    <a:solidFill>
                      <a:srgbClr val="FAF3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仕事の例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「いつもと様子が違う」</a:t>
                      </a:r>
                    </a:p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と感じる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薬の量を</a:t>
                      </a:r>
                    </a:p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ダブルチェックする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4160520"/>
            <a:ext cx="54864" cy="64008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160520"/>
            <a:ext cx="8119872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A7BE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4233672"/>
            <a:ext cx="7863840" cy="493775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3A3A3A"/>
                </a:solidFill>
                <a:latin typeface="Georgia"/>
              </a:defRPr>
            </a:pPr>
            <a:r>
              <a:t>速い脳は優秀 — 仕事の大半はこれで回っている。</a:t>
            </a:r>
            <a:br/>
            <a:r>
              <a:t>でも時々間違える — それが認知バイアス。誰にでも起きる。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3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3A3A3A"/>
                </a:solidFill>
                <a:latin typeface="Calibri"/>
              </a:defRPr>
            </a:pPr>
            <a:r>
              <a:t>日常業務で起きるバイアス4つ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828800" cy="54864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822960"/>
            <a:ext cx="4114800" cy="1828800"/>
          </a:xfrm>
          <a:prstGeom prst="rect">
            <a:avLst/>
          </a:prstGeom>
          <a:solidFill>
            <a:srgbClr val="F5EEE5"/>
          </a:solidFill>
          <a:ln w="12700">
            <a:solidFill>
              <a:srgbClr val="D47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79" y="868680"/>
            <a:ext cx="22860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D47B56"/>
                </a:solidFill>
                <a:latin typeface="Calibri"/>
              </a:defRPr>
            </a:pPr>
            <a:r>
              <a:t>確認バイアス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896112"/>
            <a:ext cx="146304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9E8A7E"/>
                </a:solidFill>
                <a:latin typeface="Calibri"/>
              </a:defRPr>
            </a:pPr>
            <a:r>
              <a:t>「思い込みメガネ」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79" y="1280160"/>
            <a:ext cx="3840480" cy="12801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Calibri"/>
              </a:defRPr>
            </a:pPr>
            <a:r>
              <a:t>「この患者さんはいつも大げさ」</a:t>
            </a:r>
            <a:br/>
            <a:r>
              <a:t>→ 本当の痛みを聞き逃す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822960"/>
            <a:ext cx="4114800" cy="1828800"/>
          </a:xfrm>
          <a:prstGeom prst="rect">
            <a:avLst/>
          </a:prstGeom>
          <a:solidFill>
            <a:srgbClr val="F5EEE5"/>
          </a:solidFill>
          <a:ln w="12700">
            <a:solidFill>
              <a:srgbClr val="D47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00600" y="868680"/>
            <a:ext cx="22860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D47B56"/>
                </a:solidFill>
                <a:latin typeface="Calibri"/>
              </a:defRPr>
            </a:pPr>
            <a:r>
              <a:t>アンカリング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896112"/>
            <a:ext cx="146304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9E8A7E"/>
                </a:solidFill>
                <a:latin typeface="Calibri"/>
              </a:defRPr>
            </a:pPr>
            <a:r>
              <a:t>「最初の情報に引きずられる」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280160"/>
            <a:ext cx="3840480" cy="12801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Calibri"/>
              </a:defRPr>
            </a:pPr>
            <a:r>
              <a:t>申し送りで「発熱なし」</a:t>
            </a:r>
            <a:br/>
            <a:r>
              <a:t>→ 37.8℃出ても大したことないと判断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834640"/>
            <a:ext cx="4114800" cy="1828800"/>
          </a:xfrm>
          <a:prstGeom prst="rect">
            <a:avLst/>
          </a:prstGeom>
          <a:solidFill>
            <a:srgbClr val="F5EEE5"/>
          </a:solidFill>
          <a:ln w="12700">
            <a:solidFill>
              <a:srgbClr val="D47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79" y="2880360"/>
            <a:ext cx="22860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D47B56"/>
                </a:solidFill>
                <a:latin typeface="Calibri"/>
              </a:defRPr>
            </a:pPr>
            <a:r>
              <a:t>利用可能性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2907792"/>
            <a:ext cx="146304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9E8A7E"/>
                </a:solidFill>
                <a:latin typeface="Calibri"/>
              </a:defRPr>
            </a:pPr>
            <a:r>
              <a:t>「最近の記憶に引っぱられる」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" y="3291840"/>
            <a:ext cx="3840480" cy="12801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Calibri"/>
              </a:defRPr>
            </a:pPr>
            <a:r>
              <a:t>先週転倒事故があった</a:t>
            </a:r>
            <a:br/>
            <a:r>
              <a:t>→ 転倒ばかり気にして他のリスクを見落とす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63440" y="2834640"/>
            <a:ext cx="4114800" cy="1828800"/>
          </a:xfrm>
          <a:prstGeom prst="rect">
            <a:avLst/>
          </a:prstGeom>
          <a:solidFill>
            <a:srgbClr val="F5EEE5"/>
          </a:solidFill>
          <a:ln w="12700">
            <a:solidFill>
              <a:srgbClr val="D47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00600" y="2880360"/>
            <a:ext cx="22860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D47B56"/>
                </a:solidFill>
                <a:latin typeface="Calibri"/>
              </a:defRPr>
            </a:pPr>
            <a:r>
              <a:t>過信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2907792"/>
            <a:ext cx="146304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9E8A7E"/>
                </a:solidFill>
                <a:latin typeface="Calibri"/>
              </a:defRPr>
            </a:pPr>
            <a:r>
              <a:t>「わかったつもり」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600" y="3291840"/>
            <a:ext cx="3840480" cy="12801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Calibri"/>
              </a:defRPr>
            </a:pPr>
            <a:r>
              <a:t>「この薬は何度も扱ったから大丈夫」</a:t>
            </a:r>
            <a:br/>
            <a:r>
              <a:t>→ 確認省略でインシデント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5C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AF3E8"/>
                </a:solidFill>
                <a:latin typeface="Calibri"/>
              </a:defRPr>
            </a:pPr>
            <a:r>
              <a:t>4つのバイアスまとめ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05840"/>
          <a:ext cx="85953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286000"/>
                <a:gridCol w="4480560"/>
              </a:tblGrid>
              <a:tr h="5486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AF3E8"/>
                          </a:solidFill>
                          <a:latin typeface="Calibri"/>
                        </a:defRPr>
                      </a:pPr>
                      <a:r>
                        <a:t>バイアス</a:t>
                      </a:r>
                    </a:p>
                  </a:txBody>
                  <a:tcPr marL="45720" marR="45720" marT="18288" marB="18288">
                    <a:solidFill>
                      <a:srgbClr val="7A5C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AF3E8"/>
                          </a:solidFill>
                          <a:latin typeface="Calibri"/>
                        </a:defRPr>
                      </a:pPr>
                      <a:r>
                        <a:t>ひとことで言うと</a:t>
                      </a:r>
                    </a:p>
                  </a:txBody>
                  <a:tcPr marL="45720" marR="45720" marT="18288" marB="18288">
                    <a:solidFill>
                      <a:srgbClr val="7A5C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AF3E8"/>
                          </a:solidFill>
                          <a:latin typeface="Calibri"/>
                        </a:defRPr>
                      </a:pPr>
                      <a:r>
                        <a:t>仕事で起きやすい場面</a:t>
                      </a:r>
                    </a:p>
                  </a:txBody>
                  <a:tcPr marL="45720" marR="45720" marT="18288" marB="18288">
                    <a:solidFill>
                      <a:srgbClr val="7A5C4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確認バイアス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思い込みメガネ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申し送りの先入観、</a:t>
                      </a:r>
                    </a:p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いつもの患者さん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アンカリング</a:t>
                      </a:r>
                    </a:p>
                  </a:txBody>
                  <a:tcPr marL="45720" marR="45720" marT="18288" marB="18288">
                    <a:solidFill>
                      <a:srgbClr val="FAF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最初に引きずられる</a:t>
                      </a:r>
                    </a:p>
                  </a:txBody>
                  <a:tcPr marL="45720" marR="45720" marT="18288" marB="18288">
                    <a:solidFill>
                      <a:srgbClr val="FAF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前の勤務帯からの情報、</a:t>
                      </a:r>
                    </a:p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紹介状の診断名</a:t>
                      </a:r>
                    </a:p>
                  </a:txBody>
                  <a:tcPr marL="45720" marR="45720" marT="18288" marB="18288">
                    <a:solidFill>
                      <a:srgbClr val="FAF3E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利用可能性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最近に引っぱられる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インシデント直後の過剰反応、</a:t>
                      </a:r>
                    </a:p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流行疾患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過信</a:t>
                      </a:r>
                    </a:p>
                  </a:txBody>
                  <a:tcPr marL="45720" marR="45720" marT="18288" marB="18288">
                    <a:solidFill>
                      <a:srgbClr val="FAF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わかったつもり</a:t>
                      </a:r>
                    </a:p>
                  </a:txBody>
                  <a:tcPr marL="45720" marR="45720" marT="18288" marB="18288">
                    <a:solidFill>
                      <a:srgbClr val="FAF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ルーティン業務の確認省略、</a:t>
                      </a:r>
                    </a:p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ダブルチェック省略</a:t>
                      </a:r>
                    </a:p>
                  </a:txBody>
                  <a:tcPr marL="45720" marR="45720" marT="18288" marB="18288">
                    <a:solidFill>
                      <a:srgbClr val="FAF3E8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657600"/>
            <a:ext cx="8229600" cy="64008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703320"/>
            <a:ext cx="77724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共通点: どれも速い脳の省エネモードが原因</a:t>
            </a:r>
            <a:br/>
            <a:r>
              <a:t>対策の基本: 意識的に遅い脳のスイッチを入れるタイミングを作る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3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000" b="1">
                <a:solidFill>
                  <a:srgbClr val="3A3A3A"/>
                </a:solidFill>
                <a:latin typeface="Calibri"/>
              </a:defRPr>
            </a:pPr>
            <a:r>
              <a:t>チームでバイアスを防ぐ — 5つの問い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828800" cy="54864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777240"/>
            <a:ext cx="548640" cy="59436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54864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777240"/>
            <a:ext cx="3200400" cy="594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1">
                <a:solidFill>
                  <a:srgbClr val="3A3A3A"/>
                </a:solidFill>
                <a:latin typeface="Calibri"/>
              </a:defRPr>
            </a:pPr>
            <a:r>
              <a:t>「他に何かない？」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777240"/>
            <a:ext cx="18288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900" b="1">
                <a:solidFill>
                  <a:srgbClr val="D47B56"/>
                </a:solidFill>
                <a:latin typeface="Calibri"/>
              </a:defRPr>
            </a:pPr>
            <a:r>
              <a:t>確認バイアス対策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051560"/>
            <a:ext cx="43891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3A3A3A"/>
                </a:solidFill>
                <a:latin typeface="Calibri"/>
              </a:defRPr>
            </a:pPr>
            <a:r>
              <a:t>最初の判断以外の可能性を1つ考える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554480"/>
            <a:ext cx="548640" cy="59436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1645920"/>
            <a:ext cx="54864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554480"/>
            <a:ext cx="3200400" cy="594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1">
                <a:solidFill>
                  <a:srgbClr val="3A3A3A"/>
                </a:solidFill>
                <a:latin typeface="Calibri"/>
              </a:defRPr>
            </a:pPr>
            <a:r>
              <a:t>「最初の印象に</a:t>
            </a:r>
            <a:br/>
            <a:r>
              <a:t>引きずられてない？」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1554480"/>
            <a:ext cx="18288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900" b="1">
                <a:solidFill>
                  <a:srgbClr val="D47B56"/>
                </a:solidFill>
                <a:latin typeface="Calibri"/>
              </a:defRPr>
            </a:pPr>
            <a:r>
              <a:t>アンカリング対策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1828800"/>
            <a:ext cx="43891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3A3A3A"/>
                </a:solidFill>
                <a:latin typeface="Calibri"/>
              </a:defRPr>
            </a:pPr>
            <a:r>
              <a:t>前の情報をリセットして見直す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331720"/>
            <a:ext cx="548640" cy="59436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2423160"/>
            <a:ext cx="54864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331720"/>
            <a:ext cx="3200400" cy="594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1">
                <a:solidFill>
                  <a:srgbClr val="3A3A3A"/>
                </a:solidFill>
                <a:latin typeface="Calibri"/>
              </a:defRPr>
            </a:pPr>
            <a:r>
              <a:t>「最近の経験に</a:t>
            </a:r>
            <a:br/>
            <a:r>
              <a:t>影響されてない？」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2331720"/>
            <a:ext cx="18288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900" b="1">
                <a:solidFill>
                  <a:srgbClr val="D47B56"/>
                </a:solidFill>
                <a:latin typeface="Calibri"/>
              </a:defRPr>
            </a:pPr>
            <a:r>
              <a:t>利用可能性対策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606039"/>
            <a:ext cx="43891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3A3A3A"/>
                </a:solidFill>
                <a:latin typeface="Calibri"/>
              </a:defRPr>
            </a:pPr>
            <a:r>
              <a:t>先週の出来事と今回は別物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108960"/>
            <a:ext cx="548640" cy="59436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3200400"/>
            <a:ext cx="54864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108960"/>
            <a:ext cx="3200400" cy="594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1">
                <a:solidFill>
                  <a:srgbClr val="3A3A3A"/>
                </a:solidFill>
                <a:latin typeface="Calibri"/>
              </a:defRPr>
            </a:pPr>
            <a:r>
              <a:t>「どれくらい確信がある？</a:t>
            </a:r>
            <a:br/>
            <a:r>
              <a:t>根拠は？」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3108960"/>
            <a:ext cx="18288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900" b="1">
                <a:solidFill>
                  <a:srgbClr val="D47B56"/>
                </a:solidFill>
                <a:latin typeface="Calibri"/>
              </a:defRPr>
            </a:pPr>
            <a:r>
              <a:t>過信対策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3383279"/>
            <a:ext cx="43891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3A3A3A"/>
                </a:solidFill>
                <a:latin typeface="Calibri"/>
              </a:defRPr>
            </a:pPr>
            <a:r>
              <a:t>なんとなく大丈夫を言語化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886200"/>
            <a:ext cx="548640" cy="59436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320" y="3977639"/>
            <a:ext cx="54864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3886200"/>
            <a:ext cx="3200400" cy="594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1">
                <a:solidFill>
                  <a:srgbClr val="3A3A3A"/>
                </a:solidFill>
                <a:latin typeface="Calibri"/>
              </a:defRPr>
            </a:pPr>
            <a:r>
              <a:t>「もし間違っていたら、</a:t>
            </a:r>
            <a:br/>
            <a:r>
              <a:t>一番ありそうな理由は？」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3886200"/>
            <a:ext cx="18288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900" b="1">
                <a:solidFill>
                  <a:srgbClr val="D47B56"/>
                </a:solidFill>
                <a:latin typeface="Calibri"/>
              </a:defRPr>
            </a:pPr>
            <a:r>
              <a:t>総合チェック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4160520"/>
            <a:ext cx="43891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3A3A3A"/>
                </a:solidFill>
                <a:latin typeface="Calibri"/>
              </a:defRPr>
            </a:pPr>
            <a:r>
              <a:t>最悪のケースを先に想像する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5C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AF3E8"/>
                </a:solidFill>
                <a:latin typeface="Calibri"/>
              </a:defRPr>
            </a:pPr>
            <a:r>
              <a:t>ダブルチェックの本当の意味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1097280"/>
            <a:ext cx="54864" cy="73152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4128" y="1097280"/>
            <a:ext cx="720547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A7BE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170432"/>
            <a:ext cx="6949440" cy="58521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0">
                <a:solidFill>
                  <a:srgbClr val="3A3A3A"/>
                </a:solidFill>
                <a:latin typeface="Georgia"/>
              </a:defRPr>
            </a:pPr>
            <a:r>
              <a:t>ダブルチェックは「2回確認すること」ではありません。</a:t>
            </a:r>
            <a:br/>
            <a:r>
              <a:t>「別の視点で確認すること」です。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03120"/>
            <a:ext cx="3931920" cy="1371600"/>
          </a:xfrm>
          <a:prstGeom prst="rect">
            <a:avLst/>
          </a:prstGeom>
          <a:solidFill>
            <a:srgbClr val="7A5C4F"/>
          </a:solidFill>
          <a:ln w="12700">
            <a:solidFill>
              <a:srgbClr val="D47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48840"/>
            <a:ext cx="3657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D47B56"/>
                </a:solidFill>
                <a:latin typeface="Calibri"/>
              </a:defRPr>
            </a:pPr>
            <a:r>
              <a:t>形骸化しやすいパターン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68880"/>
            <a:ext cx="365760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FAF3E8"/>
                </a:solidFill>
                <a:latin typeface="Calibri"/>
              </a:defRPr>
            </a:pPr>
            <a:r>
              <a:t>× 同じ人が2回見る</a:t>
            </a:r>
            <a:br/>
            <a:r>
              <a:t>  → 同じバイアスが2回働くだけ</a:t>
            </a:r>
            <a:br/>
            <a:r>
              <a:t>× 確認しましたにサインするだけ</a:t>
            </a:r>
            <a:br/>
            <a:r>
              <a:t>  → チェックリスト疲れ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2103120"/>
            <a:ext cx="3931920" cy="1371600"/>
          </a:xfrm>
          <a:prstGeom prst="rect">
            <a:avLst/>
          </a:prstGeom>
          <a:solidFill>
            <a:srgbClr val="A7B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0" y="2148840"/>
            <a:ext cx="3657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3A3A3A"/>
                </a:solidFill>
                <a:latin typeface="Calibri"/>
              </a:defRPr>
            </a:pPr>
            <a:r>
              <a:t>効果的なダブルチェック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2468880"/>
            <a:ext cx="365760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Calibri"/>
              </a:defRPr>
            </a:pPr>
            <a:r>
              <a:t>○ 別の人が独立して確認する</a:t>
            </a:r>
            <a:br/>
            <a:r>
              <a:t>○ 何を確認するかを明確にする</a:t>
            </a:r>
            <a:br/>
            <a:r>
              <a:t>○ おかしいと思ったら声を出す</a:t>
            </a:r>
            <a:br/>
            <a:r>
              <a:t>○ Devil's Advocate（反論する役）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4048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0">
                <a:solidFill>
                  <a:srgbClr val="9E8A7E"/>
                </a:solidFill>
                <a:latin typeface="Calibri"/>
              </a:defRPr>
            </a:pPr>
            <a:r>
              <a:t>Devil's Advocateは批判ではなく安全の仕組み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3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3A3A3A"/>
                </a:solidFill>
                <a:latin typeface="Calibri"/>
              </a:defRPr>
            </a:pPr>
            <a:r>
              <a:t>「自分もバイアスを持つ」= 強さ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54864" cy="73152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1005840"/>
            <a:ext cx="766267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A7BE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078992"/>
            <a:ext cx="7406640" cy="58521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3A3A3A"/>
                </a:solidFill>
                <a:latin typeface="Georgia"/>
              </a:defRPr>
            </a:pPr>
            <a:r>
              <a:t>バイアスがあることは恥ずかしいことではありません。</a:t>
            </a:r>
            <a:br/>
            <a:r>
              <a:t>バイアスに気づける力こそが、プロフェッショナルの証です。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11680"/>
            <a:ext cx="3931920" cy="1828800"/>
          </a:xfrm>
          <a:prstGeom prst="rect">
            <a:avLst/>
          </a:prstGeom>
          <a:solidFill>
            <a:srgbClr val="F5EEE5"/>
          </a:solidFill>
          <a:ln w="12700">
            <a:solidFill>
              <a:srgbClr val="D47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57400"/>
            <a:ext cx="3657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D47B56"/>
                </a:solidFill>
                <a:latin typeface="Calibri"/>
              </a:defRPr>
            </a:pPr>
            <a:r>
              <a:t>メタ認知とは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3657600" cy="1371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Calibri"/>
              </a:defRPr>
            </a:pPr>
            <a:r>
              <a:t>自分の考え方について考えること</a:t>
            </a:r>
            <a:br/>
            <a:r>
              <a:t>バイアスを認められる人 = </a:t>
            </a:r>
            <a:br/>
            <a:r>
              <a:t>メタ認知能力が高い人</a:t>
            </a:r>
            <a:br/>
            <a:r>
              <a:t>思い込みで判断してたかもと</a:t>
            </a:r>
            <a:br/>
            <a:r>
              <a:t>言えるチーム = 心理的安全性が高い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2011680"/>
            <a:ext cx="3931920" cy="1828800"/>
          </a:xfrm>
          <a:prstGeom prst="rect">
            <a:avLst/>
          </a:prstGeom>
          <a:solidFill>
            <a:srgbClr val="F5EEE5"/>
          </a:solidFill>
          <a:ln w="12700">
            <a:solidFill>
              <a:srgbClr val="D47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0" y="2057400"/>
            <a:ext cx="3657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D47B56"/>
                </a:solidFill>
                <a:latin typeface="Calibri"/>
              </a:defRPr>
            </a:pPr>
            <a:r>
              <a:t>航空業界の文化転換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2377440"/>
            <a:ext cx="3657600" cy="1371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Calibri"/>
              </a:defRPr>
            </a:pPr>
            <a:r>
              <a:t>昔:「機長に逆らうな」→ 多くの事故</a:t>
            </a:r>
            <a:br/>
            <a:r>
              <a:t>今:「おかしいと思ったら声を上げる」</a:t>
            </a:r>
            <a:br/>
            <a:r>
              <a:t>→ 事故激減</a:t>
            </a:r>
            <a:br/>
            <a:r>
              <a:t>CRM（Crew Resource Management）</a:t>
            </a:r>
            <a:br/>
            <a:r>
              <a:t>= チーム全体で安全を守る仕組み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5C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000" b="1">
                <a:solidFill>
                  <a:srgbClr val="FAF3E8"/>
                </a:solidFill>
                <a:latin typeface="Calibri"/>
              </a:defRPr>
            </a:pPr>
            <a:r>
              <a:t>グループワーク — うちのチームでできること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D47B56"/>
                </a:solidFill>
                <a:latin typeface="Calibri"/>
              </a:defRPr>
            </a:pPr>
            <a:r>
              <a:t>ワーク（5分）: 3-4人グループで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54864" cy="73152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1248" y="1371600"/>
            <a:ext cx="766267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A7BE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444752"/>
            <a:ext cx="7406640" cy="58521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3A3A3A"/>
                </a:solidFill>
                <a:latin typeface="Georgia"/>
              </a:defRPr>
            </a:pPr>
            <a:r>
              <a:t>あなたの職場で、認知バイアスが原因でヒヤリとした経験はありますか？</a:t>
            </a:r>
            <a:br/>
            <a:r>
              <a:t>そのとき、どんな仕組みがあれば防げたと思いますか？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7744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D47B56"/>
                </a:solidFill>
                <a:latin typeface="Calibri"/>
              </a:defRPr>
            </a:pPr>
            <a:r>
              <a:t>進め方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51760"/>
            <a:ext cx="77724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FAF3E8"/>
                </a:solidFill>
                <a:latin typeface="Calibri"/>
              </a:defRPr>
            </a:pPr>
            <a:r>
              <a:t>  1. 付箋に1人1つ書いて、グループ内で共有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17520"/>
            <a:ext cx="77724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FAF3E8"/>
                </a:solidFill>
                <a:latin typeface="Calibri"/>
              </a:defRPr>
            </a:pPr>
            <a:r>
              <a:t>  2. グループで「明日から試せそうなこと」を1つ選ぶ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383280"/>
            <a:ext cx="77724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FAF3E8"/>
                </a:solidFill>
                <a:latin typeface="Calibri"/>
              </a:defRPr>
            </a:pPr>
            <a:r>
              <a:t>  3. 各グループから1つずつ発表（共有 3分）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749039"/>
            <a:ext cx="8229600" cy="640080"/>
          </a:xfrm>
          <a:prstGeom prst="rect">
            <a:avLst/>
          </a:prstGeom>
          <a:solidFill>
            <a:srgbClr val="7A5C4F"/>
          </a:solidFill>
          <a:ln w="12700">
            <a:solidFill>
              <a:srgbClr val="D47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794760"/>
            <a:ext cx="77724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FAF3E8"/>
                </a:solidFill>
                <a:latin typeface="Calibri"/>
              </a:defRPr>
            </a:pPr>
            <a:r>
              <a:t>ファシリテーターポイント: 誰が悪いではなくどんな仕組みが必要かに焦点。</a:t>
            </a:r>
            <a:br/>
            <a:r>
              <a:t>小さなことでOK（申し送りの最後に「他にない？」を追加する等）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3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3A3A3A"/>
                </a:solidFill>
                <a:latin typeface="Calibri"/>
              </a:defRPr>
            </a:pPr>
            <a:r>
              <a:t>明日からのアクション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914400"/>
          <a:ext cx="85953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6766560"/>
              </a:tblGrid>
              <a:tr h="4572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AF3E8"/>
                          </a:solidFill>
                          <a:latin typeface="Calibri"/>
                        </a:defRPr>
                      </a:pPr>
                      <a:r>
                        <a:t>職種</a:t>
                      </a:r>
                    </a:p>
                  </a:txBody>
                  <a:tcPr marL="45720" marR="45720" marT="18288" marB="18288">
                    <a:solidFill>
                      <a:srgbClr val="7A5C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AF3E8"/>
                          </a:solidFill>
                          <a:latin typeface="Calibri"/>
                        </a:defRPr>
                      </a:pPr>
                      <a:r>
                        <a:t>明日からできること</a:t>
                      </a:r>
                    </a:p>
                  </a:txBody>
                  <a:tcPr marL="45720" marR="45720" marT="18288" marB="18288">
                    <a:solidFill>
                      <a:srgbClr val="7A5C4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看護師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申し送りの最後に「他に気になることは？」を追加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薬剤師</a:t>
                      </a:r>
                    </a:p>
                  </a:txBody>
                  <a:tcPr marL="45720" marR="45720" marT="18288" marB="18288">
                    <a:solidFill>
                      <a:srgbClr val="FAF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いつもの薬でもラベルを読む3秒ルール</a:t>
                      </a:r>
                    </a:p>
                  </a:txBody>
                  <a:tcPr marL="45720" marR="45720" marT="18288" marB="18288">
                    <a:solidFill>
                      <a:srgbClr val="FAF3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リハビリ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前回と同じメニューを選ぶ前に状態を再評価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事務</a:t>
                      </a:r>
                    </a:p>
                  </a:txBody>
                  <a:tcPr marL="45720" marR="45720" marT="18288" marB="18288">
                    <a:solidFill>
                      <a:srgbClr val="FAF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いつもの手続きでも変更点がないか確認</a:t>
                      </a:r>
                    </a:p>
                  </a:txBody>
                  <a:tcPr marL="45720" marR="45720" marT="18288" marB="18288">
                    <a:solidFill>
                      <a:srgbClr val="FAF3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介護職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いつもと違うを感じたら、まず声に出す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1371600" y="3657600"/>
            <a:ext cx="54864" cy="64008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481328" y="3657600"/>
            <a:ext cx="6291072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A7BE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00200" y="3730752"/>
            <a:ext cx="6035040" cy="493775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3A3A3A"/>
                </a:solidFill>
                <a:latin typeface="Georgia"/>
              </a:defRPr>
            </a:pPr>
            <a:r>
              <a:t>バイアスは脳の仕組み。だから気をつけるだけでは防げない。</a:t>
            </a:r>
            <a:br/>
            <a:r>
              <a:t>仕組みで防ぐ。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