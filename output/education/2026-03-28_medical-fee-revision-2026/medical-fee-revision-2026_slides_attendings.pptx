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400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2026年度 診療報酬改定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8A95BA"/>
                </a:solidFill>
                <a:latin typeface="Calibri"/>
              </a:defRPr>
            </a:pPr>
            <a:r>
              <a:rPr/>
              <a:t>管理者・指導医のための完全ガイド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645920"/>
            <a:ext cx="3657600" cy="1828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3657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5200" b="1">
                <a:solidFill>
                  <a:srgbClr val="1E2761"/>
                </a:solidFill>
                <a:latin typeface="Calibri"/>
              </a:defRPr>
            </a:pPr>
            <a:r>
              <a:rPr/>
              <a:t>+3.09%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3657600" cy="3017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本体改定率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971800"/>
            <a:ext cx="3657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30年ぶりの大幅引き上げ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749808" y="2011680"/>
            <a:ext cx="40050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2084832"/>
            <a:ext cx="3749039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rPr/>
              <a:t>賃上げ・DX・かかりつけ・急性期再編</a:t>
            </a:r>
            <a:br/>
            <a:r>
              <a:rPr/>
              <a:t>— 4つの柱を読み解く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5BA"/>
                </a:solidFill>
                <a:latin typeface="Calibri"/>
              </a:defRPr>
            </a:pPr>
            <a:r>
              <a:rPr/>
              <a:t>Scribe Agent | 2026-03-28 | ガニェの9教授事象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本日の学習目標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828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rPr/>
              <a:t>分析できる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5486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Calibri"/>
              </a:defRPr>
            </a:pPr>
            <a:r>
              <a:rPr/>
              <a:t>改定の構造的背景と4つの柱の相互関係を説明できる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240279"/>
            <a:ext cx="1828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rPr/>
              <a:t>評価できる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86000"/>
            <a:ext cx="5486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Calibri"/>
              </a:defRPr>
            </a:pPr>
            <a:r>
              <a:rPr/>
              <a:t>自院への影響を定量的に判断できる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39"/>
            <a:ext cx="7680960" cy="8229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1828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Calibri"/>
              </a:defRPr>
            </a:pPr>
            <a:r>
              <a:rPr/>
              <a:t>創造できる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383279"/>
            <a:ext cx="54864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Calibri"/>
              </a:defRPr>
            </a:pPr>
            <a:r>
              <a:rPr/>
              <a:t>施設基準取得・維持の戦略ロードマップを立案できる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0">
                <a:solidFill>
                  <a:srgbClr val="8A95BA"/>
                </a:solidFill>
                <a:latin typeface="Calibri"/>
              </a:defRPr>
            </a:pPr>
            <a:r>
              <a:rPr/>
              <a:t>ブルームの分類法: 分析→評価→創造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改定の歴史的位置づけ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5BA"/>
                </a:solidFill>
                <a:latin typeface="Calibri"/>
              </a:defRPr>
            </a:pPr>
            <a:r>
              <a:rPr/>
              <a:t>30年ぶりの大幅プラス改定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8288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8A95BA"/>
                </a:solidFill>
                <a:latin typeface="Calibri"/>
              </a:defRPr>
            </a:pPr>
            <a:r>
              <a:rPr/>
              <a:t>2024年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25880"/>
            <a:ext cx="1828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8A95BA"/>
                </a:solidFill>
                <a:latin typeface="Calibri"/>
              </a:defRPr>
            </a:pPr>
            <a:r>
              <a:rPr/>
              <a:t>+0.88%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19"/>
            <a:ext cx="27432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本体+0.46%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8288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2026年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40279"/>
            <a:ext cx="1828800" cy="5181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Calibri"/>
              </a:defRPr>
            </a:pPr>
            <a:r>
              <a:rPr/>
              <a:t>+3.09%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27432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30年ぶり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4572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18288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8A95BA"/>
                </a:solidFill>
                <a:latin typeface="Calibri"/>
              </a:defRPr>
            </a:pPr>
            <a:r>
              <a:rPr/>
              <a:t>1994年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54679"/>
            <a:ext cx="18288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8A95BA"/>
                </a:solidFill>
                <a:latin typeface="Calibri"/>
              </a:defRPr>
            </a:pPr>
            <a:r>
              <a:rPr/>
              <a:t>+3.4%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46120"/>
            <a:ext cx="27432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過去最大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ectangle 17"/>
          <p:cNvSpPr/>
          <p:nvPr/>
        </p:nvSpPr>
        <p:spPr>
          <a:xfrm>
            <a:off x="749808" y="420624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rPr/>
              <a:t>なぜ今、30年ぶりの引き上げが必要になったのか？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改定率の内訳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029200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22860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賃上げ対応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43000"/>
            <a:ext cx="1371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+1.70%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4300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約7,700億円（55%）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3200400" cy="685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011679"/>
            <a:ext cx="22860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物価高騰対応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79"/>
            <a:ext cx="1371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+0.76%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7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約3,400億円（25%）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39"/>
            <a:ext cx="1371600" cy="685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59"/>
            <a:ext cx="22860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食費・光熱水費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59"/>
            <a:ext cx="1371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+0.09%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5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約400億円（3%）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2286000" cy="685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22860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経営難緊急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49039"/>
            <a:ext cx="1371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+0.44%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約2,000億円（14%）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ctangle 20"/>
          <p:cNvSpPr/>
          <p:nvPr/>
        </p:nvSpPr>
        <p:spPr>
          <a:xfrm>
            <a:off x="749808" y="4572000"/>
            <a:ext cx="81198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68680" y="4645152"/>
            <a:ext cx="786384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Georgia"/>
              </a:defRPr>
            </a:pPr>
            <a:r>
              <a:rPr/>
              <a:t>改定の半分以上（55%）が「賃上げ」— これは政策的メッセージ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改定の4本柱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965960" cy="2926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965960" cy="5303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783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賃上げ・物価対応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0">
                <a:solidFill>
                  <a:srgbClr val="1E2761"/>
                </a:solidFill>
                <a:latin typeface="Calibri"/>
              </a:defRPr>
            </a:pPr>
            <a:r>
              <a:rPr/>
              <a:t>ベースアップ評価料拡充</a:t>
            </a:r>
            <a:br/>
            <a:r>
              <a:rPr/>
              <a:t>物価対応料新設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914400"/>
            <a:ext cx="196596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606040" y="1005840"/>
            <a:ext cx="1965960" cy="5303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0F4FC"/>
                </a:solidFill>
                <a:latin typeface="Calibri"/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54480"/>
            <a:ext cx="1783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rPr/>
              <a:t>医療DX推進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774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0">
                <a:solidFill>
                  <a:srgbClr val="8A95BA"/>
                </a:solidFill>
                <a:latin typeface="Calibri"/>
              </a:defRPr>
            </a:pPr>
            <a:r>
              <a:rPr/>
              <a:t>旧加算廃止→</a:t>
            </a:r>
            <a:br/>
            <a:r>
              <a:rPr/>
              <a:t>電子的診療情報連携に統合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914400"/>
            <a:ext cx="196596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754880" y="1005840"/>
            <a:ext cx="1965960" cy="5303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0F4FC"/>
                </a:solidFill>
                <a:latin typeface="Calibri"/>
              </a:defRPr>
            </a:pPr>
            <a:r>
              <a:rPr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783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rPr/>
              <a:t>かかりつけ医</a:t>
            </a:r>
            <a:br/>
            <a:r>
              <a:rPr/>
              <a:t>機能強化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0">
                <a:solidFill>
                  <a:srgbClr val="8A95BA"/>
                </a:solidFill>
                <a:latin typeface="Calibri"/>
              </a:defRPr>
            </a:pPr>
            <a:r>
              <a:rPr/>
              <a:t>地域包括診療加算再編</a:t>
            </a:r>
            <a:br/>
            <a:r>
              <a:rPr/>
              <a:t>生活習慣病管理料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914400"/>
            <a:ext cx="196596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903720" y="1005840"/>
            <a:ext cx="1965960" cy="53035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F0F4FC"/>
                </a:solidFill>
                <a:latin typeface="Calibri"/>
              </a:defRPr>
            </a:pPr>
            <a:r>
              <a:rPr/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554480"/>
            <a:ext cx="17830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F0F4FC"/>
                </a:solidFill>
                <a:latin typeface="Calibri"/>
              </a:defRPr>
            </a:pPr>
            <a:r>
              <a:rPr/>
              <a:t>急性期再編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17830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900" b="0">
                <a:solidFill>
                  <a:srgbClr val="8A95BA"/>
                </a:solidFill>
                <a:latin typeface="Calibri"/>
              </a:defRPr>
            </a:pPr>
            <a:r>
              <a:rPr/>
              <a:t>地域包括医療病棟6区分化</a:t>
            </a:r>
            <a:br/>
            <a:r>
              <a:rPr/>
              <a:t>救急体制加算化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外来改定のポイント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5BA"/>
                </a:solidFill>
                <a:latin typeface="Calibri"/>
              </a:defRPr>
            </a:pPr>
            <a:r>
              <a:rPr/>
              <a:t>6つの主要変更を押さえる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再診料の引き上げ（75→76点）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機能強化加算 + BCP義務化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地域包括診療加算の再編（2区分化）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生活習慣病管理料の変更（多科連携）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ベースアップ評価料の拡充（6→17点）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物価対応料の新設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再診料・基本診療料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97280"/>
            <a:ext cx="182880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8A95BA"/>
                </a:solidFill>
                <a:latin typeface="Calibri"/>
              </a:defRPr>
            </a:pPr>
            <a:r>
              <a:rPr/>
              <a:t>75点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20240"/>
            <a:ext cx="18288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63040"/>
            <a:ext cx="457200" cy="624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000" b="1">
                <a:solidFill>
                  <a:srgbClr val="00C9A7"/>
                </a:solidFill>
                <a:latin typeface="Calibri"/>
              </a:defRPr>
            </a:pPr>
            <a:r>
              <a:rPr/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97280"/>
            <a:ext cx="182880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  <a:latin typeface="Calibri"/>
              </a:defRPr>
            </a:pPr>
            <a:r>
              <a:rPr/>
              <a:t>76点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182880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749808" y="29260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1日100人の外来で年間約36万円増</a:t>
            </a:r>
            <a:br/>
            <a:r>
              <a:rPr/>
              <a:t>初診料（288点）・外来管理加算（52点）は変更なし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機能強化加算とBCP義務化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393192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9319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rPr/>
              <a:t>80点（維持）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39319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0">
                <a:solidFill>
                  <a:srgbClr val="1E2761"/>
                </a:solidFill>
                <a:latin typeface="Calibri"/>
              </a:defRPr>
            </a:pPr>
            <a:r>
              <a:rPr/>
              <a:t>ただし施設基準に</a:t>
            </a:r>
            <a:br/>
            <a:r>
              <a:rPr/>
              <a:t>BCP策定が追加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914400"/>
            <a:ext cx="384048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029200" y="1005840"/>
            <a:ext cx="38404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Calibri"/>
              </a:defRPr>
            </a:pPr>
            <a:r>
              <a:rPr/>
              <a:t>2027年5月31日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38404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0F4FC"/>
                </a:solidFill>
                <a:latin typeface="Calibri"/>
              </a:defRPr>
            </a:pPr>
            <a:r>
              <a:rPr/>
              <a:t>経過措置期限</a:t>
            </a:r>
            <a:br/>
            <a:r>
              <a:rPr/>
              <a:t>未策定 = 算定不可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Rectangle 10"/>
          <p:cNvSpPr/>
          <p:nvPr/>
        </p:nvSpPr>
        <p:spPr>
          <a:xfrm>
            <a:off x="749808" y="27432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BCP = Business Continuity Plan（事業継続計画）</a:t>
            </a:r>
            <a:br/>
            <a:r>
              <a:rPr/>
              <a:t>自然災害 + サイバーセキュリティの2本立て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地域包括診療加算の再編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認知症地域包括診療加算を統合 → 2区分に再編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7863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5120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区分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点数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主な要件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加算1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28点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認知症対応力向上研修修了 + 従来要件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加算2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20点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従来の地域包括診療加算要件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27432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749808" y="27432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研修修了者の確保が加算1の鍵</a:t>
            </a:r>
            <a:br/>
            <a:r>
              <a:rPr/>
              <a:t>加算1-2の差額: 8点/回 → 年間約28万円差（100人/日）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生活習慣病管理料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基本構造は維持（Ⅰ: 610/740/780点、Ⅱ: 333点）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新設: 眼科連携加算・歯科連携加算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療養計画書のICT活用要件緩和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49808" y="292608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299923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多職種・他科連携の体制整備が収益に直結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ベースアップ評価料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2743200" cy="8737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400" b="1">
                <a:solidFill>
                  <a:srgbClr val="8A95BA"/>
                </a:solidFill>
                <a:latin typeface="Calibri"/>
              </a:defRPr>
            </a:pPr>
            <a:r>
              <a:rPr/>
              <a:t>6点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旧: 医療従事者のみ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5486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00C9A7"/>
                </a:solidFill>
                <a:latin typeface="Calibri"/>
              </a:defRPr>
            </a:pPr>
            <a:r>
              <a:rPr/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914400"/>
            <a:ext cx="4114800" cy="1828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4114800" cy="87375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  <a:latin typeface="Calibri"/>
              </a:defRPr>
            </a:pPr>
            <a:r>
              <a:rPr/>
              <a:t>17点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新: 事務職員含む全職員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749808" y="320040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327355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外来100人/日で年間約600万円増</a:t>
            </a:r>
            <a:br/>
            <a:r>
              <a:rPr/>
              <a:t>注意: 実際に賃上げに充てる必要あり（報告義務）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物価対応料（新設）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320040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2026年6月〜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rPr/>
              <a:t>初診 2点 / 再診 2点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384048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2027年度〜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1">
                <a:solidFill>
                  <a:srgbClr val="F0F4FC"/>
                </a:solidFill>
                <a:latin typeface="Calibri"/>
              </a:defRPr>
            </a:pPr>
            <a:r>
              <a:rPr/>
              <a:t>初診 4点 / 再診 4点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84048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倍増予定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749808" y="29260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小さく見えるが、積み上げると年間数十万円規模</a:t>
            </a:r>
            <a:br/>
            <a:r>
              <a:rPr/>
              <a:t>2段階実施: 物価動向を見ながら段階的に対応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入院改定のポイント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5BA"/>
                </a:solidFill>
                <a:latin typeface="Calibri"/>
              </a:defRPr>
            </a:pPr>
            <a:r>
              <a:rPr/>
              <a:t>急性期再編の本丸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地域包括医療病棟の6区分化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急性期入院料の見直し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総合診療機能評価の新設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紹介患者受入加算の拡充（60点新設）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救急の体制加算化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地域包括医療病棟の6区分化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従来の一律評価 → 6段階の機能分化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7863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区分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要件概要</a:t>
                      </a:r>
                    </a:p>
                  </a:txBody>
                  <a:tcPr marL="45720" marR="45720" marT="18288" marB="18288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入院料1（最高点）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救急搬送実績 + 自宅退院率高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入院料2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救急搬送実績あり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入院料3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一般的な包括医療</a:t>
                      </a:r>
                    </a:p>
                  </a:txBody>
                  <a:tcPr marL="45720" marR="45720" marT="18288" marB="18288">
                    <a:solidFill>
                      <a:srgbClr val="E8EE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入院料4-6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段階的な要件緩和</a:t>
                      </a:r>
                    </a:p>
                  </a:txBody>
                  <a:tcPr marL="45720" marR="45720" marT="18288" marB="18288"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347472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749808" y="347472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354787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自院がどの区分に該当するか、早期に評価が必要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急性期入院料の再編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7724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看護配置・重症度基準の精緻化</a:t>
            </a:r>
          </a:p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在宅復帰率の評価強化</a:t>
            </a:r>
          </a:p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「急性期」の定義が厳格化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49808" y="292608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299923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rPr/>
              <a:t>対応できない病院は区分変更を検討すべきタイミング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総合診療機能評価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病院における総合診療の価値が初めて点数化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総合診療専門医の配置が評価対象に</a:t>
            </a:r>
          </a:p>
          <a:p>
            <a:pPr>
              <a:defRPr sz="13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複数診療科にまたがる患者の管理を評価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749808" y="29260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総合診療医の採用・育成が経営戦略として浮上</a:t>
            </a:r>
            <a:br/>
            <a:r>
              <a:rPr/>
              <a:t>かかりつけ医機能報告制度との接点も注目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紹介患者受入加算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914400"/>
            <a:ext cx="3657600" cy="1645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743200" y="1005840"/>
            <a:ext cx="3657600" cy="80467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1E2761"/>
                </a:solidFill>
                <a:latin typeface="Calibri"/>
              </a:defRPr>
            </a:pPr>
            <a:r>
              <a:rPr/>
              <a:t>60点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36576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/>
              <a:t>新設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逆紹介の推進（大病院→診療所の流れ）</a:t>
            </a:r>
          </a:p>
          <a:p>
            <a:pPr>
              <a:defRPr sz="12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紹介状なし受診の抑制策と連動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06240"/>
            <a:ext cx="54864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749808" y="4206240"/>
            <a:ext cx="8119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4407407"/>
            <a:ext cx="7863840" cy="3108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連携パスの整備が収益に直結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救急の体制加算化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365760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8A95BA"/>
                </a:solidFill>
                <a:latin typeface="Calibri"/>
              </a:defRPr>
            </a:pPr>
            <a:r>
              <a:rPr/>
              <a:t>旧: 院内トリアージ実施料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実施ベースの評価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80160"/>
            <a:ext cx="457200" cy="5892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00C9A7"/>
                </a:solidFill>
                <a:latin typeface="Calibri"/>
              </a:defRPr>
            </a:pPr>
            <a:r>
              <a:rPr/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914400"/>
            <a:ext cx="384048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212080" y="1005840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/>
              <a:t>新: 救急医療管理加算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体制ベースへの転換</a:t>
            </a:r>
            <a:br/>
            <a:r>
              <a:rPr/>
              <a:t>時間帯別段階評価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ectangle 11"/>
          <p:cNvSpPr/>
          <p:nvPr/>
        </p:nvSpPr>
        <p:spPr>
          <a:xfrm>
            <a:off x="749808" y="292608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救急受入体制の整備が安定収入源に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53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医療DX改定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49808" y="128016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rPr/>
              <a:t>「体制整備」から「実績評価」へ</a:t>
            </a:r>
            <a:br/>
            <a:r>
              <a:rPr/>
              <a:t>体制があるだけでは不十分、使われていることが必要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旧制度→新制度の統合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20040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廃止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8346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8A95BA"/>
                </a:solidFill>
                <a:latin typeface="Calibri"/>
              </a:defRPr>
            </a:pPr>
            <a:r>
              <a:rPr/>
              <a:t>医療DX推進体制</a:t>
            </a:r>
            <a:br/>
            <a:r>
              <a:rPr/>
              <a:t>整備加算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200400" cy="9144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廃止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8A95BA"/>
                </a:solidFill>
                <a:latin typeface="Calibri"/>
              </a:defRPr>
            </a:pPr>
            <a:r>
              <a:rPr/>
              <a:t>医療情報取得加算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54480"/>
            <a:ext cx="54864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000" b="1">
                <a:solidFill>
                  <a:srgbClr val="00C9A7"/>
                </a:solidFill>
                <a:latin typeface="Calibri"/>
              </a:defRPr>
            </a:pPr>
            <a:r>
              <a:rPr/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914400"/>
            <a:ext cx="4389120" cy="24688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0" y="960120"/>
            <a:ext cx="4389120" cy="2870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統合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71600"/>
            <a:ext cx="40233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  <a:latin typeface="Calibri"/>
              </a:defRPr>
            </a:pPr>
            <a:r>
              <a:rPr/>
              <a:t>電子的診療情報</a:t>
            </a:r>
            <a:br/>
            <a:r>
              <a:rPr/>
              <a:t>連携体制整備加算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0">
                <a:solidFill>
                  <a:srgbClr val="1E2761"/>
                </a:solidFill>
                <a:latin typeface="Calibri"/>
              </a:defRPr>
            </a:pPr>
            <a:r>
              <a:rPr/>
              <a:t>3区分（15 / 9 / 4 点）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電子的診療情報連携の3区分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651760" cy="2286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区分1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651760" cy="6217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Calibri"/>
              </a:defRPr>
            </a:pPr>
            <a:r>
              <a:rPr/>
              <a:t>15点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電子処方箋実績</a:t>
            </a:r>
            <a:br/>
            <a:r>
              <a:rPr/>
              <a:t>+ マイナ利用率30%以上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914400"/>
            <a:ext cx="265176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383280" y="1005840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0F4FC"/>
                </a:solidFill>
                <a:latin typeface="Calibri"/>
              </a:defRPr>
            </a:pPr>
            <a:r>
              <a:rPr/>
              <a:t>区分2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651760" cy="6217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F0F4FC"/>
                </a:solidFill>
                <a:latin typeface="Calibri"/>
              </a:defRPr>
            </a:pPr>
            <a:r>
              <a:rPr/>
              <a:t>9点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0F4FC"/>
                </a:solidFill>
                <a:latin typeface="Calibri"/>
              </a:defRPr>
            </a:pPr>
            <a:r>
              <a:rPr/>
              <a:t>電子処方箋</a:t>
            </a:r>
            <a:br/>
            <a:r>
              <a:rPr/>
              <a:t>体制あり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14400"/>
            <a:ext cx="265176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F0F4FC"/>
                </a:solidFill>
                <a:latin typeface="Calibri"/>
              </a:defRPr>
            </a:pPr>
            <a:r>
              <a:rPr/>
              <a:t>区分3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6217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F0F4FC"/>
                </a:solidFill>
                <a:latin typeface="Calibri"/>
              </a:defRPr>
            </a:pPr>
            <a:r>
              <a:rPr/>
              <a:t>4点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4688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F0F4FC"/>
                </a:solidFill>
                <a:latin typeface="Calibri"/>
              </a:defRPr>
            </a:pPr>
            <a:r>
              <a:rPr/>
              <a:t>マイナ基本体制</a:t>
            </a:r>
            <a:br/>
            <a:r>
              <a:rPr/>
              <a:t>のみ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749808" y="365760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68680" y="373075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区分1 vs 区分3 = 11点/回の差</a:t>
            </a:r>
            <a:br/>
            <a:r>
              <a:rPr/>
              <a:t>1日100人で年間約400万円の差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マイナ保険証利用率30%の壁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914400"/>
            <a:ext cx="3657600" cy="1645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2743200" y="1005840"/>
            <a:ext cx="3657600" cy="80467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5200" b="1">
                <a:solidFill>
                  <a:srgbClr val="1E2761"/>
                </a:solidFill>
                <a:latin typeface="Calibri"/>
              </a:defRPr>
            </a:pPr>
            <a:r>
              <a:rPr/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  <a:latin typeface="Calibri"/>
              </a:defRPr>
            </a:pPr>
            <a:r>
              <a:rPr/>
              <a:t>区分1取得の必須ライン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73152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全国平均（2026年3月時点）: 約15-20%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36576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施設でできること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受付でのマイナ保険証利用促進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ポスター掲示・声かけマニュアル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カードリーダーの動線最適化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電子処方箋の要件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4864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49808" y="914400"/>
            <a:ext cx="8119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987552"/>
            <a:ext cx="786384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rPr/>
              <a:t>電子処方箋: もはや「対応済み」が前提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区分1・2の取得には電子処方箋が必須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導入コスト vs 長期的な加算収入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749808" y="320040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327355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Georgia"/>
              </a:defRPr>
            </a:pPr>
            <a:r>
              <a:rPr/>
              <a:t>管理職視点: 未導入なら最優先で導入計画を策定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53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BCP策定義務化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ectangle 5"/>
          <p:cNvSpPr/>
          <p:nvPr/>
        </p:nvSpPr>
        <p:spPr>
          <a:xfrm>
            <a:off x="749808" y="1280160"/>
            <a:ext cx="81198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863840" cy="40233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rPr/>
              <a:t>もう「あると良い」ではなく「なければ算定不可」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03120"/>
            <a:ext cx="4572000" cy="13716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4572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Calibri"/>
              </a:defRPr>
            </a:pPr>
            <a:r>
              <a:rPr/>
              <a:t>期限: 2027年5月31日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機能強化加算・在支診・在支病の施設基準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自然災害BCP チェックリスト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7つの策定項目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優先業務の特定と順位付け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職員参集計画（連絡網・代替手段）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患者安全確保手順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ライフライン途絶時の対応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備蓄計画（医薬品・食料・燃料）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地域連携体制（受入・搬送）</a:t>
            </a:r>
          </a:p>
          <a:p>
            <a:pPr>
              <a:defRPr sz="12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年1回以上の訓練実施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サイバーセキュリティBCP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"/>
            <a:ext cx="3657600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0" y="320040"/>
            <a:ext cx="365760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2024年だけで33件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749808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医療機関へのサイバー攻撃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77240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バックアップ体制（3-2-1ルール）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ランサムウェア対策（ネットワーク分離）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紙カルテ運用への切り替え手順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全職員向けセキュリティ教育（年1回以上）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インシデント発生時の報告・対応フロー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600" b="1">
                <a:solidFill>
                  <a:srgbClr val="F0F4FC"/>
                </a:solidFill>
                <a:latin typeface="Calibri"/>
              </a:defRPr>
            </a:pPr>
            <a:r>
              <a:rPr/>
              <a:t>経営戦略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315200" cy="3225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5BA"/>
                </a:solidFill>
                <a:latin typeface="Calibri"/>
              </a:defRPr>
            </a:pPr>
            <a:r>
              <a:rPr/>
              <a:t>自院への影響をどう評価するか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73736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C"/>
                </a:solidFill>
                <a:latin typeface="Calibri"/>
              </a:defRPr>
            </a:pPr>
            <a:r>
              <a:rPr/>
              <a:t>現在の施設基準一覧を棚卸し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7680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1460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C"/>
                </a:solidFill>
                <a:latin typeface="Calibri"/>
              </a:defRPr>
            </a:pPr>
            <a:r>
              <a:rPr/>
              <a:t>改定後の点数変動をシミュレーション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C"/>
                </a:solidFill>
                <a:latin typeface="Calibri"/>
              </a:defRPr>
            </a:pPr>
            <a:r>
              <a:rPr/>
              <a:t>新規取得可能な施設基準を洗い出し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77639"/>
            <a:ext cx="7680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7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069079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0F4FC"/>
                </a:solidFill>
                <a:latin typeface="Calibri"/>
              </a:defRPr>
            </a:pPr>
            <a:r>
              <a:rPr/>
              <a:t>投資対効果（ROI）で優先順位づけ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施設基準 優先度マトリクス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114800" cy="1828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緊急度高 × 効果大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74903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BCP策定（期限あり）</a:t>
            </a:r>
            <a:br/>
            <a:r>
              <a:rPr/>
              <a:t>ベースアップ評価料申請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1E2761"/>
                </a:solidFill>
                <a:latin typeface="Calibri"/>
              </a:defRPr>
            </a:pPr>
            <a:r>
              <a:rPr/>
              <a:t>緊急度低 × 効果大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280160"/>
            <a:ext cx="3749039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rPr/>
              <a:t>電子処方箋導入</a:t>
            </a:r>
            <a:br/>
            <a:r>
              <a:rPr/>
              <a:t>地域包括診療加算1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8A95BA"/>
                </a:solidFill>
                <a:latin typeface="Calibri"/>
              </a:defRPr>
            </a:pPr>
            <a:r>
              <a:rPr/>
              <a:t>緊急度高 × 効果小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7490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1E2761"/>
                </a:solidFill>
                <a:latin typeface="Calibri"/>
              </a:defRPr>
            </a:pPr>
            <a:r>
              <a:rPr/>
              <a:t>物価対応料の届出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754880" y="297180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8A95BA"/>
                </a:solidFill>
                <a:latin typeface="Calibri"/>
              </a:defRPr>
            </a:pPr>
            <a:r>
              <a:rPr/>
              <a:t>緊急度低 × 効果小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91840"/>
            <a:ext cx="3749039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8A95BA"/>
                </a:solidFill>
                <a:latin typeface="Calibri"/>
              </a:defRPr>
            </a:pPr>
            <a:r>
              <a:rPr/>
              <a:t>その他の加算見直し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0F4FC"/>
                </a:solidFill>
                <a:latin typeface="Calibri"/>
              </a:defRPr>
            </a:pPr>
            <a:r>
              <a:rPr/>
              <a:t>全職員への伝え方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49808" y="822960"/>
            <a:ext cx="81198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896112"/>
            <a:ext cx="786384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rPr/>
              <a:t>「改定は経営の話」で終わらせない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ベースアップ評価料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4572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0F4FC"/>
                </a:solidFill>
                <a:latin typeface="Calibri"/>
              </a:defRPr>
            </a:pPr>
            <a:r>
              <a:rPr/>
              <a:t>「あなたの給与に直結します」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39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マイナ保険証利用促進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4572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0F4FC"/>
                </a:solidFill>
                <a:latin typeface="Calibri"/>
              </a:defRPr>
            </a:pPr>
            <a:r>
              <a:rPr/>
              <a:t>「受付での声かけが収入を変えます」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BCP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F0F4FC"/>
                </a:solidFill>
                <a:latin typeface="Calibri"/>
              </a:defRPr>
            </a:pPr>
            <a:r>
              <a:rPr/>
              <a:t>「あなたと患者を守る計画です」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00" b="0">
                <a:solidFill>
                  <a:srgbClr val="8A95BA"/>
                </a:solidFill>
                <a:latin typeface="Calibri"/>
              </a:defRPr>
            </a:pPr>
            <a:r>
              <a:rPr/>
              <a:t>事務部門・看護部門・リハビリ部門それぞれの伝え方を変える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73152" cy="44805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  <a:latin typeface="Calibri"/>
              </a:defRPr>
            </a:pPr>
            <a:r>
              <a:rPr/>
              <a:t>今日から始める5つのアクション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7863840" cy="5943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64592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今週中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868680"/>
            <a:ext cx="5760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施設基準の棚卸し（現状把握）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863840" cy="5943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64592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今月中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5760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BCP策定プロジェクトチーム発足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7863840" cy="5943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64592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来月中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5760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マイナ保険証利用率の現状把握と目標設定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7863840" cy="59436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64592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Calibri"/>
              </a:defRPr>
            </a:pPr>
            <a:r>
              <a:rPr/>
              <a:t>6月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5760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改定施行 — 算定開始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64592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rPr/>
              <a:t>2027年5月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794760"/>
            <a:ext cx="57607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alibri"/>
              </a:defRPr>
            </a:pPr>
            <a:r>
              <a:rPr/>
              <a:t>BCP経過措置期限 — 完了必須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4864" cy="6400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ctangle 19"/>
          <p:cNvSpPr/>
          <p:nvPr/>
        </p:nvSpPr>
        <p:spPr>
          <a:xfrm>
            <a:off x="566928" y="438912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85800" y="446227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自院で最もインパクトが大きい改定項目はどれか？</a:t>
            </a:r>
            <a:br/>
            <a:r>
              <a:rPr/>
              <a:t>今日の帰りの車の中で考えてみてください。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800" b="0">
                <a:solidFill>
                  <a:srgbClr val="8A95BA"/>
                </a:solidFill>
                <a:latin typeface="Calibri"/>
              </a:defRPr>
            </a:pPr>
            <a:r>
              <a:rPr/>
              <a:t>Scribe Agent | 2026-03-28 | ガニェの9教授事象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