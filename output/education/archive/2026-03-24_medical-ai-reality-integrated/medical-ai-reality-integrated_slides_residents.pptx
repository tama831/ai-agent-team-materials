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5F0E8"/>
                </a:solidFill>
                <a:latin typeface="Georgia"/>
              </a:defRPr>
            </a:pPr>
            <a:r>
              <a:t>医療AIの実態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89B3B"/>
                </a:solidFill>
                <a:latin typeface="Calibri"/>
              </a:defRPr>
            </a:pPr>
            <a:r>
              <a:t>光と影を踏まえて、使いこなすために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828800"/>
            <a:ext cx="2743200" cy="36576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EB8A9"/>
                </a:solidFill>
                <a:latin typeface="Calibri"/>
              </a:defRPr>
            </a:pPr>
            <a:r>
              <a:t>Doximity（米国医師向けプラットフォーム）8万人 + AMA（米国医師会）1,300人 調査から読む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A8A9A"/>
                </a:solidFill>
                <a:latin typeface="Calibri"/>
              </a:defRPr>
            </a:pPr>
            <a:r>
              <a:t>研修医・専攻医向け 30分｜2026-03-24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2E"/>
                </a:solidFill>
                <a:latin typeface="Georgia"/>
              </a:defRPr>
            </a:pPr>
            <a:r>
              <a:t>数字が語る現実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196596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9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822960"/>
            <a:ext cx="196596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D2B3E"/>
                </a:solidFill>
                <a:latin typeface="Calibri"/>
              </a:defRPr>
            </a:pPr>
            <a:r>
              <a:t>94%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783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2E"/>
                </a:solidFill>
                <a:latin typeface="Calibri"/>
              </a:defRPr>
            </a:pPr>
            <a:r>
              <a:t>医師がAI利用中</a:t>
            </a:r>
            <a:br/>
            <a:r>
              <a:t>または検討中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86000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7A8A9A"/>
                </a:solidFill>
                <a:latin typeface="Calibri"/>
              </a:defRPr>
            </a:pPr>
            <a:r>
              <a:t>Doximity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606040" y="822960"/>
            <a:ext cx="196596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9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606040" y="822960"/>
            <a:ext cx="196596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7480" y="868680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D2B3E"/>
                </a:solidFill>
                <a:latin typeface="Calibri"/>
              </a:defRPr>
            </a:pPr>
            <a:r>
              <a:t>81%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1417320"/>
            <a:ext cx="1783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2E"/>
                </a:solidFill>
                <a:latin typeface="Calibri"/>
              </a:defRPr>
            </a:pPr>
            <a:r>
              <a:t>AI利用率</a:t>
            </a:r>
            <a:br/>
            <a:r>
              <a:t>(2023年38%から倍増)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2286000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7A8A9A"/>
                </a:solidFill>
                <a:latin typeface="Calibri"/>
              </a:defRPr>
            </a:pPr>
            <a:r>
              <a:t>AMA 2025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0" y="822960"/>
            <a:ext cx="196596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9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54880" y="822960"/>
            <a:ext cx="196596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46320" y="868680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D2B3E"/>
                </a:solidFill>
                <a:latin typeface="Calibri"/>
              </a:defRPr>
            </a:pPr>
            <a:r>
              <a:t>2時間+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1417320"/>
            <a:ext cx="1783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2E"/>
                </a:solidFill>
                <a:latin typeface="Calibri"/>
              </a:defRPr>
            </a:pPr>
            <a:r>
              <a:t>1日あたりの</a:t>
            </a:r>
            <a:br/>
            <a:r>
              <a:t>時短効果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2286000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7A8A9A"/>
                </a:solidFill>
                <a:latin typeface="Calibri"/>
              </a:defRPr>
            </a:pPr>
            <a:r>
              <a:t>アンビエントAI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03720" y="822960"/>
            <a:ext cx="196596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9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03720" y="822960"/>
            <a:ext cx="196596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95160" y="868680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D2B3E"/>
                </a:solidFill>
                <a:latin typeface="Calibri"/>
              </a:defRPr>
            </a:pPr>
            <a:r>
              <a:t>#1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60" y="1417320"/>
            <a:ext cx="1783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2E"/>
                </a:solidFill>
                <a:latin typeface="Calibri"/>
              </a:defRPr>
            </a:pPr>
            <a:r>
              <a:t>家庭医が</a:t>
            </a:r>
            <a:br/>
            <a:r>
              <a:t>AI最頻度ユーザー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60" y="2286000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7A8A9A"/>
                </a:solidFill>
                <a:latin typeface="Calibri"/>
              </a:defRPr>
            </a:pPr>
            <a:r>
              <a:t>Doximity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20040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1A2E"/>
                </a:solidFill>
                <a:latin typeface="Georgia"/>
              </a:defRPr>
            </a:pPr>
            <a:r>
              <a:t>「AIは使えるのか？」のフェーズは終わった。問題は「どう安全に使うか」。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2E"/>
                </a:solidFill>
                <a:latin typeface="Georgia"/>
              </a:defRPr>
            </a:pPr>
            <a:r>
              <a:t>医師は何にAIを使っているのか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777240"/>
          <a:ext cx="76809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097280"/>
                <a:gridCol w="4023360"/>
              </a:tblGrid>
              <a:tr h="402336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用途</a:t>
                      </a:r>
                    </a:p>
                  </a:txBody>
                  <a:tcPr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割合</a:t>
                      </a:r>
                    </a:p>
                  </a:txBody>
                  <a:tcPr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具体例</a:t>
                      </a:r>
                    </a:p>
                  </a:txBody>
                  <a:tcPr>
                    <a:solidFill>
                      <a:srgbClr val="0D2B3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臨床ドキュメント作成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最多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Nuance DAX, Abridge, Suki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「パジャマタイム」解消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主目的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勤務外の事務作業を削減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診断支援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少ない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OpenEvidence等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患者対応・ケア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非常に少ない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今後の拡大領域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731520" y="2926080"/>
            <a:ext cx="54864" cy="82296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2926080"/>
            <a:ext cx="7571232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999232"/>
            <a:ext cx="731520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Georgia"/>
              </a:defRPr>
            </a:pPr>
            <a:r>
              <a:t>「パジャマタイム」= 勤務後にパジャマでカルテを書く時間。</a:t>
            </a:r>
            <a:br/>
            <a:r>
              <a:t>AIが解消してくれるのは、「診断」ではなく「事務」。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2E"/>
                </a:solidFill>
                <a:latin typeface="Georgia"/>
              </a:defRPr>
            </a:pPr>
            <a:r>
              <a:t>光の側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2560320" cy="54864"/>
          </a:xfrm>
          <a:prstGeom prst="rect">
            <a:avLst/>
          </a:prstGeom>
          <a:solidFill>
            <a:srgbClr val="4EB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8686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EB86B"/>
                </a:solidFill>
                <a:latin typeface="Calibri"/>
              </a:defRPr>
            </a:pPr>
            <a:r>
              <a:t>OpenEvidence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1430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1A2E"/>
                </a:solidFill>
                <a:latin typeface="Calibri"/>
              </a:defRPr>
            </a:pPr>
            <a:r>
              <a:t>日100万件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64592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査読済み文献ベースの</a:t>
            </a:r>
            <a:br/>
            <a:r>
              <a:t>臨床意思決定支援</a:t>
            </a:r>
          </a:p>
        </p:txBody>
      </p:sp>
      <p:sp>
        <p:nvSpPr>
          <p:cNvPr id="8" name="Rectangle 7"/>
          <p:cNvSpPr/>
          <p:nvPr/>
        </p:nvSpPr>
        <p:spPr>
          <a:xfrm>
            <a:off x="3520439" y="82296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520439" y="822960"/>
            <a:ext cx="2560320" cy="54864"/>
          </a:xfrm>
          <a:prstGeom prst="rect">
            <a:avLst/>
          </a:prstGeom>
          <a:solidFill>
            <a:srgbClr val="4EB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599" y="8686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EB86B"/>
                </a:solidFill>
                <a:latin typeface="Calibri"/>
              </a:defRPr>
            </a:pPr>
            <a:r>
              <a:t>AI研修 RCT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599" y="11430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1A2E"/>
                </a:solidFill>
                <a:latin typeface="Calibri"/>
              </a:defRPr>
            </a:pPr>
            <a:r>
              <a:t>保持率91%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599" y="164592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AIが研修医教育の</a:t>
            </a:r>
            <a:br/>
            <a:r>
              <a:t>質を向上させる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59" y="82296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59" y="822960"/>
            <a:ext cx="2560320" cy="54864"/>
          </a:xfrm>
          <a:prstGeom prst="rect">
            <a:avLst/>
          </a:prstGeom>
          <a:solidFill>
            <a:srgbClr val="4EB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8686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EB86B"/>
                </a:solidFill>
                <a:latin typeface="Calibri"/>
              </a:defRPr>
            </a:pPr>
            <a:r>
              <a:t>Mount Sinai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11430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1A2E"/>
                </a:solidFill>
                <a:latin typeface="Calibri"/>
              </a:defRPr>
            </a:pPr>
            <a:r>
              <a:t>コスト65分の1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164592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マルチエージェントAIが</a:t>
            </a:r>
            <a:br/>
            <a:r>
              <a:t>単独より優秀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2E"/>
                </a:solidFill>
                <a:latin typeface="Georgia"/>
              </a:defRPr>
            </a:pPr>
            <a:r>
              <a:t>影の側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56032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5A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2560320" cy="54864"/>
          </a:xfrm>
          <a:prstGeom prst="rect">
            <a:avLst/>
          </a:prstGeom>
          <a:solidFill>
            <a:srgbClr val="E05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8686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05A47"/>
                </a:solidFill>
                <a:latin typeface="Calibri"/>
              </a:defRPr>
            </a:pPr>
            <a:r>
              <a:t>ECRI患者安全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1430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A1A2E"/>
                </a:solidFill>
                <a:latin typeface="Calibri"/>
              </a:defRPr>
            </a:pPr>
            <a:r>
              <a:t>AI診断が#1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64592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ECRI = Emergency Care Research</a:t>
            </a:r>
            <a:br/>
            <a:r>
              <a:t>Institute（米国医療安全研究機構）</a:t>
            </a:r>
            <a:br/>
            <a:r>
              <a:t>自動化バイアスが誤診リスクを増大</a:t>
            </a:r>
          </a:p>
        </p:txBody>
      </p:sp>
      <p:sp>
        <p:nvSpPr>
          <p:cNvPr id="8" name="Rectangle 7"/>
          <p:cNvSpPr/>
          <p:nvPr/>
        </p:nvSpPr>
        <p:spPr>
          <a:xfrm>
            <a:off x="3520439" y="822960"/>
            <a:ext cx="256032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5A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520439" y="822960"/>
            <a:ext cx="2560320" cy="54864"/>
          </a:xfrm>
          <a:prstGeom prst="rect">
            <a:avLst/>
          </a:prstGeom>
          <a:solidFill>
            <a:srgbClr val="E05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599" y="8686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05A47"/>
                </a:solidFill>
                <a:latin typeface="Calibri"/>
              </a:defRPr>
            </a:pPr>
            <a:r>
              <a:t>スタンフォード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599" y="11430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A1A2E"/>
                </a:solidFill>
                <a:latin typeface="Calibri"/>
              </a:defRPr>
            </a:pPr>
            <a:r>
              <a:t>半数が試験で評価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599" y="164592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実患者データは</a:t>
            </a:r>
            <a:br/>
            <a:r>
              <a:t>わずか5%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59" y="822960"/>
            <a:ext cx="256032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5A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59" y="822960"/>
            <a:ext cx="2560320" cy="54864"/>
          </a:xfrm>
          <a:prstGeom prst="rect">
            <a:avLst/>
          </a:prstGeom>
          <a:solidFill>
            <a:srgbClr val="E05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8686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05A47"/>
                </a:solidFill>
                <a:latin typeface="Calibri"/>
              </a:defRPr>
            </a:pPr>
            <a:r>
              <a:t>AMA倫理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11430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A1A2E"/>
                </a:solidFill>
                <a:latin typeface="Calibri"/>
              </a:defRPr>
            </a:pPr>
            <a:r>
              <a:t>監視の空洞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164592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2E"/>
                </a:solidFill>
                <a:latin typeface="Calibri"/>
              </a:defRPr>
            </a:pPr>
            <a:r>
              <a:t>AMA = American Medical Association</a:t>
            </a:r>
            <a:br/>
            <a:r>
              <a:t>（米国医師会）</a:t>
            </a:r>
            <a:br/>
            <a:r>
              <a:t>倫理ジャーナル廃刊 x AIセンター設立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5F0E8"/>
                </a:solidFill>
                <a:latin typeface="Georgia"/>
              </a:defRPr>
            </a:pPr>
            <a:r>
              <a:t>国家レベルの応答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A8A9A"/>
                </a:solidFill>
                <a:latin typeface="Calibri"/>
              </a:defRPr>
            </a:pPr>
            <a:r>
              <a:t>NAM = National Academy of Medicine（米国医学アカデミー）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7680960" cy="1828800"/>
          </a:xfrm>
          <a:prstGeom prst="rect">
            <a:avLst/>
          </a:prstGeom>
          <a:solidFill>
            <a:srgbClr val="0D2B3E"/>
          </a:solidFill>
          <a:ln w="12700">
            <a:solidFill>
              <a:srgbClr val="E89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1887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9B3B"/>
                </a:solidFill>
                <a:latin typeface="Calibri"/>
              </a:defRPr>
            </a:pPr>
            <a:r>
              <a:t>「AI時代の患者安全」イニシアチブ -- 2026年3月発足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508760"/>
            <a:ext cx="7315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5F0E8"/>
                </a:solidFill>
                <a:latin typeface="Calibri"/>
              </a:defRPr>
            </a:pPr>
            <a:r>
              <a:t>Mayo Clinic CEOらが共同議長</a:t>
            </a:r>
            <a:br/>
            <a:r>
              <a:t>「To Err Is Human」（2000年の画期的報告書）の遺産を継承</a:t>
            </a:r>
            <a:br/>
            <a:r>
              <a:t>AIを活用した「ゼロハーム」国家戦略を策定中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200400"/>
            <a:ext cx="54864" cy="82296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1248" y="3200400"/>
            <a:ext cx="7571232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273552"/>
            <a:ext cx="731520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Georgia"/>
              </a:defRPr>
            </a:pPr>
            <a:r>
              <a:t>ECRI（米国医療安全研究機構）が「警告」を出し、NAMが「戦略」を立てる。</a:t>
            </a:r>
            <a:br/>
            <a:r>
              <a:t>「光と影」のその先に、「制度設計」が始まっている。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2E"/>
                </a:solidFill>
                <a:latin typeface="Georgia"/>
              </a:defRPr>
            </a:pPr>
            <a:r>
              <a:t>安全に使うための4ステップ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A8A9A"/>
                </a:solidFill>
                <a:latin typeface="Calibri"/>
              </a:defRPr>
            </a:pPr>
            <a:r>
              <a:t>フレームワーク「知る→疑う→補完→伝える」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19659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96596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A1A2E"/>
                </a:solidFill>
                <a:latin typeface="Calibri"/>
              </a:defRPr>
            </a:pPr>
            <a:r>
              <a:t>(1) 知る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1783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2E"/>
                </a:solidFill>
                <a:latin typeface="Calibri"/>
              </a:defRPr>
            </a:pPr>
            <a:r>
              <a:t>このAIは何で</a:t>
            </a:r>
            <a:br/>
            <a:r>
              <a:t>評価された？</a:t>
            </a:r>
          </a:p>
        </p:txBody>
      </p:sp>
      <p:sp>
        <p:nvSpPr>
          <p:cNvPr id="8" name="Rectangle 7"/>
          <p:cNvSpPr/>
          <p:nvPr/>
        </p:nvSpPr>
        <p:spPr>
          <a:xfrm>
            <a:off x="2606040" y="1005840"/>
            <a:ext cx="19659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606040" y="1005840"/>
            <a:ext cx="196596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7480" y="109728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A1A2E"/>
                </a:solidFill>
                <a:latin typeface="Calibri"/>
              </a:defRPr>
            </a:pPr>
            <a:r>
              <a:t>(2) 疑う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1645920"/>
            <a:ext cx="1783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2E"/>
                </a:solidFill>
                <a:latin typeface="Calibri"/>
              </a:defRPr>
            </a:pPr>
            <a:r>
              <a:t>自分の判断と</a:t>
            </a:r>
            <a:br/>
            <a:r>
              <a:t>照合する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0" y="1005840"/>
            <a:ext cx="19659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0" y="1005840"/>
            <a:ext cx="196596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0" y="109728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A1A2E"/>
                </a:solidFill>
                <a:latin typeface="Calibri"/>
              </a:defRPr>
            </a:pPr>
            <a:r>
              <a:t>(3) 補完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1645920"/>
            <a:ext cx="1783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2E"/>
                </a:solidFill>
                <a:latin typeface="Calibri"/>
              </a:defRPr>
            </a:pPr>
            <a:r>
              <a:t>AI+人間の</a:t>
            </a:r>
            <a:br/>
            <a:r>
              <a:t>強みを組み合わせ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03720" y="1005840"/>
            <a:ext cx="19659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03720" y="1005840"/>
            <a:ext cx="196596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95160" y="109728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A1A2E"/>
                </a:solidFill>
                <a:latin typeface="Calibri"/>
              </a:defRPr>
            </a:pPr>
            <a:r>
              <a:t>(4) 伝える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60" y="1645920"/>
            <a:ext cx="1783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A1A2E"/>
                </a:solidFill>
                <a:latin typeface="Calibri"/>
              </a:defRPr>
            </a:pPr>
            <a:r>
              <a:t>患者に</a:t>
            </a:r>
            <a:br/>
            <a:r>
              <a:t>透明性を保つ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01752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E05A47"/>
                </a:solidFill>
                <a:latin typeface="Calibri"/>
              </a:defRPr>
            </a:pPr>
            <a:r>
              <a:t>[!] AIの答えを鵜呑みにしない。常に自分の臨床判断と照合する。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5F0E8"/>
                </a:solidFill>
                <a:latin typeface="Georgia"/>
              </a:defRPr>
            </a:pPr>
            <a:r>
              <a:t>倫理の空洞 -- 誰が監視するのか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7680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5F0E8"/>
                </a:solidFill>
                <a:latin typeface="Calibri"/>
              </a:defRPr>
              <a:buChar char="●"/>
            </a:pPr>
            <a:r>
              <a:t>AMA = American Medical Association（米国医師会）が倫理ジャーナルを廃刊</a:t>
            </a:r>
          </a:p>
          <a:p>
            <a:pPr>
              <a:defRPr sz="1300">
                <a:solidFill>
                  <a:srgbClr val="F5F0E8"/>
                </a:solidFill>
                <a:latin typeface="Calibri"/>
              </a:defRPr>
              <a:buChar char="●"/>
            </a:pPr>
            <a:r>
              <a:t>同時にAIセンターを設立 -- 「倫理」より「実装」を優先する姿勢</a:t>
            </a:r>
          </a:p>
          <a:p>
            <a:pPr>
              <a:defRPr sz="1300">
                <a:solidFill>
                  <a:srgbClr val="F5F0E8"/>
                </a:solidFill>
                <a:latin typeface="Calibri"/>
              </a:defRPr>
              <a:buChar char="●"/>
            </a:pPr>
            <a:r>
              <a:t>IC = Informed Consent（インフォームドコンセント：説明と同意）にAI使用を含めるべきか未定</a:t>
            </a:r>
          </a:p>
          <a:p>
            <a:pPr>
              <a:defRPr sz="1300">
                <a:solidFill>
                  <a:srgbClr val="F5F0E8"/>
                </a:solidFill>
                <a:latin typeface="Calibri"/>
              </a:defRPr>
              <a:buChar char="●"/>
            </a:pPr>
            <a:r>
              <a:t>VC = Venture Capital（ベンチャーキャピタル：投資ファンド）が医療AI市場に大量資金投入</a:t>
            </a:r>
          </a:p>
          <a:p>
            <a:pPr>
              <a:defRPr sz="1300">
                <a:solidFill>
                  <a:srgbClr val="F5F0E8"/>
                </a:solidFill>
                <a:latin typeface="Calibri"/>
              </a:defRPr>
              <a:buChar char="●"/>
            </a:pPr>
            <a:r>
              <a:t>「誰のためのAIか」が問われている -- 患者か、効率化か、投資家か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383280"/>
            <a:ext cx="54864" cy="73152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3383280"/>
            <a:ext cx="757123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456432"/>
            <a:ext cx="73152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Georgia"/>
              </a:defRPr>
            </a:pPr>
            <a:r>
              <a:t>テクノロジーの進歩に、倫理的議論が追いついていない。</a:t>
            </a:r>
            <a:br/>
            <a:r>
              <a:t>だからこそ、現場の医師が考える必要がある。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5F0E8"/>
                </a:solidFill>
                <a:latin typeface="Georgia"/>
              </a:defRPr>
            </a:pPr>
            <a:r>
              <a:t>ディスカッション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9B3B"/>
                </a:solidFill>
                <a:latin typeface="Calibri"/>
              </a:defRPr>
            </a:pPr>
            <a:r>
              <a:t>4分間 → 全体共有 2分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54864" cy="100584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1188720"/>
            <a:ext cx="7571232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261872"/>
            <a:ext cx="7315200" cy="859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  <a:latin typeface="Georgia"/>
              </a:defRPr>
            </a:pPr>
            <a:r>
              <a:t>あなたがAIを使って「助かった」経験と</a:t>
            </a:r>
            <a:br/>
            <a:r>
              <a:t>「危なかった」経験は？</a:t>
            </a:r>
            <a:br/>
            <a:r>
              <a:t>その違いは何だったか？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9B3B"/>
                </a:solidFill>
                <a:latin typeface="Calibri"/>
              </a:defRPr>
            </a:pPr>
            <a:r>
              <a:t>考えるヒント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88920"/>
            <a:ext cx="7680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5F0E8"/>
                </a:solidFill>
                <a:latin typeface="Calibri"/>
              </a:defRPr>
              <a:buChar char="●"/>
            </a:pPr>
            <a:r>
              <a:t>AIの答えをそのまま使ったことはあるか？</a:t>
            </a:r>
          </a:p>
          <a:p>
            <a:pPr>
              <a:defRPr sz="1300">
                <a:solidFill>
                  <a:srgbClr val="F5F0E8"/>
                </a:solidFill>
                <a:latin typeface="Calibri"/>
              </a:defRPr>
              <a:buChar char="●"/>
            </a:pPr>
            <a:r>
              <a:t>患者にAI使用を伝えたことはあるか？</a:t>
            </a:r>
          </a:p>
          <a:p>
            <a:pPr>
              <a:defRPr sz="1300">
                <a:solidFill>
                  <a:srgbClr val="F5F0E8"/>
                </a:solidFill>
                <a:latin typeface="Calibri"/>
              </a:defRPr>
              <a:buChar char="●"/>
            </a:pPr>
            <a:r>
              <a:t>AIの間違いに気づいた経験はあるか？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5F0E8"/>
                </a:solidFill>
                <a:latin typeface="Georgia"/>
              </a:defRPr>
            </a:pPr>
            <a:r>
              <a:t>持ち帰り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9B3B"/>
                </a:solidFill>
                <a:latin typeface="Calibri"/>
              </a:defRPr>
            </a:pPr>
            <a:r>
              <a:t>来週までの1アクション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7680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5F0E8"/>
                </a:solidFill>
                <a:latin typeface="Calibri"/>
              </a:defRPr>
              <a:buChar char="●"/>
            </a:pPr>
            <a:r>
              <a:t>自分が使っている（または使おうとしている）AIの「評価方法」を調べる</a:t>
            </a:r>
          </a:p>
          <a:p>
            <a:pPr>
              <a:defRPr sz="1300">
                <a:solidFill>
                  <a:srgbClr val="F5F0E8"/>
                </a:solidFill>
                <a:latin typeface="Calibri"/>
              </a:defRPr>
              <a:buChar char="●"/>
            </a:pPr>
            <a:r>
              <a:t>同僚と「AIの答えが自分の判断と違った経験」を共有</a:t>
            </a:r>
          </a:p>
          <a:p>
            <a:pPr>
              <a:defRPr sz="1300">
                <a:solidFill>
                  <a:srgbClr val="F5F0E8"/>
                </a:solidFill>
                <a:latin typeface="Calibri"/>
              </a:defRPr>
              <a:buChar char="●"/>
            </a:pPr>
            <a:r>
              <a:t>「パジャマタイム」がどれくらいあるか、自分で計測してみる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560320"/>
            <a:ext cx="7680960" cy="36576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5F0E8"/>
                </a:solidFill>
                <a:latin typeface="Georgia"/>
              </a:defRPr>
            </a:pPr>
            <a:r>
              <a:t>医師の94%が使っているのに、</a:t>
            </a:r>
            <a:br/>
            <a:r>
              <a:t>「どう安全に使うか」を議論している人はほとんどいない。</a:t>
            </a:r>
            <a:br/>
            <a:br/>
            <a:r>
              <a:t>それを議論できるあなたは、もう一歩先にいる。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