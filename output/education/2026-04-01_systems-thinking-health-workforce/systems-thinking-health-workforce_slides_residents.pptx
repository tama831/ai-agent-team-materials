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Noto Sans CJK JP"/>
              </a:rPr>
              <a:t>複雑性を抱擁する：保健人材強化のためのシステム思考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4B5F6"/>
                </a:solidFill>
                <a:latin typeface="Noto Sans CJK JP"/>
              </a:rPr>
              <a:t>— WHO/NHS England ウェビナー（2026年1月）から学ぶ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B74D"/>
                </a:solidFill>
                <a:latin typeface="Noto Sans CJK JP"/>
              </a:rPr>
              <a:t>対象: 研修医・専攻医 | 15分 | ガニェの9教授事象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4B5F6"/>
                </a:solidFill>
                <a:latin typeface="Noto Sans CJK JP"/>
              </a:rPr>
              <a:t>問いの投げかけ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Noto Sans CJK JP"/>
              </a:rPr>
              <a:t>あなたの患者さん、何個の問題を同時に抱えていますか？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- 75歳の外来患者。糖尿病、高血圧、変形性膝関節症、軽度認知機能低下、独居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内科に行けば「HbA1c下げましょう」、整形に行けば「体重減らしましょう」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**問い**: この患者のケアを「最適化」するとはどういう意味か？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A5D6A7"/>
                </a:solidFill>
                <a:latin typeface="Noto Sans CJK JP"/>
              </a:rPr>
              <a:t>  各専門科が個別に「正しい」ことをしても、全体として患者に最適とは限らない。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A5D6A7"/>
                </a:solidFill>
                <a:latin typeface="Noto Sans CJK JP"/>
              </a:rPr>
              <a:t>  これが**システム思考**が必要な理由です。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4B5F6"/>
                </a:solidFill>
                <a:latin typeface="Noto Sans CJK JP"/>
              </a:rPr>
              <a:t>学習目標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0E0E0"/>
                </a:solidFill>
                <a:latin typeface="Noto Sans CJK JP"/>
              </a:rPr>
              <a:t>この勉強会の後、あなたは：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1. **説明できる**: システム思考の基本概念（フィードバックループ・創発・レバレッジポイント）を自分の言葉で説明できる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2. **分析できる**: 臨床ケースを「システム」として捉え、因果ループ図で可視化できる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3. **設計できる**: 多職種連携を「システム介入」として計画する視点を持てる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A5D6A7"/>
                </a:solidFill>
                <a:latin typeface="Noto Sans CJK JP"/>
              </a:rPr>
              <a:t>  **ブルーム分類法**: 理解 → 分析 → 創造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4B5F6"/>
                </a:solidFill>
                <a:latin typeface="Noto Sans CJK JP"/>
              </a:rPr>
              <a:t>背景知識の確認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B74D"/>
                </a:solidFill>
                <a:latin typeface="Noto Sans CJK JP"/>
              </a:rPr>
              <a:t>あなたが既に知っていること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**多職種連携（IPW: Interprofessional Work）**: 異なる職種が協働するという概念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**生物心理社会モデル（BPS Model）**: 疾患を生物・心理・社会の3軸で捉える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**PDCA サイクル**: Plan-Do-Check-Act の改善ループ</a:t>
            </a:r>
          </a:p>
          <a:p>
            <a:r>
              <a:rPr sz="2200" b="1">
                <a:solidFill>
                  <a:srgbClr val="FFB74D"/>
                </a:solidFill>
                <a:latin typeface="Noto Sans CJK JP"/>
              </a:rPr>
              <a:t>今日はここに「システム」の視点を加えます</a:t>
            </a:r>
          </a:p>
          <a:p>
            <a:r>
              <a:rPr sz="1400" b="0">
                <a:solidFill>
                  <a:srgbClr val="CCCCCC"/>
                </a:solidFill>
                <a:latin typeface="Noto Sans CJK JP"/>
              </a:rPr>
              <a:t>  従来の考え方  |  システム思考</a:t>
            </a:r>
          </a:p>
          <a:p/>
          <a:p>
            <a:r>
              <a:rPr sz="1400" b="0">
                <a:solidFill>
                  <a:srgbClr val="CCCCCC"/>
                </a:solidFill>
                <a:latin typeface="Noto Sans CJK JP"/>
              </a:rPr>
              <a:t>  問題→原因→解決  |  問題→構造→パターン→メンタルモデル</a:t>
            </a:r>
          </a:p>
          <a:p>
            <a:r>
              <a:rPr sz="1400" b="0">
                <a:solidFill>
                  <a:srgbClr val="CCCCCC"/>
                </a:solidFill>
                <a:latin typeface="Noto Sans CJK JP"/>
              </a:rPr>
              <a:t>  部分の最適化  |  全体の最適化</a:t>
            </a:r>
          </a:p>
          <a:p>
            <a:r>
              <a:rPr sz="1400" b="0">
                <a:solidFill>
                  <a:srgbClr val="CCCCCC"/>
                </a:solidFill>
                <a:latin typeface="Noto Sans CJK JP"/>
              </a:rPr>
              <a:t>  線形因果  |  循環因果（フィードバックループ）</a:t>
            </a:r>
          </a:p>
          <a:p>
            <a:r>
              <a:rPr sz="1400" b="0">
                <a:solidFill>
                  <a:srgbClr val="CCCCCC"/>
                </a:solidFill>
                <a:latin typeface="Noto Sans CJK JP"/>
              </a:rPr>
              <a:t>  コントロール  |  影響（influence）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4B5F6"/>
                </a:solidFill>
                <a:latin typeface="Noto Sans CJK JP"/>
              </a:rPr>
              <a:t>WHOの提言 — システム思考とは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B74D"/>
                </a:solidFill>
                <a:latin typeface="Noto Sans CJK JP"/>
              </a:rPr>
              <a:t>WHO/NHS England ウェビナー（2026年1月27日）の核心メッセージ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A5D6A7"/>
                </a:solidFill>
                <a:latin typeface="Noto Sans CJK JP"/>
              </a:rPr>
              <a:t>  「保健人材は孤立した労働力ではなく、**コミュニティ・教育・技術・財政・リーダーシップ**を包むエコシステムの中にある」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A5D6A7"/>
                </a:solidFill>
                <a:latin typeface="Noto Sans CJK JP"/>
              </a:rPr>
              <a:t>  — Working for Health 2030 シリーズ 第1回</a:t>
            </a:r>
          </a:p>
          <a:p>
            <a:r>
              <a:rPr sz="2200" b="1">
                <a:solidFill>
                  <a:srgbClr val="FFB74D"/>
                </a:solidFill>
                <a:latin typeface="Noto Sans CJK JP"/>
              </a:rPr>
              <a:t>3つのパラダイムシフト（WHO/AHPSR, 2009→2026）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1. **部品から関係性へ**: WHO の6つの構成要素（Building Blocks）は独立した部品ではなく、フィードバックループで繋がる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2. **処方的コントロールから反復的学習へ**: トップダウンの「正解」ではなく、ステークホルダーの知恵を引き出す協働プロセス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3. **アウトカム測定から文脈理解へ**: 「何が効くか」だけでなく「誰に、なぜ効くか」を問う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4B5F6"/>
                </a:solidFill>
                <a:latin typeface="Noto Sans CJK JP"/>
              </a:rPr>
              <a:t>システム思考の3つの核心概念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B74D"/>
                </a:solidFill>
                <a:latin typeface="Noto Sans CJK JP"/>
              </a:rPr>
              <a:t>1. フィードバックループ</a:t>
            </a:r>
          </a:p>
          <a:p/>
          <a:p>
            <a:r>
              <a:rPr sz="1600" b="0">
                <a:solidFill>
                  <a:srgbClr val="E0E0E0"/>
                </a:solidFill>
                <a:latin typeface="Noto Sans CJK JP"/>
              </a:rPr>
              <a:t>医師不足 → 一人あたり業務量増加 → バーンアウト → 離職 → さらなる医師不足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↑                                                        ↓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←←←←←←←←←←←←←←←←←←←←←←←←←←←←←←←←←←←←←←←←←←←←←←←←←</a:t>
            </a:r>
          </a:p>
          <a:p/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**強化型ループ（R）**: 変化が変化を加速する（悪循環 or 好循環）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**バランス型ループ（B）**: 変化を安定させる方向に働く（ホメオスタシス）</a:t>
            </a:r>
          </a:p>
          <a:p>
            <a:r>
              <a:rPr sz="2200" b="1">
                <a:solidFill>
                  <a:srgbClr val="FFB74D"/>
                </a:solidFill>
                <a:latin typeface="Noto Sans CJK JP"/>
              </a:rPr>
              <a:t>2. 創発（Emergence）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個々の要素の性質からは予測できない、全体として現れる特性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例: 「優秀な医師」+「優秀な看護師」≠「優秀なチーム医療」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チームの文化、コミュニケーションパターンが「創発」する</a:t>
            </a:r>
          </a:p>
          <a:p>
            <a:r>
              <a:rPr sz="2200" b="1">
                <a:solidFill>
                  <a:srgbClr val="FFB74D"/>
                </a:solidFill>
                <a:latin typeface="Noto Sans CJK JP"/>
              </a:rPr>
              <a:t>3. レバレッジポイント（Donella Meadows）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**小さな介入で大きな変化を生む場所**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薬の増量ではなく、服薬指導の「場」を変えるだけで adherence が改善する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「どこを押すか」ではなく「システムのどこに介入するか」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4B5F6"/>
                </a:solidFill>
                <a:latin typeface="Noto Sans CJK JP"/>
              </a:rPr>
              <a:t>臨床ケースで因果ループ図を描こう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B74D"/>
                </a:solidFill>
                <a:latin typeface="Noto Sans CJK JP"/>
              </a:rPr>
              <a:t>ケース: 退院調整がうまくいかない85歳女性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大腿骨頸部骨折で入院 → 術後リハビリ中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独居、娘は遠方、要介護申請中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退院カンファレンスで「施設入所」と「自宅退院+訪問リハ」で意見が割れる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**ペアワーク（5分）**: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1. このケースに関わる「アクター」を全て書き出す（患者・家族・医師・看護師・PT・MSW・ケアマネ・地域包括…）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2. アクター間の「影響」を矢印で繋ぐ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3. **フィードバックループ**を1つ以上見つける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4. **レバレッジポイント**はどこか？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A5D6A7"/>
                </a:solidFill>
                <a:latin typeface="Noto Sans CJK JP"/>
              </a:rPr>
              <a:t>  ヒント: 「情報の流れ」と「意思決定のタイミング」に注目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4B5F6"/>
                </a:solidFill>
                <a:latin typeface="Noto Sans CJK JP"/>
              </a:rPr>
              <a:t>全体共有とフィードバック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B74D"/>
                </a:solidFill>
                <a:latin typeface="Noto Sans CJK JP"/>
              </a:rPr>
              <a:t>よくある発見パターン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**情報の非対称性ループ**: MSWだけが知っている介護保険情報 → 医師の判断が変わる → でもMSWへの相談タイミングが遅い → 退院延長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**患者の意向が最後に来るループ**: 各職種が「最善」を提案 → 患者に選ばせる → 「お任せします」 → 本当の希望が見えない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**レバレッジポイントの例**: 入院48時間以内にMSWが介入するルール = 情報ループの早期接続</a:t>
            </a:r>
          </a:p>
          <a:p>
            <a:r>
              <a:rPr sz="2200" b="1">
                <a:solidFill>
                  <a:srgbClr val="FFB74D"/>
                </a:solidFill>
                <a:latin typeface="Noto Sans CJK JP"/>
              </a:rPr>
              <a:t>WHOの問いを臨床に翻訳すると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A5D6A7"/>
                </a:solidFill>
                <a:latin typeface="Noto Sans CJK JP"/>
              </a:rPr>
              <a:t>  「どの介入を追加すべきか？」ではなく「システム全体はどう反応するか？」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4B5F6"/>
                </a:solidFill>
                <a:latin typeface="Noto Sans CJK JP"/>
              </a:rPr>
              <a:t>振り返りの問い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0E0E0"/>
                </a:solidFill>
                <a:latin typeface="Noto Sans CJK JP"/>
              </a:rPr>
              <a:t>**1分間リフレクション**（各自で）: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1. 今日の学びで、明日から自分の臨床で**1つだけ変えるとしたら**何か？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2. 自分が関わっている患者ケアの中で、**悪循環のフィードバックループ**が見えるケースはあるか？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3. その悪循環に対する**レバレッジポイント**はどこか？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4B5F6"/>
                </a:solidFill>
                <a:latin typeface="Noto Sans CJK JP"/>
              </a:rPr>
              <a:t>持ち帰りの問い + 参考文献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B74D"/>
                </a:solidFill>
                <a:latin typeface="Noto Sans CJK JP"/>
              </a:rPr>
              <a:t>次のカンファレンスで試してみよう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症例プレゼンのときに「このケースのシステム図」を1枚描いてみる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「なぜうまくいかないか」を**人の能力**ではなく**構造**で説明してみる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多職種カンファレンスで「この介入はシステムの他の部分にどう影響するか？」と問いかけてみる</a:t>
            </a:r>
          </a:p>
          <a:p>
            <a:r>
              <a:rPr sz="2200" b="1">
                <a:solidFill>
                  <a:srgbClr val="FFB74D"/>
                </a:solidFill>
                <a:latin typeface="Noto Sans CJK JP"/>
              </a:rPr>
              <a:t>深めたい人へ</a:t>
            </a:r>
          </a:p>
          <a:p>
            <a:r>
              <a:rPr sz="1400" b="0">
                <a:solidFill>
                  <a:srgbClr val="CCCCCC"/>
                </a:solidFill>
                <a:latin typeface="Noto Sans CJK JP"/>
              </a:rPr>
              <a:t>  リソース  |  ポイント</a:t>
            </a:r>
          </a:p>
          <a:p/>
          <a:p>
            <a:r>
              <a:rPr sz="1400" b="0">
                <a:solidFill>
                  <a:srgbClr val="CCCCCC"/>
                </a:solidFill>
                <a:latin typeface="Noto Sans CJK JP"/>
              </a:rPr>
              <a:t>  WHO — Embracing Complexity (2026)  |  保健人材をエコシステムとして捉える公式フレームワーク</a:t>
            </a:r>
          </a:p>
          <a:p>
            <a:r>
              <a:rPr sz="1400" b="0">
                <a:solidFill>
                  <a:srgbClr val="CCCCCC"/>
                </a:solidFill>
                <a:latin typeface="Noto Sans CJK JP"/>
              </a:rPr>
              <a:t>  Donella Meadows — Thinking in Systems (2008)  |  レバレッジポイントの原典、システム思考のバイブル</a:t>
            </a:r>
          </a:p>
          <a:p>
            <a:r>
              <a:rPr sz="1400" b="0">
                <a:solidFill>
                  <a:srgbClr val="CCCCCC"/>
                </a:solidFill>
                <a:latin typeface="Noto Sans CJK JP"/>
              </a:rPr>
              <a:t>  AHPSR — Systems Thinking for HSS (2009)  |  WHOの10ステップフレームワーク、1,500以上の引用</a:t>
            </a:r>
          </a:p>
          <a:p>
            <a:r>
              <a:rPr sz="1400" b="0">
                <a:solidFill>
                  <a:srgbClr val="CCCCCC"/>
                </a:solidFill>
                <a:latin typeface="Noto Sans CJK JP"/>
              </a:rPr>
              <a:t>  Peter Senge — The Fifth Discipline (1990)  |  学習する組織、5つのディシプリン</a:t>
            </a:r>
          </a:p>
          <a:p>
            <a:r>
              <a:rPr sz="2200" b="1">
                <a:solidFill>
                  <a:srgbClr val="FFB74D"/>
                </a:solidFill>
                <a:latin typeface="Noto Sans CJK JP"/>
              </a:rPr>
              <a:t>ソース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[WHO — Embracing Complexity: Systems Thinking for Health Workforce](https://www.who.int/news-room/events/detail/2026/01/27/default-calendar/embracing-complexity--systems-thinking-for-health-workforce-strengthening)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[AHPSR — Systems thinking for health systems strengthening](https://ahpsr.who.int/newsroom/news/item/02-02-2026-systems-thinking-for-health-systems-strengthening-changing-the-frame)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