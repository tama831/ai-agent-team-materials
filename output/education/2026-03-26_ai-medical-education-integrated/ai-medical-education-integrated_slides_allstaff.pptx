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A5C4F"/>
        </a:solidFill>
        <a:effectLst/>
      </p:bgPr>
    </p:bg>
    <p:spTree>
      <p:nvGrpSpPr>
        <p:cNvPr id="1" name=""/>
        <p:cNvGrpSpPr/>
        <p:nvPr/>
      </p:nvGrpSpPr>
      <p:grpSpPr/>
      <p:sp>
        <p:nvSpPr>
          <p:cNvPr id="2" name="TextBox 1"/>
          <p:cNvSpPr txBox="1"/>
          <p:nvPr/>
        </p:nvSpPr>
        <p:spPr>
          <a:xfrm>
            <a:off x="457200" y="182880"/>
            <a:ext cx="8229600" cy="548640"/>
          </a:xfrm>
          <a:prstGeom prst="rect">
            <a:avLst/>
          </a:prstGeom>
          <a:noFill/>
        </p:spPr>
        <p:txBody>
          <a:bodyPr wrap="square">
            <a:spAutoFit/>
          </a:bodyPr>
          <a:lstStyle/>
          <a:p>
            <a:pPr algn="l">
              <a:defRPr sz="2200" b="1">
                <a:solidFill>
                  <a:srgbClr val="FAF3E8"/>
                </a:solidFill>
                <a:latin typeface="Calibri"/>
              </a:defRPr>
            </a:pPr>
            <a:r>
              <a:t>AI時代の医療者に求められること</a:t>
            </a:r>
          </a:p>
        </p:txBody>
      </p:sp>
      <p:sp>
        <p:nvSpPr>
          <p:cNvPr id="3" name="TextBox 2"/>
          <p:cNvSpPr txBox="1"/>
          <p:nvPr/>
        </p:nvSpPr>
        <p:spPr>
          <a:xfrm>
            <a:off x="548640" y="822960"/>
            <a:ext cx="7772400" cy="320040"/>
          </a:xfrm>
          <a:prstGeom prst="rect">
            <a:avLst/>
          </a:prstGeom>
          <a:noFill/>
        </p:spPr>
        <p:txBody>
          <a:bodyPr wrap="square">
            <a:spAutoFit/>
          </a:bodyPr>
          <a:lstStyle/>
          <a:p>
            <a:pPr algn="l">
              <a:defRPr sz="1100" b="0">
                <a:solidFill>
                  <a:srgbClr val="FAF3E8"/>
                </a:solidFill>
                <a:latin typeface="Calibri"/>
              </a:defRPr>
            </a:pPr>
            <a:r>
              <a:t>対象: 全スタッフ（看護師・介護士・事務職員を含む）</a:t>
            </a:r>
          </a:p>
        </p:txBody>
      </p:sp>
      <p:sp>
        <p:nvSpPr>
          <p:cNvPr id="4" name="TextBox 3"/>
          <p:cNvSpPr txBox="1"/>
          <p:nvPr/>
        </p:nvSpPr>
        <p:spPr>
          <a:xfrm>
            <a:off x="548640" y="1143000"/>
            <a:ext cx="7772400" cy="320040"/>
          </a:xfrm>
          <a:prstGeom prst="rect">
            <a:avLst/>
          </a:prstGeom>
          <a:noFill/>
        </p:spPr>
        <p:txBody>
          <a:bodyPr wrap="square">
            <a:spAutoFit/>
          </a:bodyPr>
          <a:lstStyle/>
          <a:p>
            <a:pPr algn="l">
              <a:defRPr sz="1100" b="0">
                <a:solidFill>
                  <a:srgbClr val="FAF3E8"/>
                </a:solidFill>
                <a:latin typeface="Calibri"/>
              </a:defRPr>
            </a:pPr>
            <a:r>
              <a:t>時間: 15分</a:t>
            </a:r>
          </a:p>
        </p:txBody>
      </p:sp>
      <p:sp>
        <p:nvSpPr>
          <p:cNvPr id="5" name="TextBox 4"/>
          <p:cNvSpPr txBox="1"/>
          <p:nvPr/>
        </p:nvSpPr>
        <p:spPr>
          <a:xfrm>
            <a:off x="548640" y="1463040"/>
            <a:ext cx="7772400" cy="320040"/>
          </a:xfrm>
          <a:prstGeom prst="rect">
            <a:avLst/>
          </a:prstGeom>
          <a:noFill/>
        </p:spPr>
        <p:txBody>
          <a:bodyPr wrap="square">
            <a:spAutoFit/>
          </a:bodyPr>
          <a:lstStyle/>
          <a:p>
            <a:pPr algn="l">
              <a:defRPr sz="1100" b="0">
                <a:solidFill>
                  <a:srgbClr val="FAF3E8"/>
                </a:solidFill>
                <a:latin typeface="Calibri"/>
              </a:defRPr>
            </a:pPr>
            <a:r>
              <a:t>日付: 2026-03-26</a:t>
            </a:r>
          </a:p>
        </p:txBody>
      </p:sp>
      <p:sp>
        <p:nvSpPr>
          <p:cNvPr id="6" name="TextBox 5"/>
          <p:cNvSpPr txBox="1"/>
          <p:nvPr/>
        </p:nvSpPr>
        <p:spPr>
          <a:xfrm>
            <a:off x="548640" y="1783080"/>
            <a:ext cx="7772400" cy="320040"/>
          </a:xfrm>
          <a:prstGeom prst="rect">
            <a:avLst/>
          </a:prstGeom>
          <a:noFill/>
        </p:spPr>
        <p:txBody>
          <a:bodyPr wrap="square">
            <a:spAutoFit/>
          </a:bodyPr>
          <a:lstStyle/>
          <a:p>
            <a:pPr algn="l">
              <a:defRPr sz="1100" b="0">
                <a:solidFill>
                  <a:srgbClr val="FAF3E8"/>
                </a:solidFill>
                <a:latin typeface="Calibri"/>
              </a:defRPr>
            </a:pPr>
            <a:r>
              <a:t>IDモデル: ガニェの9教授事象</a:t>
            </a:r>
          </a:p>
        </p:txBody>
      </p:sp>
      <p:sp>
        <p:nvSpPr>
          <p:cNvPr id="7" name="TextBox 6"/>
          <p:cNvSpPr txBox="1"/>
          <p:nvPr/>
        </p:nvSpPr>
        <p:spPr>
          <a:xfrm>
            <a:off x="548640" y="2103120"/>
            <a:ext cx="7772400" cy="320040"/>
          </a:xfrm>
          <a:prstGeom prst="rect">
            <a:avLst/>
          </a:prstGeom>
          <a:noFill/>
        </p:spPr>
        <p:txBody>
          <a:bodyPr wrap="square">
            <a:spAutoFit/>
          </a:bodyPr>
          <a:lstStyle/>
          <a:p>
            <a:pPr algn="l">
              <a:defRPr sz="1100" b="0">
                <a:solidFill>
                  <a:srgbClr val="FAF3E8"/>
                </a:solidFill>
                <a:latin typeface="Calibri"/>
              </a:defRPr>
            </a:pPr>
            <a:r>
              <a:t>ブルーム: 理解 → 適用 → 評価</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3E8"/>
        </a:solidFill>
        <a:effectLst/>
      </p:bgPr>
    </p:bg>
    <p:spTree>
      <p:nvGrpSpPr>
        <p:cNvPr id="1" name=""/>
        <p:cNvGrpSpPr/>
        <p:nvPr/>
      </p:nvGrpSpPr>
      <p:grpSpPr/>
      <p:sp>
        <p:nvSpPr>
          <p:cNvPr id="2" name="TextBox 1"/>
          <p:cNvSpPr txBox="1"/>
          <p:nvPr/>
        </p:nvSpPr>
        <p:spPr>
          <a:xfrm>
            <a:off x="457200" y="182880"/>
            <a:ext cx="8229600" cy="548640"/>
          </a:xfrm>
          <a:prstGeom prst="rect">
            <a:avLst/>
          </a:prstGeom>
          <a:noFill/>
        </p:spPr>
        <p:txBody>
          <a:bodyPr wrap="square">
            <a:spAutoFit/>
          </a:bodyPr>
          <a:lstStyle/>
          <a:p>
            <a:pPr algn="l">
              <a:defRPr sz="2200" b="1">
                <a:solidFill>
                  <a:srgbClr val="3A3A3A"/>
                </a:solidFill>
                <a:latin typeface="Calibri"/>
              </a:defRPr>
            </a:pPr>
            <a:r>
              <a:t>スライド1: 知っていますか？この数字（0-2分）</a:t>
            </a:r>
          </a:p>
        </p:txBody>
      </p:sp>
      <p:sp>
        <p:nvSpPr>
          <p:cNvPr id="3" name="Rectangle 2"/>
          <p:cNvSpPr/>
          <p:nvPr/>
        </p:nvSpPr>
        <p:spPr>
          <a:xfrm>
            <a:off x="548640" y="822960"/>
            <a:ext cx="54864" cy="457200"/>
          </a:xfrm>
          <a:prstGeom prst="rect">
            <a:avLst/>
          </a:prstGeom>
          <a:solidFill>
            <a:srgbClr val="D47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822960"/>
            <a:ext cx="7662672" cy="457200"/>
          </a:xfrm>
          <a:prstGeom prst="rect">
            <a:avLst/>
          </a:prstGeom>
          <a:solidFill>
            <a:srgbClr val="FFFFFF"/>
          </a:solidFill>
          <a:ln w="12700">
            <a:solidFill>
              <a:srgbClr val="A7BE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7406640" cy="310896"/>
          </a:xfrm>
          <a:prstGeom prst="rect">
            <a:avLst/>
          </a:prstGeom>
          <a:noFill/>
        </p:spPr>
        <p:txBody>
          <a:bodyPr wrap="square">
            <a:spAutoFit/>
          </a:bodyPr>
          <a:lstStyle/>
          <a:p>
            <a:pPr algn="l">
              <a:defRPr sz="1100" b="0">
                <a:solidFill>
                  <a:srgbClr val="3A3A3A"/>
                </a:solidFill>
                <a:latin typeface="Georgia"/>
              </a:defRPr>
            </a:pPr>
            <a:r>
              <a:t>「病院でAIを使っている医師が、80%を超えました。」</a:t>
            </a:r>
            <a:br/>
            <a:r>
              <a:t>— AMA（アメリカ医師会）2026年調査より</a:t>
            </a:r>
          </a:p>
        </p:txBody>
      </p:sp>
      <p:sp>
        <p:nvSpPr>
          <p:cNvPr id="6" name="TextBox 5"/>
          <p:cNvSpPr txBox="1"/>
          <p:nvPr/>
        </p:nvSpPr>
        <p:spPr>
          <a:xfrm>
            <a:off x="548640" y="1417320"/>
            <a:ext cx="7772400" cy="640080"/>
          </a:xfrm>
          <a:prstGeom prst="rect">
            <a:avLst/>
          </a:prstGeom>
          <a:noFill/>
        </p:spPr>
        <p:txBody>
          <a:bodyPr wrap="square">
            <a:spAutoFit/>
          </a:bodyPr>
          <a:lstStyle/>
          <a:p>
            <a:pPr>
              <a:defRPr sz="1200">
                <a:solidFill>
                  <a:srgbClr val="3A3A3A"/>
                </a:solidFill>
                <a:latin typeface="Calibri"/>
              </a:defRPr>
              <a:buChar char="●"/>
            </a:pPr>
            <a:r>
              <a:t>2023年には約40%だったのが、たった3年で2倍に</a:t>
            </a:r>
          </a:p>
          <a:p>
            <a:pPr>
              <a:defRPr sz="1200">
                <a:solidFill>
                  <a:srgbClr val="3A3A3A"/>
                </a:solidFill>
                <a:latin typeface="Calibri"/>
              </a:defRPr>
              <a:buChar char="●"/>
            </a:pPr>
            <a:r>
              <a:t>そのうち76%以上が「AIのおかげで診療の質が上がった」と回答</a:t>
            </a:r>
          </a:p>
        </p:txBody>
      </p:sp>
      <p:sp>
        <p:nvSpPr>
          <p:cNvPr id="7" name="Rectangle 6"/>
          <p:cNvSpPr/>
          <p:nvPr/>
        </p:nvSpPr>
        <p:spPr>
          <a:xfrm>
            <a:off x="548640" y="2148840"/>
            <a:ext cx="54864" cy="630326"/>
          </a:xfrm>
          <a:prstGeom prst="rect">
            <a:avLst/>
          </a:prstGeom>
          <a:solidFill>
            <a:srgbClr val="D47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148840"/>
            <a:ext cx="7662672" cy="630326"/>
          </a:xfrm>
          <a:prstGeom prst="rect">
            <a:avLst/>
          </a:prstGeom>
          <a:solidFill>
            <a:srgbClr val="FFFFFF"/>
          </a:solidFill>
          <a:ln w="12700">
            <a:solidFill>
              <a:srgbClr val="A7BE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21992"/>
            <a:ext cx="7406640" cy="484022"/>
          </a:xfrm>
          <a:prstGeom prst="rect">
            <a:avLst/>
          </a:prstGeom>
          <a:noFill/>
        </p:spPr>
        <p:txBody>
          <a:bodyPr wrap="square">
            <a:spAutoFit/>
          </a:bodyPr>
          <a:lstStyle/>
          <a:p>
            <a:pPr algn="l">
              <a:defRPr sz="1100" b="0">
                <a:solidFill>
                  <a:srgbClr val="3A3A3A"/>
                </a:solidFill>
                <a:latin typeface="Georgia"/>
              </a:defRPr>
            </a:pPr>
            <a:r>
              <a:t>「AIはもう"未来の話"ではなく、"今の話"です。</a:t>
            </a:r>
            <a:br/>
            <a:r>
              <a:t>でも、AIって本当にすごいの？ 怖くないの？</a:t>
            </a:r>
            <a:br/>
            <a:r>
              <a:t>今日の15分で、一緒に考えましょう。」</a:t>
            </a:r>
          </a:p>
        </p:txBody>
      </p:sp>
      <p:sp>
        <p:nvSpPr>
          <p:cNvPr id="10" name="TextBox 9"/>
          <p:cNvSpPr txBox="1"/>
          <p:nvPr/>
        </p:nvSpPr>
        <p:spPr>
          <a:xfrm>
            <a:off x="548640" y="2916326"/>
            <a:ext cx="7772400" cy="320040"/>
          </a:xfrm>
          <a:prstGeom prst="rect">
            <a:avLst/>
          </a:prstGeom>
          <a:noFill/>
        </p:spPr>
        <p:txBody>
          <a:bodyPr wrap="square">
            <a:spAutoFit/>
          </a:bodyPr>
          <a:lstStyle/>
          <a:p>
            <a:pPr algn="l">
              <a:defRPr sz="1100" b="0">
                <a:solidFill>
                  <a:srgbClr val="3A3A3A"/>
                </a:solidFill>
                <a:latin typeface="Calibri"/>
              </a:defRPr>
            </a:pPr>
            <a:r>
              <a:t>この15分の後、あなたは：</a:t>
            </a:r>
          </a:p>
        </p:txBody>
      </p:sp>
      <p:sp>
        <p:nvSpPr>
          <p:cNvPr id="11" name="TextBox 10"/>
          <p:cNvSpPr txBox="1"/>
          <p:nvPr/>
        </p:nvSpPr>
        <p:spPr>
          <a:xfrm>
            <a:off x="548640" y="3236366"/>
            <a:ext cx="7772400" cy="914399"/>
          </a:xfrm>
          <a:prstGeom prst="rect">
            <a:avLst/>
          </a:prstGeom>
          <a:noFill/>
        </p:spPr>
        <p:txBody>
          <a:bodyPr wrap="square">
            <a:spAutoFit/>
          </a:bodyPr>
          <a:lstStyle/>
          <a:p>
            <a:pPr>
              <a:defRPr sz="1200">
                <a:solidFill>
                  <a:srgbClr val="3A3A3A"/>
                </a:solidFill>
                <a:latin typeface="Calibri"/>
              </a:defRPr>
              <a:buChar char="●"/>
            </a:pPr>
            <a:r>
              <a:t>AIの得意なこと・苦手なことがわかる</a:t>
            </a:r>
          </a:p>
          <a:p>
            <a:pPr>
              <a:defRPr sz="1200">
                <a:solidFill>
                  <a:srgbClr val="3A3A3A"/>
                </a:solidFill>
                <a:latin typeface="Calibri"/>
              </a:defRPr>
              <a:buChar char="●"/>
            </a:pPr>
            <a:r>
              <a:t>AIが間違える理由をイメージできる</a:t>
            </a:r>
          </a:p>
          <a:p>
            <a:pPr>
              <a:defRPr sz="1200">
                <a:solidFill>
                  <a:srgbClr val="3A3A3A"/>
                </a:solidFill>
                <a:latin typeface="Calibri"/>
              </a:defRPr>
              <a:buChar char="●"/>
            </a:pPr>
            <a:r>
              <a:t>自分の仕事でAIとどう付き合うか考えられる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A5C4F"/>
        </a:solidFill>
        <a:effectLst/>
      </p:bgPr>
    </p:bg>
    <p:spTree>
      <p:nvGrpSpPr>
        <p:cNvPr id="1" name=""/>
        <p:cNvGrpSpPr/>
        <p:nvPr/>
      </p:nvGrpSpPr>
      <p:grpSpPr/>
      <p:sp>
        <p:nvSpPr>
          <p:cNvPr id="2" name="TextBox 1"/>
          <p:cNvSpPr txBox="1"/>
          <p:nvPr/>
        </p:nvSpPr>
        <p:spPr>
          <a:xfrm>
            <a:off x="457200" y="182880"/>
            <a:ext cx="8229600" cy="548640"/>
          </a:xfrm>
          <a:prstGeom prst="rect">
            <a:avLst/>
          </a:prstGeom>
          <a:noFill/>
        </p:spPr>
        <p:txBody>
          <a:bodyPr wrap="square">
            <a:spAutoFit/>
          </a:bodyPr>
          <a:lstStyle/>
          <a:p>
            <a:pPr algn="l">
              <a:defRPr sz="2200" b="1">
                <a:solidFill>
                  <a:srgbClr val="FAF3E8"/>
                </a:solidFill>
                <a:latin typeface="Calibri"/>
              </a:defRPr>
            </a:pPr>
            <a:r>
              <a:t>スライド2: AIの「得意」と「苦手」（2-5分）</a:t>
            </a:r>
          </a:p>
        </p:txBody>
      </p:sp>
      <p:graphicFrame>
        <p:nvGraphicFramePr>
          <p:cNvPr id="3" name="Table 2"/>
          <p:cNvGraphicFramePr>
            <a:graphicFrameLocks noGrp="1"/>
          </p:cNvGraphicFramePr>
          <p:nvPr/>
        </p:nvGraphicFramePr>
        <p:xfrm>
          <a:off x="548640" y="822960"/>
          <a:ext cx="7772400" cy="1645919"/>
        </p:xfrm>
        <a:graphic>
          <a:graphicData uri="http://schemas.openxmlformats.org/drawingml/2006/table">
            <a:tbl>
              <a:tblPr firstRow="1" bandRow="1">
                <a:tableStyleId>{5C22544A-7EE6-4342-B048-85BDC9FD1C3A}</a:tableStyleId>
              </a:tblPr>
              <a:tblGrid>
                <a:gridCol w="3886200"/>
                <a:gridCol w="3886200"/>
              </a:tblGrid>
              <a:tr h="274319">
                <a:tc>
                  <a:txBody>
                    <a:bodyPr/>
                    <a:lstStyle/>
                    <a:p>
                      <a:pPr>
                        <a:defRPr sz="900" b="1">
                          <a:solidFill>
                            <a:srgbClr val="FAF3E8"/>
                          </a:solidFill>
                          <a:latin typeface="Calibri"/>
                        </a:defRPr>
                      </a:pPr>
                      <a:r>
                        <a:t>AIの得意技</a:t>
                      </a:r>
                    </a:p>
                  </a:txBody>
                  <a:tcPr>
                    <a:solidFill>
                      <a:srgbClr val="7A5C4F"/>
                    </a:solidFill>
                  </a:tcPr>
                </a:tc>
                <a:tc>
                  <a:txBody>
                    <a:bodyPr/>
                    <a:lstStyle/>
                    <a:p>
                      <a:pPr>
                        <a:defRPr sz="900" b="1">
                          <a:solidFill>
                            <a:srgbClr val="FAF3E8"/>
                          </a:solidFill>
                          <a:latin typeface="Calibri"/>
                        </a:defRPr>
                      </a:pPr>
                      <a:r>
                        <a:t>身近な例え</a:t>
                      </a:r>
                    </a:p>
                  </a:txBody>
                  <a:tcPr>
                    <a:solidFill>
                      <a:srgbClr val="7A5C4F"/>
                    </a:solidFill>
                  </a:tcPr>
                </a:tc>
              </a:tr>
              <a:tr h="274319">
                <a:tc>
                  <a:txBody>
                    <a:bodyPr/>
                    <a:lstStyle/>
                    <a:p>
                      <a:pPr>
                        <a:defRPr sz="900">
                          <a:solidFill>
                            <a:srgbClr val="3A3A3A"/>
                          </a:solidFill>
                          <a:latin typeface="Calibri"/>
                        </a:defRPr>
                      </a:pPr>
                      <a:r>
                        <a:t>-----------</a:t>
                      </a:r>
                    </a:p>
                  </a:txBody>
                  <a:tcPr>
                    <a:solidFill>
                      <a:srgbClr val="F5EEE5"/>
                    </a:solidFill>
                  </a:tcPr>
                </a:tc>
                <a:tc>
                  <a:txBody>
                    <a:bodyPr/>
                    <a:lstStyle/>
                    <a:p>
                      <a:pPr>
                        <a:defRPr sz="900">
                          <a:solidFill>
                            <a:srgbClr val="3A3A3A"/>
                          </a:solidFill>
                          <a:latin typeface="Calibri"/>
                        </a:defRPr>
                      </a:pPr>
                      <a:r>
                        <a:t>-----------</a:t>
                      </a:r>
                    </a:p>
                  </a:txBody>
                  <a:tcPr>
                    <a:solidFill>
                      <a:srgbClr val="F5EEE5"/>
                    </a:solidFill>
                  </a:tcPr>
                </a:tc>
              </a:tr>
              <a:tr h="274319">
                <a:tc>
                  <a:txBody>
                    <a:bodyPr/>
                    <a:lstStyle/>
                    <a:p>
                      <a:pPr>
                        <a:defRPr sz="900">
                          <a:solidFill>
                            <a:srgbClr val="3A3A3A"/>
                          </a:solidFill>
                          <a:latin typeface="Calibri"/>
                        </a:defRPr>
                      </a:pPr>
                      <a:r>
                        <a:t>大量のデータを素早く処理</a:t>
                      </a:r>
                    </a:p>
                  </a:txBody>
                  <a:tcPr>
                    <a:solidFill>
                      <a:srgbClr val="FAF3E8"/>
                    </a:solidFill>
                  </a:tcPr>
                </a:tc>
                <a:tc>
                  <a:txBody>
                    <a:bodyPr/>
                    <a:lstStyle/>
                    <a:p>
                      <a:pPr>
                        <a:defRPr sz="900">
                          <a:solidFill>
                            <a:srgbClr val="3A3A3A"/>
                          </a:solidFill>
                          <a:latin typeface="Calibri"/>
                        </a:defRPr>
                      </a:pPr>
                      <a:r>
                        <a:t>何万冊の本を一瞬で検索できる図書館司書</a:t>
                      </a:r>
                    </a:p>
                  </a:txBody>
                  <a:tcPr>
                    <a:solidFill>
                      <a:srgbClr val="FAF3E8"/>
                    </a:solidFill>
                  </a:tcPr>
                </a:tc>
              </a:tr>
              <a:tr h="274319">
                <a:tc>
                  <a:txBody>
                    <a:bodyPr/>
                    <a:lstStyle/>
                    <a:p>
                      <a:pPr>
                        <a:defRPr sz="900">
                          <a:solidFill>
                            <a:srgbClr val="3A3A3A"/>
                          </a:solidFill>
                          <a:latin typeface="Calibri"/>
                        </a:defRPr>
                      </a:pPr>
                      <a:r>
                        <a:t>パターンを見つける</a:t>
                      </a:r>
                    </a:p>
                  </a:txBody>
                  <a:tcPr>
                    <a:solidFill>
                      <a:srgbClr val="F5EEE5"/>
                    </a:solidFill>
                  </a:tcPr>
                </a:tc>
                <a:tc>
                  <a:txBody>
                    <a:bodyPr/>
                    <a:lstStyle/>
                    <a:p>
                      <a:pPr>
                        <a:defRPr sz="900">
                          <a:solidFill>
                            <a:srgbClr val="3A3A3A"/>
                          </a:solidFill>
                          <a:latin typeface="Calibri"/>
                        </a:defRPr>
                      </a:pPr>
                      <a:r>
                        <a:t>「この検査値の組み合わせは要注意」と気づく</a:t>
                      </a:r>
                    </a:p>
                  </a:txBody>
                  <a:tcPr>
                    <a:solidFill>
                      <a:srgbClr val="F5EEE5"/>
                    </a:solidFill>
                  </a:tcPr>
                </a:tc>
              </a:tr>
              <a:tr h="274319">
                <a:tc>
                  <a:txBody>
                    <a:bodyPr/>
                    <a:lstStyle/>
                    <a:p>
                      <a:pPr>
                        <a:defRPr sz="900">
                          <a:solidFill>
                            <a:srgbClr val="3A3A3A"/>
                          </a:solidFill>
                          <a:latin typeface="Calibri"/>
                        </a:defRPr>
                      </a:pPr>
                      <a:r>
                        <a:t>24時間休まず働く</a:t>
                      </a:r>
                    </a:p>
                  </a:txBody>
                  <a:tcPr>
                    <a:solidFill>
                      <a:srgbClr val="FAF3E8"/>
                    </a:solidFill>
                  </a:tcPr>
                </a:tc>
                <a:tc>
                  <a:txBody>
                    <a:bodyPr/>
                    <a:lstStyle/>
                    <a:p>
                      <a:pPr>
                        <a:defRPr sz="900">
                          <a:solidFill>
                            <a:srgbClr val="3A3A3A"/>
                          </a:solidFill>
                          <a:latin typeface="Calibri"/>
                        </a:defRPr>
                      </a:pPr>
                      <a:r>
                        <a:t>夜勤も疲れも関係なし</a:t>
                      </a:r>
                    </a:p>
                  </a:txBody>
                  <a:tcPr>
                    <a:solidFill>
                      <a:srgbClr val="FAF3E8"/>
                    </a:solidFill>
                  </a:tcPr>
                </a:tc>
              </a:tr>
              <a:tr h="274324">
                <a:tc>
                  <a:txBody>
                    <a:bodyPr/>
                    <a:lstStyle/>
                    <a:p>
                      <a:pPr>
                        <a:defRPr sz="900">
                          <a:solidFill>
                            <a:srgbClr val="3A3A3A"/>
                          </a:solidFill>
                          <a:latin typeface="Calibri"/>
                        </a:defRPr>
                      </a:pPr>
                      <a:r>
                        <a:t>同じ作業を正確に繰り返す</a:t>
                      </a:r>
                    </a:p>
                  </a:txBody>
                  <a:tcPr>
                    <a:solidFill>
                      <a:srgbClr val="F5EEE5"/>
                    </a:solidFill>
                  </a:tcPr>
                </a:tc>
                <a:tc>
                  <a:txBody>
                    <a:bodyPr/>
                    <a:lstStyle/>
                    <a:p>
                      <a:pPr>
                        <a:defRPr sz="900">
                          <a:solidFill>
                            <a:srgbClr val="3A3A3A"/>
                          </a:solidFill>
                          <a:latin typeface="Calibri"/>
                        </a:defRPr>
                      </a:pPr>
                      <a:r>
                        <a:t>書類の転記やデータ入力のプロ</a:t>
                      </a:r>
                    </a:p>
                  </a:txBody>
                  <a:tcPr>
                    <a:solidFill>
                      <a:srgbClr val="F5EEE5"/>
                    </a:solidFill>
                  </a:tcPr>
                </a:tc>
              </a:tr>
            </a:tbl>
          </a:graphicData>
        </a:graphic>
      </p:graphicFrame>
      <p:graphicFrame>
        <p:nvGraphicFramePr>
          <p:cNvPr id="4" name="Table 3"/>
          <p:cNvGraphicFramePr>
            <a:graphicFrameLocks noGrp="1"/>
          </p:cNvGraphicFramePr>
          <p:nvPr/>
        </p:nvGraphicFramePr>
        <p:xfrm>
          <a:off x="548640" y="2606039"/>
          <a:ext cx="7772400" cy="1645919"/>
        </p:xfrm>
        <a:graphic>
          <a:graphicData uri="http://schemas.openxmlformats.org/drawingml/2006/table">
            <a:tbl>
              <a:tblPr firstRow="1" bandRow="1">
                <a:tableStyleId>{5C22544A-7EE6-4342-B048-85BDC9FD1C3A}</a:tableStyleId>
              </a:tblPr>
              <a:tblGrid>
                <a:gridCol w="3886200"/>
                <a:gridCol w="3886200"/>
              </a:tblGrid>
              <a:tr h="274319">
                <a:tc>
                  <a:txBody>
                    <a:bodyPr/>
                    <a:lstStyle/>
                    <a:p>
                      <a:pPr>
                        <a:defRPr sz="900" b="1">
                          <a:solidFill>
                            <a:srgbClr val="FAF3E8"/>
                          </a:solidFill>
                          <a:latin typeface="Calibri"/>
                        </a:defRPr>
                      </a:pPr>
                      <a:r>
                        <a:t>AIの苦手</a:t>
                      </a:r>
                    </a:p>
                  </a:txBody>
                  <a:tcPr>
                    <a:solidFill>
                      <a:srgbClr val="7A5C4F"/>
                    </a:solidFill>
                  </a:tcPr>
                </a:tc>
                <a:tc>
                  <a:txBody>
                    <a:bodyPr/>
                    <a:lstStyle/>
                    <a:p>
                      <a:pPr>
                        <a:defRPr sz="900" b="1">
                          <a:solidFill>
                            <a:srgbClr val="FAF3E8"/>
                          </a:solidFill>
                          <a:latin typeface="Calibri"/>
                        </a:defRPr>
                      </a:pPr>
                      <a:r>
                        <a:t>なぜ苦手？</a:t>
                      </a:r>
                    </a:p>
                  </a:txBody>
                  <a:tcPr>
                    <a:solidFill>
                      <a:srgbClr val="7A5C4F"/>
                    </a:solidFill>
                  </a:tcPr>
                </a:tc>
              </a:tr>
              <a:tr h="274319">
                <a:tc>
                  <a:txBody>
                    <a:bodyPr/>
                    <a:lstStyle/>
                    <a:p>
                      <a:pPr>
                        <a:defRPr sz="900">
                          <a:solidFill>
                            <a:srgbClr val="3A3A3A"/>
                          </a:solidFill>
                          <a:latin typeface="Calibri"/>
                        </a:defRPr>
                      </a:pPr>
                      <a:r>
                        <a:t>---------</a:t>
                      </a:r>
                    </a:p>
                  </a:txBody>
                  <a:tcPr>
                    <a:solidFill>
                      <a:srgbClr val="F5EEE5"/>
                    </a:solidFill>
                  </a:tcPr>
                </a:tc>
                <a:tc>
                  <a:txBody>
                    <a:bodyPr/>
                    <a:lstStyle/>
                    <a:p>
                      <a:pPr>
                        <a:defRPr sz="900">
                          <a:solidFill>
                            <a:srgbClr val="3A3A3A"/>
                          </a:solidFill>
                          <a:latin typeface="Calibri"/>
                        </a:defRPr>
                      </a:pPr>
                      <a:r>
                        <a:t>-----------</a:t>
                      </a:r>
                    </a:p>
                  </a:txBody>
                  <a:tcPr>
                    <a:solidFill>
                      <a:srgbClr val="F5EEE5"/>
                    </a:solidFill>
                  </a:tcPr>
                </a:tc>
              </a:tr>
              <a:tr h="274319">
                <a:tc>
                  <a:txBody>
                    <a:bodyPr/>
                    <a:lstStyle/>
                    <a:p>
                      <a:pPr>
                        <a:defRPr sz="900">
                          <a:solidFill>
                            <a:srgbClr val="3A3A3A"/>
                          </a:solidFill>
                          <a:latin typeface="Calibri"/>
                        </a:defRPr>
                      </a:pPr>
                      <a:r>
                        <a:t>人の気持ちを理解する</a:t>
                      </a:r>
                    </a:p>
                  </a:txBody>
                  <a:tcPr>
                    <a:solidFill>
                      <a:srgbClr val="FAF3E8"/>
                    </a:solidFill>
                  </a:tcPr>
                </a:tc>
                <a:tc>
                  <a:txBody>
                    <a:bodyPr/>
                    <a:lstStyle/>
                    <a:p>
                      <a:pPr>
                        <a:defRPr sz="900">
                          <a:solidFill>
                            <a:srgbClr val="3A3A3A"/>
                          </a:solidFill>
                          <a:latin typeface="Calibri"/>
                        </a:defRPr>
                      </a:pPr>
                      <a:r>
                        <a:t>「不安そうな表情」「声のトーン」は数字にできない</a:t>
                      </a:r>
                    </a:p>
                  </a:txBody>
                  <a:tcPr>
                    <a:solidFill>
                      <a:srgbClr val="FAF3E8"/>
                    </a:solidFill>
                  </a:tcPr>
                </a:tc>
              </a:tr>
              <a:tr h="274319">
                <a:tc>
                  <a:txBody>
                    <a:bodyPr/>
                    <a:lstStyle/>
                    <a:p>
                      <a:pPr>
                        <a:defRPr sz="900">
                          <a:solidFill>
                            <a:srgbClr val="3A3A3A"/>
                          </a:solidFill>
                          <a:latin typeface="Calibri"/>
                        </a:defRPr>
                      </a:pPr>
                      <a:r>
                        <a:t>文脈を読む</a:t>
                      </a:r>
                    </a:p>
                  </a:txBody>
                  <a:tcPr>
                    <a:solidFill>
                      <a:srgbClr val="F5EEE5"/>
                    </a:solidFill>
                  </a:tcPr>
                </a:tc>
                <a:tc>
                  <a:txBody>
                    <a:bodyPr/>
                    <a:lstStyle/>
                    <a:p>
                      <a:pPr>
                        <a:defRPr sz="900">
                          <a:solidFill>
                            <a:srgbClr val="3A3A3A"/>
                          </a:solidFill>
                          <a:latin typeface="Calibri"/>
                        </a:defRPr>
                      </a:pPr>
                      <a:r>
                        <a:t>「この患者さんは家族との関係が複雑で...」が伝わらない</a:t>
                      </a:r>
                    </a:p>
                  </a:txBody>
                  <a:tcPr>
                    <a:solidFill>
                      <a:srgbClr val="F5EEE5"/>
                    </a:solidFill>
                  </a:tcPr>
                </a:tc>
              </a:tr>
              <a:tr h="274319">
                <a:tc>
                  <a:txBody>
                    <a:bodyPr/>
                    <a:lstStyle/>
                    <a:p>
                      <a:pPr>
                        <a:defRPr sz="900">
                          <a:solidFill>
                            <a:srgbClr val="3A3A3A"/>
                          </a:solidFill>
                          <a:latin typeface="Calibri"/>
                        </a:defRPr>
                      </a:pPr>
                      <a:r>
                        <a:t>責任を取る</a:t>
                      </a:r>
                    </a:p>
                  </a:txBody>
                  <a:tcPr>
                    <a:solidFill>
                      <a:srgbClr val="FAF3E8"/>
                    </a:solidFill>
                  </a:tcPr>
                </a:tc>
                <a:tc>
                  <a:txBody>
                    <a:bodyPr/>
                    <a:lstStyle/>
                    <a:p>
                      <a:pPr>
                        <a:defRPr sz="900">
                          <a:solidFill>
                            <a:srgbClr val="3A3A3A"/>
                          </a:solidFill>
                          <a:latin typeface="Calibri"/>
                        </a:defRPr>
                      </a:pPr>
                      <a:r>
                        <a:t>判断の最終責任は必ず人間にある</a:t>
                      </a:r>
                    </a:p>
                  </a:txBody>
                  <a:tcPr>
                    <a:solidFill>
                      <a:srgbClr val="FAF3E8"/>
                    </a:solidFill>
                  </a:tcPr>
                </a:tc>
              </a:tr>
              <a:tr h="274324">
                <a:tc>
                  <a:txBody>
                    <a:bodyPr/>
                    <a:lstStyle/>
                    <a:p>
                      <a:pPr>
                        <a:defRPr sz="900">
                          <a:solidFill>
                            <a:srgbClr val="3A3A3A"/>
                          </a:solidFill>
                          <a:latin typeface="Calibri"/>
                        </a:defRPr>
                      </a:pPr>
                      <a:r>
                        <a:t>「なんとなくおかしい」に気づく</a:t>
                      </a:r>
                    </a:p>
                  </a:txBody>
                  <a:tcPr>
                    <a:solidFill>
                      <a:srgbClr val="F5EEE5"/>
                    </a:solidFill>
                  </a:tcPr>
                </a:tc>
                <a:tc>
                  <a:txBody>
                    <a:bodyPr/>
                    <a:lstStyle/>
                    <a:p>
                      <a:pPr>
                        <a:defRPr sz="900">
                          <a:solidFill>
                            <a:srgbClr val="3A3A3A"/>
                          </a:solidFill>
                          <a:latin typeface="Calibri"/>
                        </a:defRPr>
                      </a:pPr>
                      <a:r>
                        <a:t>ベテランの直感や経験は数値化できない</a:t>
                      </a:r>
                    </a:p>
                  </a:txBody>
                  <a:tcPr>
                    <a:solidFill>
                      <a:srgbClr val="F5EEE5"/>
                    </a:solidFill>
                  </a:tcPr>
                </a:tc>
              </a:tr>
            </a:tbl>
          </a:graphicData>
        </a:graphic>
      </p:graphicFrame>
      <p:sp>
        <p:nvSpPr>
          <p:cNvPr id="5" name="Rectangle 4"/>
          <p:cNvSpPr/>
          <p:nvPr/>
        </p:nvSpPr>
        <p:spPr>
          <a:xfrm>
            <a:off x="548640" y="4389119"/>
            <a:ext cx="54864" cy="182880"/>
          </a:xfrm>
          <a:prstGeom prst="rect">
            <a:avLst/>
          </a:prstGeom>
          <a:solidFill>
            <a:srgbClr val="D47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4389119"/>
            <a:ext cx="7662672" cy="182880"/>
          </a:xfrm>
          <a:prstGeom prst="rect">
            <a:avLst/>
          </a:prstGeom>
          <a:solidFill>
            <a:srgbClr val="FFFFFF"/>
          </a:solidFill>
          <a:ln w="12700">
            <a:solidFill>
              <a:srgbClr val="A7BE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462271"/>
            <a:ext cx="7406640" cy="36576"/>
          </a:xfrm>
          <a:prstGeom prst="rect">
            <a:avLst/>
          </a:prstGeom>
          <a:noFill/>
        </p:spPr>
        <p:txBody>
          <a:bodyPr wrap="square">
            <a:spAutoFit/>
          </a:bodyPr>
          <a:lstStyle/>
          <a:p>
            <a:pPr algn="l">
              <a:defRPr sz="1100" b="0">
                <a:solidFill>
                  <a:srgbClr val="3A3A3A"/>
                </a:solidFill>
                <a:latin typeface="Georgia"/>
              </a:defRPr>
            </a:pPr>
            <a:r>
              <a:t>たとえるなら：</a:t>
            </a:r>
            <a:br/>
            <a:r>
              <a:t>AIは「ものすごく優秀だけど、空気が読めない新人スタッフ」。</a:t>
            </a:r>
            <a:br/>
            <a:r>
              <a:t>データの処理は速いけど、患者さんの涙の意味はわからない。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3E8"/>
        </a:solidFill>
        <a:effectLst/>
      </p:bgPr>
    </p:bg>
    <p:spTree>
      <p:nvGrpSpPr>
        <p:cNvPr id="1" name=""/>
        <p:cNvGrpSpPr/>
        <p:nvPr/>
      </p:nvGrpSpPr>
      <p:grpSpPr/>
      <p:sp>
        <p:nvSpPr>
          <p:cNvPr id="2" name="TextBox 1"/>
          <p:cNvSpPr txBox="1"/>
          <p:nvPr/>
        </p:nvSpPr>
        <p:spPr>
          <a:xfrm>
            <a:off x="457200" y="182880"/>
            <a:ext cx="8229600" cy="548640"/>
          </a:xfrm>
          <a:prstGeom prst="rect">
            <a:avLst/>
          </a:prstGeom>
          <a:noFill/>
        </p:spPr>
        <p:txBody>
          <a:bodyPr wrap="square">
            <a:spAutoFit/>
          </a:bodyPr>
          <a:lstStyle/>
          <a:p>
            <a:pPr algn="l">
              <a:defRPr sz="2200" b="1">
                <a:solidFill>
                  <a:srgbClr val="3A3A3A"/>
                </a:solidFill>
                <a:latin typeface="Calibri"/>
              </a:defRPr>
            </a:pPr>
            <a:r>
              <a:t>スライド3: AIも「間違える」— 知っておいてほしい話（5-8分）</a:t>
            </a:r>
          </a:p>
        </p:txBody>
      </p:sp>
      <p:sp>
        <p:nvSpPr>
          <p:cNvPr id="3" name="TextBox 2"/>
          <p:cNvSpPr txBox="1"/>
          <p:nvPr/>
        </p:nvSpPr>
        <p:spPr>
          <a:xfrm>
            <a:off x="548640" y="822960"/>
            <a:ext cx="7772400" cy="320040"/>
          </a:xfrm>
          <a:prstGeom prst="rect">
            <a:avLst/>
          </a:prstGeom>
          <a:noFill/>
        </p:spPr>
        <p:txBody>
          <a:bodyPr wrap="square">
            <a:spAutoFit/>
          </a:bodyPr>
          <a:lstStyle/>
          <a:p>
            <a:pPr algn="l">
              <a:defRPr sz="1100" b="0">
                <a:solidFill>
                  <a:srgbClr val="3A3A3A"/>
                </a:solidFill>
                <a:latin typeface="Calibri"/>
              </a:defRPr>
            </a:pPr>
            <a:r>
              <a:t>最新の研究（PNAS 2026年発表）で、AIの「くせ」がわかってきました：</a:t>
            </a:r>
          </a:p>
        </p:txBody>
      </p:sp>
      <p:sp>
        <p:nvSpPr>
          <p:cNvPr id="4" name="Rectangle 3"/>
          <p:cNvSpPr/>
          <p:nvPr/>
        </p:nvSpPr>
        <p:spPr>
          <a:xfrm>
            <a:off x="548640" y="1143000"/>
            <a:ext cx="54864" cy="1438351"/>
          </a:xfrm>
          <a:prstGeom prst="rect">
            <a:avLst/>
          </a:prstGeom>
          <a:solidFill>
            <a:srgbClr val="D47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143000"/>
            <a:ext cx="7662672" cy="1438351"/>
          </a:xfrm>
          <a:prstGeom prst="rect">
            <a:avLst/>
          </a:prstGeom>
          <a:solidFill>
            <a:srgbClr val="FFFFFF"/>
          </a:solidFill>
          <a:ln w="12700">
            <a:solidFill>
              <a:srgbClr val="A7BE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216152"/>
            <a:ext cx="7406640" cy="1292047"/>
          </a:xfrm>
          <a:prstGeom prst="rect">
            <a:avLst/>
          </a:prstGeom>
          <a:noFill/>
        </p:spPr>
        <p:txBody>
          <a:bodyPr wrap="square">
            <a:spAutoFit/>
          </a:bodyPr>
          <a:lstStyle/>
          <a:p>
            <a:pPr algn="l">
              <a:defRPr sz="1100" b="0">
                <a:solidFill>
                  <a:srgbClr val="3A3A3A"/>
                </a:solidFill>
                <a:latin typeface="Georgia"/>
              </a:defRPr>
            </a:pPr>
            <a:r>
              <a:t>例え話:</a:t>
            </a:r>
            <a:br/>
            <a:r>
              <a:t>「廊下で患者さんが転びそうになっている。</a:t>
            </a:r>
            <a:br/>
            <a:r>
              <a:t>手を出して支えたら → もしケガさせたら自分のせい？</a:t>
            </a:r>
            <a:br/>
            <a:r>
              <a:t>何もしなかったら → たまたま転んだだけ？」</a:t>
            </a:r>
            <a:br/>
            <a:r>
              <a:t>AIは「何もしない方が安全」と判断しがちです。</a:t>
            </a:r>
            <a:br/>
            <a:r>
              <a:t>でも医療では、「何もしないこと」も判断であり、責任がある。</a:t>
            </a:r>
          </a:p>
        </p:txBody>
      </p:sp>
      <p:sp>
        <p:nvSpPr>
          <p:cNvPr id="7" name="Rectangle 6"/>
          <p:cNvSpPr/>
          <p:nvPr/>
        </p:nvSpPr>
        <p:spPr>
          <a:xfrm>
            <a:off x="548640" y="2718511"/>
            <a:ext cx="54864" cy="457200"/>
          </a:xfrm>
          <a:prstGeom prst="rect">
            <a:avLst/>
          </a:prstGeom>
          <a:solidFill>
            <a:srgbClr val="D47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718511"/>
            <a:ext cx="7662672" cy="457200"/>
          </a:xfrm>
          <a:prstGeom prst="rect">
            <a:avLst/>
          </a:prstGeom>
          <a:solidFill>
            <a:srgbClr val="FFFFFF"/>
          </a:solidFill>
          <a:ln w="12700">
            <a:solidFill>
              <a:srgbClr val="A7BE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791663"/>
            <a:ext cx="7406640" cy="310896"/>
          </a:xfrm>
          <a:prstGeom prst="rect">
            <a:avLst/>
          </a:prstGeom>
          <a:noFill/>
        </p:spPr>
        <p:txBody>
          <a:bodyPr wrap="square">
            <a:spAutoFit/>
          </a:bodyPr>
          <a:lstStyle/>
          <a:p>
            <a:pPr algn="l">
              <a:defRPr sz="1100" b="0">
                <a:solidFill>
                  <a:srgbClr val="3A3A3A"/>
                </a:solidFill>
                <a:latin typeface="Georgia"/>
              </a:defRPr>
            </a:pPr>
            <a:r>
              <a:t>最初に見た数字に影響されて、後から入った情報を軽視してしまう。</a:t>
            </a:r>
            <a:br/>
            <a:r>
              <a:t>人間にもある「くせ」ですが、AIはこれをさらに強めてしまうことがある。</a:t>
            </a:r>
          </a:p>
        </p:txBody>
      </p:sp>
      <p:sp>
        <p:nvSpPr>
          <p:cNvPr id="10" name="Rectangle 9"/>
          <p:cNvSpPr/>
          <p:nvPr/>
        </p:nvSpPr>
        <p:spPr>
          <a:xfrm>
            <a:off x="548640" y="3312871"/>
            <a:ext cx="54864" cy="680618"/>
          </a:xfrm>
          <a:prstGeom prst="rect">
            <a:avLst/>
          </a:prstGeom>
          <a:solidFill>
            <a:srgbClr val="D47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3312871"/>
            <a:ext cx="7662672" cy="680618"/>
          </a:xfrm>
          <a:prstGeom prst="rect">
            <a:avLst/>
          </a:prstGeom>
          <a:solidFill>
            <a:srgbClr val="FFFFFF"/>
          </a:solidFill>
          <a:ln w="12700">
            <a:solidFill>
              <a:srgbClr val="A7BE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386023"/>
            <a:ext cx="7406640" cy="534314"/>
          </a:xfrm>
          <a:prstGeom prst="rect">
            <a:avLst/>
          </a:prstGeom>
          <a:noFill/>
        </p:spPr>
        <p:txBody>
          <a:bodyPr wrap="square">
            <a:spAutoFit/>
          </a:bodyPr>
          <a:lstStyle/>
          <a:p>
            <a:pPr algn="l">
              <a:defRPr sz="1100" b="0">
                <a:solidFill>
                  <a:srgbClr val="3A3A3A"/>
                </a:solidFill>
                <a:latin typeface="Georgia"/>
              </a:defRPr>
            </a:pPr>
            <a:r>
              <a:t>「成功率90%の手術です」と聞くと安心するけど、</a:t>
            </a:r>
            <a:br/>
            <a:r>
              <a:t>「10人に1人は失敗します」と聞くと不安になる。</a:t>
            </a:r>
            <a:br/>
            <a:r>
              <a:t>同じことなのに、伝え方で印象が変わる — AIにもこの傾向がある。</a:t>
            </a:r>
          </a:p>
        </p:txBody>
      </p:sp>
      <p:sp>
        <p:nvSpPr>
          <p:cNvPr id="13" name="Rectangle 12"/>
          <p:cNvSpPr/>
          <p:nvPr/>
        </p:nvSpPr>
        <p:spPr>
          <a:xfrm>
            <a:off x="548640" y="4130649"/>
            <a:ext cx="54864" cy="441350"/>
          </a:xfrm>
          <a:prstGeom prst="rect">
            <a:avLst/>
          </a:prstGeom>
          <a:solidFill>
            <a:srgbClr val="D47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4130649"/>
            <a:ext cx="7662672" cy="441350"/>
          </a:xfrm>
          <a:prstGeom prst="rect">
            <a:avLst/>
          </a:prstGeom>
          <a:solidFill>
            <a:srgbClr val="FFFFFF"/>
          </a:solidFill>
          <a:ln w="12700">
            <a:solidFill>
              <a:srgbClr val="A7BE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203801"/>
            <a:ext cx="7406640" cy="295046"/>
          </a:xfrm>
          <a:prstGeom prst="rect">
            <a:avLst/>
          </a:prstGeom>
          <a:noFill/>
        </p:spPr>
        <p:txBody>
          <a:bodyPr wrap="square">
            <a:spAutoFit/>
          </a:bodyPr>
          <a:lstStyle/>
          <a:p>
            <a:pPr algn="l">
              <a:defRPr sz="1100" b="0">
                <a:solidFill>
                  <a:srgbClr val="3A3A3A"/>
                </a:solidFill>
                <a:latin typeface="Georgia"/>
              </a:defRPr>
            </a:pPr>
            <a:r>
              <a:t>AIの答えを「そのまま信じる」のではなく、「本当かな？」と立ち止まる。</a:t>
            </a:r>
            <a:br/>
            <a:r>
              <a:t>これが、AI時代に一番大切なスキルです。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7A5C4F"/>
        </a:solidFill>
        <a:effectLst/>
      </p:bgPr>
    </p:bg>
    <p:spTree>
      <p:nvGrpSpPr>
        <p:cNvPr id="1" name=""/>
        <p:cNvGrpSpPr/>
        <p:nvPr/>
      </p:nvGrpSpPr>
      <p:grpSpPr/>
      <p:sp>
        <p:nvSpPr>
          <p:cNvPr id="2" name="TextBox 1"/>
          <p:cNvSpPr txBox="1"/>
          <p:nvPr/>
        </p:nvSpPr>
        <p:spPr>
          <a:xfrm>
            <a:off x="457200" y="182880"/>
            <a:ext cx="8229600" cy="548640"/>
          </a:xfrm>
          <a:prstGeom prst="rect">
            <a:avLst/>
          </a:prstGeom>
          <a:noFill/>
        </p:spPr>
        <p:txBody>
          <a:bodyPr wrap="square">
            <a:spAutoFit/>
          </a:bodyPr>
          <a:lstStyle/>
          <a:p>
            <a:pPr algn="l">
              <a:defRPr sz="2200" b="1">
                <a:solidFill>
                  <a:srgbClr val="FAF3E8"/>
                </a:solidFill>
                <a:latin typeface="Calibri"/>
              </a:defRPr>
            </a:pPr>
            <a:r>
              <a:t>スライド4: 実際の医療現場ではどう使われている？（8-9分）</a:t>
            </a:r>
          </a:p>
        </p:txBody>
      </p:sp>
      <p:sp>
        <p:nvSpPr>
          <p:cNvPr id="3" name="TextBox 2"/>
          <p:cNvSpPr txBox="1"/>
          <p:nvPr/>
        </p:nvSpPr>
        <p:spPr>
          <a:xfrm>
            <a:off x="548640" y="822960"/>
            <a:ext cx="7772400" cy="320040"/>
          </a:xfrm>
          <a:prstGeom prst="rect">
            <a:avLst/>
          </a:prstGeom>
          <a:noFill/>
        </p:spPr>
        <p:txBody>
          <a:bodyPr wrap="square">
            <a:spAutoFit/>
          </a:bodyPr>
          <a:lstStyle/>
          <a:p>
            <a:pPr algn="l">
              <a:defRPr sz="1100" b="0">
                <a:solidFill>
                  <a:srgbClr val="FAF3E8"/>
                </a:solidFill>
                <a:latin typeface="Calibri"/>
              </a:defRPr>
            </a:pPr>
            <a:r>
              <a:t>BJC Healthcareという病院グループでは：</a:t>
            </a:r>
          </a:p>
        </p:txBody>
      </p:sp>
      <p:sp>
        <p:nvSpPr>
          <p:cNvPr id="4" name="TextBox 3"/>
          <p:cNvSpPr txBox="1"/>
          <p:nvPr/>
        </p:nvSpPr>
        <p:spPr>
          <a:xfrm>
            <a:off x="548640" y="1143000"/>
            <a:ext cx="7772400" cy="914399"/>
          </a:xfrm>
          <a:prstGeom prst="rect">
            <a:avLst/>
          </a:prstGeom>
          <a:noFill/>
        </p:spPr>
        <p:txBody>
          <a:bodyPr wrap="square">
            <a:spAutoFit/>
          </a:bodyPr>
          <a:lstStyle/>
          <a:p>
            <a:pPr>
              <a:defRPr sz="1200">
                <a:solidFill>
                  <a:srgbClr val="FAF3E8"/>
                </a:solidFill>
                <a:latin typeface="Calibri"/>
              </a:defRPr>
              <a:buChar char="●"/>
            </a:pPr>
            <a:r>
              <a:t>35,000人以上の患者データをもとに</a:t>
            </a:r>
          </a:p>
          <a:p>
            <a:pPr>
              <a:defRPr sz="1200">
                <a:solidFill>
                  <a:srgbClr val="FAF3E8"/>
                </a:solidFill>
                <a:latin typeface="Calibri"/>
              </a:defRPr>
              <a:buChar char="●"/>
            </a:pPr>
            <a:r>
              <a:t>AIが「この患者さんは今後のケア計画について話し合うタイミングかもしれません」と提案</a:t>
            </a:r>
          </a:p>
          <a:p>
            <a:pPr>
              <a:defRPr sz="1200">
                <a:solidFill>
                  <a:srgbClr val="FAF3E8"/>
                </a:solidFill>
                <a:latin typeface="Calibri"/>
              </a:defRPr>
              <a:buChar char="●"/>
            </a:pPr>
            <a:r>
              <a:t>最終判断は必ず医師やケアチームが行う</a:t>
            </a:r>
          </a:p>
        </p:txBody>
      </p:sp>
      <p:sp>
        <p:nvSpPr>
          <p:cNvPr id="5" name="Rectangle 4"/>
          <p:cNvSpPr/>
          <p:nvPr/>
        </p:nvSpPr>
        <p:spPr>
          <a:xfrm>
            <a:off x="548640" y="2148839"/>
            <a:ext cx="54864" cy="457200"/>
          </a:xfrm>
          <a:prstGeom prst="rect">
            <a:avLst/>
          </a:prstGeom>
          <a:solidFill>
            <a:srgbClr val="D47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2148839"/>
            <a:ext cx="7662672" cy="457200"/>
          </a:xfrm>
          <a:prstGeom prst="rect">
            <a:avLst/>
          </a:prstGeom>
          <a:solidFill>
            <a:srgbClr val="FFFFFF"/>
          </a:solidFill>
          <a:ln w="12700">
            <a:solidFill>
              <a:srgbClr val="A7BE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221991"/>
            <a:ext cx="7406640" cy="310896"/>
          </a:xfrm>
          <a:prstGeom prst="rect">
            <a:avLst/>
          </a:prstGeom>
          <a:noFill/>
        </p:spPr>
        <p:txBody>
          <a:bodyPr wrap="square">
            <a:spAutoFit/>
          </a:bodyPr>
          <a:lstStyle/>
          <a:p>
            <a:pPr algn="l">
              <a:defRPr sz="1100" b="0">
                <a:solidFill>
                  <a:srgbClr val="3A3A3A"/>
                </a:solidFill>
                <a:latin typeface="Georgia"/>
              </a:defRPr>
            </a:pPr>
            <a:r>
              <a:t>ポイント: AIは「提案する」だけ。「決める」のは人間。</a:t>
            </a:r>
          </a:p>
        </p:txBody>
      </p:sp>
      <p:graphicFrame>
        <p:nvGraphicFramePr>
          <p:cNvPr id="8" name="Table 7"/>
          <p:cNvGraphicFramePr>
            <a:graphicFrameLocks noGrp="1"/>
          </p:cNvGraphicFramePr>
          <p:nvPr/>
        </p:nvGraphicFramePr>
        <p:xfrm>
          <a:off x="548640" y="2743199"/>
          <a:ext cx="7772400" cy="1371600"/>
        </p:xfrm>
        <a:graphic>
          <a:graphicData uri="http://schemas.openxmlformats.org/drawingml/2006/table">
            <a:tbl>
              <a:tblPr firstRow="1" bandRow="1">
                <a:tableStyleId>{5C22544A-7EE6-4342-B048-85BDC9FD1C3A}</a:tableStyleId>
              </a:tblPr>
              <a:tblGrid>
                <a:gridCol w="3886200"/>
                <a:gridCol w="3886200"/>
              </a:tblGrid>
              <a:tr h="274320">
                <a:tc>
                  <a:txBody>
                    <a:bodyPr/>
                    <a:lstStyle/>
                    <a:p>
                      <a:pPr>
                        <a:defRPr sz="900" b="1">
                          <a:solidFill>
                            <a:srgbClr val="FAF3E8"/>
                          </a:solidFill>
                          <a:latin typeface="Calibri"/>
                        </a:defRPr>
                      </a:pPr>
                      <a:r>
                        <a:t>これまで</a:t>
                      </a:r>
                    </a:p>
                  </a:txBody>
                  <a:tcPr>
                    <a:solidFill>
                      <a:srgbClr val="7A5C4F"/>
                    </a:solidFill>
                  </a:tcPr>
                </a:tc>
                <a:tc>
                  <a:txBody>
                    <a:bodyPr/>
                    <a:lstStyle/>
                    <a:p>
                      <a:pPr>
                        <a:defRPr sz="900" b="1">
                          <a:solidFill>
                            <a:srgbClr val="FAF3E8"/>
                          </a:solidFill>
                          <a:latin typeface="Calibri"/>
                        </a:defRPr>
                      </a:pPr>
                      <a:r>
                        <a:t>これから</a:t>
                      </a:r>
                    </a:p>
                  </a:txBody>
                  <a:tcPr>
                    <a:solidFill>
                      <a:srgbClr val="7A5C4F"/>
                    </a:solidFill>
                  </a:tcPr>
                </a:tc>
              </a:tr>
              <a:tr h="274320">
                <a:tc>
                  <a:txBody>
                    <a:bodyPr/>
                    <a:lstStyle/>
                    <a:p>
                      <a:pPr>
                        <a:defRPr sz="900">
                          <a:solidFill>
                            <a:srgbClr val="3A3A3A"/>
                          </a:solidFill>
                          <a:latin typeface="Calibri"/>
                        </a:defRPr>
                      </a:pPr>
                      <a:r>
                        <a:t>---------</a:t>
                      </a:r>
                    </a:p>
                  </a:txBody>
                  <a:tcPr>
                    <a:solidFill>
                      <a:srgbClr val="F5EEE5"/>
                    </a:solidFill>
                  </a:tcPr>
                </a:tc>
                <a:tc>
                  <a:txBody>
                    <a:bodyPr/>
                    <a:lstStyle/>
                    <a:p>
                      <a:pPr>
                        <a:defRPr sz="900">
                          <a:solidFill>
                            <a:srgbClr val="3A3A3A"/>
                          </a:solidFill>
                          <a:latin typeface="Calibri"/>
                        </a:defRPr>
                      </a:pPr>
                      <a:r>
                        <a:t>---------</a:t>
                      </a:r>
                    </a:p>
                  </a:txBody>
                  <a:tcPr>
                    <a:solidFill>
                      <a:srgbClr val="F5EEE5"/>
                    </a:solidFill>
                  </a:tcPr>
                </a:tc>
              </a:tr>
              <a:tr h="274320">
                <a:tc>
                  <a:txBody>
                    <a:bodyPr/>
                    <a:lstStyle/>
                    <a:p>
                      <a:pPr>
                        <a:defRPr sz="900">
                          <a:solidFill>
                            <a:srgbClr val="3A3A3A"/>
                          </a:solidFill>
                          <a:latin typeface="Calibri"/>
                        </a:defRPr>
                      </a:pPr>
                      <a:r>
                        <a:t>スタッフだけでカンファレンス</a:t>
                      </a:r>
                    </a:p>
                  </a:txBody>
                  <a:tcPr>
                    <a:solidFill>
                      <a:srgbClr val="FAF3E8"/>
                    </a:solidFill>
                  </a:tcPr>
                </a:tc>
                <a:tc>
                  <a:txBody>
                    <a:bodyPr/>
                    <a:lstStyle/>
                    <a:p>
                      <a:pPr>
                        <a:defRPr sz="900">
                          <a:solidFill>
                            <a:srgbClr val="3A3A3A"/>
                          </a:solidFill>
                          <a:latin typeface="Calibri"/>
                        </a:defRPr>
                      </a:pPr>
                      <a:r>
                        <a:t>AIが事前に情報を整理してくれる</a:t>
                      </a:r>
                    </a:p>
                  </a:txBody>
                  <a:tcPr>
                    <a:solidFill>
                      <a:srgbClr val="FAF3E8"/>
                    </a:solidFill>
                  </a:tcPr>
                </a:tc>
              </a:tr>
              <a:tr h="274320">
                <a:tc>
                  <a:txBody>
                    <a:bodyPr/>
                    <a:lstStyle/>
                    <a:p>
                      <a:pPr>
                        <a:defRPr sz="900">
                          <a:solidFill>
                            <a:srgbClr val="3A3A3A"/>
                          </a:solidFill>
                          <a:latin typeface="Calibri"/>
                        </a:defRPr>
                      </a:pPr>
                      <a:r>
                        <a:t>手作業でデータを集計</a:t>
                      </a:r>
                    </a:p>
                  </a:txBody>
                  <a:tcPr>
                    <a:solidFill>
                      <a:srgbClr val="F5EEE5"/>
                    </a:solidFill>
                  </a:tcPr>
                </a:tc>
                <a:tc>
                  <a:txBody>
                    <a:bodyPr/>
                    <a:lstStyle/>
                    <a:p>
                      <a:pPr>
                        <a:defRPr sz="900">
                          <a:solidFill>
                            <a:srgbClr val="3A3A3A"/>
                          </a:solidFill>
                          <a:latin typeface="Calibri"/>
                        </a:defRPr>
                      </a:pPr>
                      <a:r>
                        <a:t>AIが自動で傾向をまとめてくれる</a:t>
                      </a:r>
                    </a:p>
                  </a:txBody>
                  <a:tcPr>
                    <a:solidFill>
                      <a:srgbClr val="F5EEE5"/>
                    </a:solidFill>
                  </a:tcPr>
                </a:tc>
              </a:tr>
              <a:tr h="274320">
                <a:tc>
                  <a:txBody>
                    <a:bodyPr/>
                    <a:lstStyle/>
                    <a:p>
                      <a:pPr>
                        <a:defRPr sz="900">
                          <a:solidFill>
                            <a:srgbClr val="3A3A3A"/>
                          </a:solidFill>
                          <a:latin typeface="Calibri"/>
                        </a:defRPr>
                      </a:pPr>
                      <a:r>
                        <a:t>経験と勘で優先度を判断</a:t>
                      </a:r>
                    </a:p>
                  </a:txBody>
                  <a:tcPr>
                    <a:solidFill>
                      <a:srgbClr val="FAF3E8"/>
                    </a:solidFill>
                  </a:tcPr>
                </a:tc>
                <a:tc>
                  <a:txBody>
                    <a:bodyPr/>
                    <a:lstStyle/>
                    <a:p>
                      <a:pPr>
                        <a:defRPr sz="900">
                          <a:solidFill>
                            <a:srgbClr val="3A3A3A"/>
                          </a:solidFill>
                          <a:latin typeface="Calibri"/>
                        </a:defRPr>
                      </a:pPr>
                      <a:r>
                        <a:t>AIが「見落とし」を減らす手伝い</a:t>
                      </a:r>
                    </a:p>
                  </a:txBody>
                  <a:tcPr>
                    <a:solidFill>
                      <a:srgbClr val="FAF3E8"/>
                    </a:solidFill>
                  </a:tcPr>
                </a:tc>
              </a:tr>
            </a:tbl>
          </a:graphicData>
        </a:graphic>
      </p:graphicFrame>
      <p:sp>
        <p:nvSpPr>
          <p:cNvPr id="9" name="Rectangle 8"/>
          <p:cNvSpPr/>
          <p:nvPr/>
        </p:nvSpPr>
        <p:spPr>
          <a:xfrm>
            <a:off x="548640" y="4251959"/>
            <a:ext cx="54864" cy="320040"/>
          </a:xfrm>
          <a:prstGeom prst="rect">
            <a:avLst/>
          </a:prstGeom>
          <a:solidFill>
            <a:srgbClr val="D47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4251959"/>
            <a:ext cx="7662672" cy="320040"/>
          </a:xfrm>
          <a:prstGeom prst="rect">
            <a:avLst/>
          </a:prstGeom>
          <a:solidFill>
            <a:srgbClr val="FFFFFF"/>
          </a:solidFill>
          <a:ln w="12700">
            <a:solidFill>
              <a:srgbClr val="A7BE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325112"/>
            <a:ext cx="7406640" cy="173736"/>
          </a:xfrm>
          <a:prstGeom prst="rect">
            <a:avLst/>
          </a:prstGeom>
          <a:noFill/>
        </p:spPr>
        <p:txBody>
          <a:bodyPr wrap="square">
            <a:spAutoFit/>
          </a:bodyPr>
          <a:lstStyle/>
          <a:p>
            <a:pPr algn="l">
              <a:defRPr sz="1100" b="0">
                <a:solidFill>
                  <a:srgbClr val="3A3A3A"/>
                </a:solidFill>
                <a:latin typeface="Georgia"/>
              </a:defRPr>
            </a:pPr>
            <a:r>
              <a:t>AIはチームの一員。でも、リーダーは常に人間です。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3E8"/>
        </a:solidFill>
        <a:effectLst/>
      </p:bgPr>
    </p:bg>
    <p:spTree>
      <p:nvGrpSpPr>
        <p:cNvPr id="1" name=""/>
        <p:cNvGrpSpPr/>
        <p:nvPr/>
      </p:nvGrpSpPr>
      <p:grpSpPr/>
      <p:sp>
        <p:nvSpPr>
          <p:cNvPr id="2" name="TextBox 1"/>
          <p:cNvSpPr txBox="1"/>
          <p:nvPr/>
        </p:nvSpPr>
        <p:spPr>
          <a:xfrm>
            <a:off x="457200" y="182880"/>
            <a:ext cx="8229600" cy="548640"/>
          </a:xfrm>
          <a:prstGeom prst="rect">
            <a:avLst/>
          </a:prstGeom>
          <a:noFill/>
        </p:spPr>
        <p:txBody>
          <a:bodyPr wrap="square">
            <a:spAutoFit/>
          </a:bodyPr>
          <a:lstStyle/>
          <a:p>
            <a:pPr algn="l">
              <a:defRPr sz="2200" b="1">
                <a:solidFill>
                  <a:srgbClr val="3A3A3A"/>
                </a:solidFill>
                <a:latin typeface="Calibri"/>
              </a:defRPr>
            </a:pPr>
            <a:r>
              <a:t>スライド5: みんなで考えよう（9-13分）</a:t>
            </a:r>
          </a:p>
        </p:txBody>
      </p:sp>
      <p:sp>
        <p:nvSpPr>
          <p:cNvPr id="3" name="TextBox 2"/>
          <p:cNvSpPr txBox="1"/>
          <p:nvPr/>
        </p:nvSpPr>
        <p:spPr>
          <a:xfrm>
            <a:off x="548640" y="822960"/>
            <a:ext cx="7772400" cy="320040"/>
          </a:xfrm>
          <a:prstGeom prst="rect">
            <a:avLst/>
          </a:prstGeom>
          <a:noFill/>
        </p:spPr>
        <p:txBody>
          <a:bodyPr wrap="square">
            <a:spAutoFit/>
          </a:bodyPr>
          <a:lstStyle/>
          <a:p>
            <a:pPr algn="l">
              <a:defRPr sz="1100" b="0">
                <a:solidFill>
                  <a:srgbClr val="3A3A3A"/>
                </a:solidFill>
                <a:latin typeface="Calibri"/>
              </a:defRPr>
            </a:pPr>
            <a:r>
              <a:t>3-4人のグループで話し合ってみましょう：</a:t>
            </a:r>
          </a:p>
        </p:txBody>
      </p:sp>
      <p:sp>
        <p:nvSpPr>
          <p:cNvPr id="4" name="Rectangle 3"/>
          <p:cNvSpPr/>
          <p:nvPr/>
        </p:nvSpPr>
        <p:spPr>
          <a:xfrm>
            <a:off x="548640" y="1143000"/>
            <a:ext cx="54864" cy="791260"/>
          </a:xfrm>
          <a:prstGeom prst="rect">
            <a:avLst/>
          </a:prstGeom>
          <a:solidFill>
            <a:srgbClr val="D47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143000"/>
            <a:ext cx="7662672" cy="791260"/>
          </a:xfrm>
          <a:prstGeom prst="rect">
            <a:avLst/>
          </a:prstGeom>
          <a:solidFill>
            <a:srgbClr val="FFFFFF"/>
          </a:solidFill>
          <a:ln w="12700">
            <a:solidFill>
              <a:srgbClr val="A7BE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216152"/>
            <a:ext cx="7406640" cy="644956"/>
          </a:xfrm>
          <a:prstGeom prst="rect">
            <a:avLst/>
          </a:prstGeom>
          <a:noFill/>
        </p:spPr>
        <p:txBody>
          <a:bodyPr wrap="square">
            <a:spAutoFit/>
          </a:bodyPr>
          <a:lstStyle/>
          <a:p>
            <a:pPr algn="l">
              <a:defRPr sz="1100" b="0">
                <a:solidFill>
                  <a:srgbClr val="3A3A3A"/>
                </a:solidFill>
                <a:latin typeface="Georgia"/>
              </a:defRPr>
            </a:pPr>
            <a:r>
              <a:t>テーマ:</a:t>
            </a:r>
            <a:br/>
            <a:r>
              <a:t>「あなたの業務の中で...」</a:t>
            </a:r>
            <a:br/>
            <a:r>
              <a:t>1. AIに手伝ってもらいたいことは？</a:t>
            </a:r>
            <a:br/>
            <a:r>
              <a:t>2. 絶対に人がやるべきことは？</a:t>
            </a:r>
          </a:p>
        </p:txBody>
      </p:sp>
      <p:sp>
        <p:nvSpPr>
          <p:cNvPr id="7" name="TextBox 6"/>
          <p:cNvSpPr txBox="1"/>
          <p:nvPr/>
        </p:nvSpPr>
        <p:spPr>
          <a:xfrm>
            <a:off x="548640" y="2071420"/>
            <a:ext cx="7772400" cy="320040"/>
          </a:xfrm>
          <a:prstGeom prst="rect">
            <a:avLst/>
          </a:prstGeom>
          <a:noFill/>
        </p:spPr>
        <p:txBody>
          <a:bodyPr wrap="square">
            <a:spAutoFit/>
          </a:bodyPr>
          <a:lstStyle/>
          <a:p>
            <a:pPr algn="l">
              <a:defRPr sz="1300" b="1">
                <a:solidFill>
                  <a:srgbClr val="3A3A3A"/>
                </a:solidFill>
                <a:latin typeface="Calibri"/>
              </a:defRPr>
            </a:pPr>
            <a:r>
              <a:t>考えるヒント:</a:t>
            </a:r>
          </a:p>
        </p:txBody>
      </p:sp>
      <p:sp>
        <p:nvSpPr>
          <p:cNvPr id="8" name="TextBox 7"/>
          <p:cNvSpPr txBox="1"/>
          <p:nvPr/>
        </p:nvSpPr>
        <p:spPr>
          <a:xfrm>
            <a:off x="548640" y="2437180"/>
            <a:ext cx="7772400" cy="1188720"/>
          </a:xfrm>
          <a:prstGeom prst="rect">
            <a:avLst/>
          </a:prstGeom>
          <a:noFill/>
        </p:spPr>
        <p:txBody>
          <a:bodyPr wrap="square">
            <a:spAutoFit/>
          </a:bodyPr>
          <a:lstStyle/>
          <a:p>
            <a:pPr>
              <a:defRPr sz="1200">
                <a:solidFill>
                  <a:srgbClr val="3A3A3A"/>
                </a:solidFill>
                <a:latin typeface="Calibri"/>
              </a:defRPr>
              <a:buChar char="●"/>
            </a:pPr>
            <a:r>
              <a:t>毎日繰り返しているデータ入力や記録作業は？</a:t>
            </a:r>
          </a:p>
          <a:p>
            <a:pPr>
              <a:defRPr sz="1200">
                <a:solidFill>
                  <a:srgbClr val="3A3A3A"/>
                </a:solidFill>
                <a:latin typeface="Calibri"/>
              </a:defRPr>
              <a:buChar char="●"/>
            </a:pPr>
            <a:r>
              <a:t>「ダブルチェック」で時間がかかっている業務は？</a:t>
            </a:r>
          </a:p>
          <a:p>
            <a:pPr>
              <a:defRPr sz="1200">
                <a:solidFill>
                  <a:srgbClr val="3A3A3A"/>
                </a:solidFill>
                <a:latin typeface="Calibri"/>
              </a:defRPr>
              <a:buChar char="●"/>
            </a:pPr>
            <a:r>
              <a:t>患者さんやご家族と直接向き合う場面は？</a:t>
            </a:r>
          </a:p>
          <a:p>
            <a:pPr>
              <a:defRPr sz="1200">
                <a:solidFill>
                  <a:srgbClr val="3A3A3A"/>
                </a:solidFill>
                <a:latin typeface="Calibri"/>
              </a:defRPr>
              <a:buChar char="●"/>
            </a:pPr>
            <a:r>
              <a:t>「この仕事、間違えたら大変」という判断業務は？</a:t>
            </a:r>
          </a:p>
        </p:txBody>
      </p:sp>
      <p:sp>
        <p:nvSpPr>
          <p:cNvPr id="9" name="Rectangle 8"/>
          <p:cNvSpPr/>
          <p:nvPr/>
        </p:nvSpPr>
        <p:spPr>
          <a:xfrm>
            <a:off x="548640" y="3717340"/>
            <a:ext cx="54864" cy="457200"/>
          </a:xfrm>
          <a:prstGeom prst="rect">
            <a:avLst/>
          </a:prstGeom>
          <a:solidFill>
            <a:srgbClr val="D47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3717340"/>
            <a:ext cx="7662672" cy="457200"/>
          </a:xfrm>
          <a:prstGeom prst="rect">
            <a:avLst/>
          </a:prstGeom>
          <a:solidFill>
            <a:srgbClr val="FFFFFF"/>
          </a:solidFill>
          <a:ln w="12700">
            <a:solidFill>
              <a:srgbClr val="A7BE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790492"/>
            <a:ext cx="7406640" cy="310896"/>
          </a:xfrm>
          <a:prstGeom prst="rect">
            <a:avLst/>
          </a:prstGeom>
          <a:noFill/>
        </p:spPr>
        <p:txBody>
          <a:bodyPr wrap="square">
            <a:spAutoFit/>
          </a:bodyPr>
          <a:lstStyle/>
          <a:p>
            <a:pPr algn="l">
              <a:defRPr sz="1100" b="0">
                <a:solidFill>
                  <a:srgbClr val="3A3A3A"/>
                </a:solidFill>
                <a:latin typeface="Georgia"/>
              </a:defRPr>
            </a:pPr>
            <a:r>
              <a:t>考え方のコツ:</a:t>
            </a:r>
            <a:br/>
            <a:r>
              <a:t>「AIに任せて楽になること」と「人間だからこそ意味があること」を分けてみよう。</a:t>
            </a:r>
          </a:p>
        </p:txBody>
      </p:sp>
      <p:sp>
        <p:nvSpPr>
          <p:cNvPr id="12" name="TextBox 11"/>
          <p:cNvSpPr txBox="1"/>
          <p:nvPr/>
        </p:nvSpPr>
        <p:spPr>
          <a:xfrm>
            <a:off x="548640" y="4311700"/>
            <a:ext cx="7772400" cy="260299"/>
          </a:xfrm>
          <a:prstGeom prst="rect">
            <a:avLst/>
          </a:prstGeom>
          <a:noFill/>
        </p:spPr>
        <p:txBody>
          <a:bodyPr wrap="square">
            <a:spAutoFit/>
          </a:bodyPr>
          <a:lstStyle/>
          <a:p>
            <a:pPr>
              <a:defRPr sz="1200">
                <a:solidFill>
                  <a:srgbClr val="3A3A3A"/>
                </a:solidFill>
                <a:latin typeface="Calibri"/>
              </a:defRPr>
              <a:buChar char="●"/>
            </a:pPr>
            <a:r>
              <a:t>各グループから1つずつ共有</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7A5C4F"/>
        </a:solidFill>
        <a:effectLst/>
      </p:bgPr>
    </p:bg>
    <p:spTree>
      <p:nvGrpSpPr>
        <p:cNvPr id="1" name=""/>
        <p:cNvGrpSpPr/>
        <p:nvPr/>
      </p:nvGrpSpPr>
      <p:grpSpPr/>
      <p:sp>
        <p:nvSpPr>
          <p:cNvPr id="2" name="TextBox 1"/>
          <p:cNvSpPr txBox="1"/>
          <p:nvPr/>
        </p:nvSpPr>
        <p:spPr>
          <a:xfrm>
            <a:off x="457200" y="182880"/>
            <a:ext cx="8229600" cy="548640"/>
          </a:xfrm>
          <a:prstGeom prst="rect">
            <a:avLst/>
          </a:prstGeom>
          <a:noFill/>
        </p:spPr>
        <p:txBody>
          <a:bodyPr wrap="square">
            <a:spAutoFit/>
          </a:bodyPr>
          <a:lstStyle/>
          <a:p>
            <a:pPr algn="l">
              <a:defRPr sz="2200" b="1">
                <a:solidFill>
                  <a:srgbClr val="FAF3E8"/>
                </a:solidFill>
                <a:latin typeface="Calibri"/>
              </a:defRPr>
            </a:pPr>
            <a:r>
              <a:t>スライド6: まとめ — だから、あなたが大切（13-15分）</a:t>
            </a:r>
          </a:p>
        </p:txBody>
      </p:sp>
      <p:graphicFrame>
        <p:nvGraphicFramePr>
          <p:cNvPr id="3" name="Table 2"/>
          <p:cNvGraphicFramePr>
            <a:graphicFrameLocks noGrp="1"/>
          </p:cNvGraphicFramePr>
          <p:nvPr/>
        </p:nvGraphicFramePr>
        <p:xfrm>
          <a:off x="548640" y="822960"/>
          <a:ext cx="7772400" cy="1371600"/>
        </p:xfrm>
        <a:graphic>
          <a:graphicData uri="http://schemas.openxmlformats.org/drawingml/2006/table">
            <a:tbl>
              <a:tblPr firstRow="1" bandRow="1">
                <a:tableStyleId>{5C22544A-7EE6-4342-B048-85BDC9FD1C3A}</a:tableStyleId>
              </a:tblPr>
              <a:tblGrid>
                <a:gridCol w="2590800"/>
                <a:gridCol w="2590800"/>
                <a:gridCol w="2590800"/>
              </a:tblGrid>
              <a:tr h="274320">
                <a:tc>
                  <a:txBody>
                    <a:bodyPr/>
                    <a:lstStyle/>
                    <a:p>
                      <a:pPr>
                        <a:defRPr sz="900" b="1">
                          <a:solidFill>
                            <a:srgbClr val="FAF3E8"/>
                          </a:solidFill>
                          <a:latin typeface="Calibri"/>
                        </a:defRPr>
                      </a:pPr>
                    </a:p>
                  </a:txBody>
                  <a:tcPr>
                    <a:solidFill>
                      <a:srgbClr val="7A5C4F"/>
                    </a:solidFill>
                  </a:tcPr>
                </a:tc>
                <a:tc>
                  <a:txBody>
                    <a:bodyPr/>
                    <a:lstStyle/>
                    <a:p>
                      <a:pPr>
                        <a:defRPr sz="900" b="1">
                          <a:solidFill>
                            <a:srgbClr val="FAF3E8"/>
                          </a:solidFill>
                          <a:latin typeface="Calibri"/>
                        </a:defRPr>
                      </a:pPr>
                      <a:r>
                        <a:t>ポイント</a:t>
                      </a:r>
                    </a:p>
                  </a:txBody>
                  <a:tcPr>
                    <a:solidFill>
                      <a:srgbClr val="7A5C4F"/>
                    </a:solidFill>
                  </a:tcPr>
                </a:tc>
                <a:tc>
                  <a:txBody>
                    <a:bodyPr/>
                    <a:lstStyle/>
                    <a:p>
                      <a:pPr>
                        <a:defRPr sz="900" b="1">
                          <a:solidFill>
                            <a:srgbClr val="FAF3E8"/>
                          </a:solidFill>
                          <a:latin typeface="Calibri"/>
                        </a:defRPr>
                      </a:pPr>
                      <a:r>
                        <a:t>ひとことで</a:t>
                      </a:r>
                    </a:p>
                  </a:txBody>
                  <a:tcPr>
                    <a:solidFill>
                      <a:srgbClr val="7A5C4F"/>
                    </a:solidFill>
                  </a:tcPr>
                </a:tc>
              </a:tr>
              <a:tr h="274320">
                <a:tc>
                  <a:txBody>
                    <a:bodyPr/>
                    <a:lstStyle/>
                    <a:p>
                      <a:pPr>
                        <a:defRPr sz="900">
                          <a:solidFill>
                            <a:srgbClr val="3A3A3A"/>
                          </a:solidFill>
                          <a:latin typeface="Calibri"/>
                        </a:defRPr>
                      </a:pPr>
                      <a:r>
                        <a:t>---</a:t>
                      </a:r>
                    </a:p>
                  </a:txBody>
                  <a:tcPr>
                    <a:solidFill>
                      <a:srgbClr val="F5EEE5"/>
                    </a:solidFill>
                  </a:tcPr>
                </a:tc>
                <a:tc>
                  <a:txBody>
                    <a:bodyPr/>
                    <a:lstStyle/>
                    <a:p>
                      <a:pPr>
                        <a:defRPr sz="900">
                          <a:solidFill>
                            <a:srgbClr val="3A3A3A"/>
                          </a:solidFill>
                          <a:latin typeface="Calibri"/>
                        </a:defRPr>
                      </a:pPr>
                      <a:r>
                        <a:t>---------</a:t>
                      </a:r>
                    </a:p>
                  </a:txBody>
                  <a:tcPr>
                    <a:solidFill>
                      <a:srgbClr val="F5EEE5"/>
                    </a:solidFill>
                  </a:tcPr>
                </a:tc>
                <a:tc>
                  <a:txBody>
                    <a:bodyPr/>
                    <a:lstStyle/>
                    <a:p>
                      <a:pPr>
                        <a:defRPr sz="900">
                          <a:solidFill>
                            <a:srgbClr val="3A3A3A"/>
                          </a:solidFill>
                          <a:latin typeface="Calibri"/>
                        </a:defRPr>
                      </a:pPr>
                      <a:r>
                        <a:t>-----------</a:t>
                      </a:r>
                    </a:p>
                  </a:txBody>
                  <a:tcPr>
                    <a:solidFill>
                      <a:srgbClr val="F5EEE5"/>
                    </a:solidFill>
                  </a:tcPr>
                </a:tc>
              </a:tr>
              <a:tr h="274320">
                <a:tc>
                  <a:txBody>
                    <a:bodyPr/>
                    <a:lstStyle/>
                    <a:p>
                      <a:pPr>
                        <a:defRPr sz="900">
                          <a:solidFill>
                            <a:srgbClr val="3A3A3A"/>
                          </a:solidFill>
                          <a:latin typeface="Calibri"/>
                        </a:defRPr>
                      </a:pPr>
                      <a:r>
                        <a:t>1</a:t>
                      </a:r>
                    </a:p>
                  </a:txBody>
                  <a:tcPr>
                    <a:solidFill>
                      <a:srgbClr val="FAF3E8"/>
                    </a:solidFill>
                  </a:tcPr>
                </a:tc>
                <a:tc>
                  <a:txBody>
                    <a:bodyPr/>
                    <a:lstStyle/>
                    <a:p>
                      <a:pPr>
                        <a:defRPr sz="900">
                          <a:solidFill>
                            <a:srgbClr val="3A3A3A"/>
                          </a:solidFill>
                          <a:latin typeface="Calibri"/>
                        </a:defRPr>
                      </a:pPr>
                      <a:r>
                        <a:t>AIは便利だけど万能じゃない</a:t>
                      </a:r>
                    </a:p>
                  </a:txBody>
                  <a:tcPr>
                    <a:solidFill>
                      <a:srgbClr val="FAF3E8"/>
                    </a:solidFill>
                  </a:tcPr>
                </a:tc>
                <a:tc>
                  <a:txBody>
                    <a:bodyPr/>
                    <a:lstStyle/>
                    <a:p>
                      <a:pPr>
                        <a:defRPr sz="900">
                          <a:solidFill>
                            <a:srgbClr val="3A3A3A"/>
                          </a:solidFill>
                          <a:latin typeface="Calibri"/>
                        </a:defRPr>
                      </a:pPr>
                      <a:r>
                        <a:t>得意なことと苦手なことがある</a:t>
                      </a:r>
                    </a:p>
                  </a:txBody>
                  <a:tcPr>
                    <a:solidFill>
                      <a:srgbClr val="FAF3E8"/>
                    </a:solidFill>
                  </a:tcPr>
                </a:tc>
              </a:tr>
              <a:tr h="274320">
                <a:tc>
                  <a:txBody>
                    <a:bodyPr/>
                    <a:lstStyle/>
                    <a:p>
                      <a:pPr>
                        <a:defRPr sz="900">
                          <a:solidFill>
                            <a:srgbClr val="3A3A3A"/>
                          </a:solidFill>
                          <a:latin typeface="Calibri"/>
                        </a:defRPr>
                      </a:pPr>
                      <a:r>
                        <a:t>2</a:t>
                      </a:r>
                    </a:p>
                  </a:txBody>
                  <a:tcPr>
                    <a:solidFill>
                      <a:srgbClr val="F5EEE5"/>
                    </a:solidFill>
                  </a:tcPr>
                </a:tc>
                <a:tc>
                  <a:txBody>
                    <a:bodyPr/>
                    <a:lstStyle/>
                    <a:p>
                      <a:pPr>
                        <a:defRPr sz="900">
                          <a:solidFill>
                            <a:srgbClr val="3A3A3A"/>
                          </a:solidFill>
                          <a:latin typeface="Calibri"/>
                        </a:defRPr>
                      </a:pPr>
                      <a:r>
                        <a:t>AIも間違える・偏る</a:t>
                      </a:r>
                    </a:p>
                  </a:txBody>
                  <a:tcPr>
                    <a:solidFill>
                      <a:srgbClr val="F5EEE5"/>
                    </a:solidFill>
                  </a:tcPr>
                </a:tc>
                <a:tc>
                  <a:txBody>
                    <a:bodyPr/>
                    <a:lstStyle/>
                    <a:p>
                      <a:pPr>
                        <a:defRPr sz="900">
                          <a:solidFill>
                            <a:srgbClr val="3A3A3A"/>
                          </a:solidFill>
                          <a:latin typeface="Calibri"/>
                        </a:defRPr>
                      </a:pPr>
                      <a:r>
                        <a:t>「本当かな？」と立ち止まる習慣が大切</a:t>
                      </a:r>
                    </a:p>
                  </a:txBody>
                  <a:tcPr>
                    <a:solidFill>
                      <a:srgbClr val="F5EEE5"/>
                    </a:solidFill>
                  </a:tcPr>
                </a:tc>
              </a:tr>
              <a:tr h="274320">
                <a:tc>
                  <a:txBody>
                    <a:bodyPr/>
                    <a:lstStyle/>
                    <a:p>
                      <a:pPr>
                        <a:defRPr sz="900">
                          <a:solidFill>
                            <a:srgbClr val="3A3A3A"/>
                          </a:solidFill>
                          <a:latin typeface="Calibri"/>
                        </a:defRPr>
                      </a:pPr>
                      <a:r>
                        <a:t>3</a:t>
                      </a:r>
                    </a:p>
                  </a:txBody>
                  <a:tcPr>
                    <a:solidFill>
                      <a:srgbClr val="FAF3E8"/>
                    </a:solidFill>
                  </a:tcPr>
                </a:tc>
                <a:tc>
                  <a:txBody>
                    <a:bodyPr/>
                    <a:lstStyle/>
                    <a:p>
                      <a:pPr>
                        <a:defRPr sz="900">
                          <a:solidFill>
                            <a:srgbClr val="3A3A3A"/>
                          </a:solidFill>
                          <a:latin typeface="Calibri"/>
                        </a:defRPr>
                      </a:pPr>
                      <a:r>
                        <a:t>人間にしかできないことがある</a:t>
                      </a:r>
                    </a:p>
                  </a:txBody>
                  <a:tcPr>
                    <a:solidFill>
                      <a:srgbClr val="FAF3E8"/>
                    </a:solidFill>
                  </a:tcPr>
                </a:tc>
                <a:tc>
                  <a:txBody>
                    <a:bodyPr/>
                    <a:lstStyle/>
                    <a:p>
                      <a:pPr>
                        <a:defRPr sz="900">
                          <a:solidFill>
                            <a:srgbClr val="3A3A3A"/>
                          </a:solidFill>
                          <a:latin typeface="Calibri"/>
                        </a:defRPr>
                      </a:pPr>
                      <a:r>
                        <a:t>患者さんに寄り添えるのはあなただけ</a:t>
                      </a:r>
                    </a:p>
                  </a:txBody>
                  <a:tcPr>
                    <a:solidFill>
                      <a:srgbClr val="FAF3E8"/>
                    </a:solidFill>
                  </a:tcPr>
                </a:tc>
              </a:tr>
            </a:tbl>
          </a:graphicData>
        </a:graphic>
      </p:graphicFrame>
      <p:sp>
        <p:nvSpPr>
          <p:cNvPr id="4" name="Rectangle 3"/>
          <p:cNvSpPr/>
          <p:nvPr/>
        </p:nvSpPr>
        <p:spPr>
          <a:xfrm>
            <a:off x="548640" y="2331720"/>
            <a:ext cx="54864" cy="1424940"/>
          </a:xfrm>
          <a:prstGeom prst="rect">
            <a:avLst/>
          </a:prstGeom>
          <a:solidFill>
            <a:srgbClr val="D47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2331720"/>
            <a:ext cx="7662672" cy="1424940"/>
          </a:xfrm>
          <a:prstGeom prst="rect">
            <a:avLst/>
          </a:prstGeom>
          <a:solidFill>
            <a:srgbClr val="FFFFFF"/>
          </a:solidFill>
          <a:ln w="12700">
            <a:solidFill>
              <a:srgbClr val="A7BE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04872"/>
            <a:ext cx="7406640" cy="1278636"/>
          </a:xfrm>
          <a:prstGeom prst="rect">
            <a:avLst/>
          </a:prstGeom>
          <a:noFill/>
        </p:spPr>
        <p:txBody>
          <a:bodyPr wrap="square">
            <a:spAutoFit/>
          </a:bodyPr>
          <a:lstStyle/>
          <a:p>
            <a:pPr algn="l">
              <a:defRPr sz="1100" b="0">
                <a:solidFill>
                  <a:srgbClr val="3A3A3A"/>
                </a:solidFill>
                <a:latin typeface="Georgia"/>
              </a:defRPr>
            </a:pPr>
            <a:r>
              <a:t>テクノロジーは変わります。</a:t>
            </a:r>
            <a:br/>
            <a:r>
              <a:t>でも、患者さんの手を握れるのは、あなただけです。</a:t>
            </a:r>
            <a:br/>
            <a:r>
              <a:t>AIが得意なことはAIに任せて、</a:t>
            </a:r>
            <a:br/>
            <a:r>
              <a:t>あなたにしかできないこと — 笑顔、声かけ、気づき、寄り添い —</a:t>
            </a:r>
            <a:br/>
            <a:r>
              <a:t>に、もっと時間を使えるようになる。</a:t>
            </a:r>
            <a:br/>
            <a:r>
              <a:t>それが「AIと一緒に働く未来」です。</a:t>
            </a:r>
          </a:p>
        </p:txBody>
      </p:sp>
      <p:sp>
        <p:nvSpPr>
          <p:cNvPr id="7" name="Rectangle 6"/>
          <p:cNvSpPr/>
          <p:nvPr/>
        </p:nvSpPr>
        <p:spPr>
          <a:xfrm>
            <a:off x="548640" y="3893819"/>
            <a:ext cx="54864" cy="457200"/>
          </a:xfrm>
          <a:prstGeom prst="rect">
            <a:avLst/>
          </a:prstGeom>
          <a:solidFill>
            <a:srgbClr val="D47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3893819"/>
            <a:ext cx="7662672" cy="457200"/>
          </a:xfrm>
          <a:prstGeom prst="rect">
            <a:avLst/>
          </a:prstGeom>
          <a:solidFill>
            <a:srgbClr val="FFFFFF"/>
          </a:solidFill>
          <a:ln w="12700">
            <a:solidFill>
              <a:srgbClr val="A7BE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966971"/>
            <a:ext cx="7406640" cy="310896"/>
          </a:xfrm>
          <a:prstGeom prst="rect">
            <a:avLst/>
          </a:prstGeom>
          <a:noFill/>
        </p:spPr>
        <p:txBody>
          <a:bodyPr wrap="square">
            <a:spAutoFit/>
          </a:bodyPr>
          <a:lstStyle/>
          <a:p>
            <a:pPr algn="l">
              <a:defRPr sz="1100" b="0">
                <a:solidFill>
                  <a:srgbClr val="3A3A3A"/>
                </a:solidFill>
                <a:latin typeface="Georgia"/>
              </a:defRPr>
            </a:pPr>
            <a:r>
              <a:t>「今日聞いた話の中で、1つだけ誰かに伝えるとしたら、何を選びますか？」</a:t>
            </a:r>
          </a:p>
        </p:txBody>
      </p:sp>
      <p:sp>
        <p:nvSpPr>
          <p:cNvPr id="10" name="TextBox 9"/>
          <p:cNvSpPr txBox="1"/>
          <p:nvPr/>
        </p:nvSpPr>
        <p:spPr>
          <a:xfrm>
            <a:off x="548640" y="4488180"/>
            <a:ext cx="7772400" cy="83820"/>
          </a:xfrm>
          <a:prstGeom prst="rect">
            <a:avLst/>
          </a:prstGeom>
          <a:noFill/>
        </p:spPr>
        <p:txBody>
          <a:bodyPr wrap="square">
            <a:spAutoFit/>
          </a:bodyPr>
          <a:lstStyle/>
          <a:p>
            <a:pPr>
              <a:defRPr sz="1200">
                <a:solidFill>
                  <a:srgbClr val="FAF3E8"/>
                </a:solidFill>
                <a:latin typeface="Calibri"/>
              </a:defRPr>
              <a:buChar char="●"/>
            </a:pPr>
            <a:r>
              <a:t>日常業務の中で「これ、AIに手伝ってもらえないかな？」とアンテナを立ててみる</a:t>
            </a:r>
          </a:p>
          <a:p>
            <a:pPr>
              <a:defRPr sz="1200">
                <a:solidFill>
                  <a:srgbClr val="FAF3E8"/>
                </a:solidFill>
                <a:latin typeface="Calibri"/>
              </a:defRPr>
              <a:buChar char="●"/>
            </a:pPr>
            <a:r>
              <a:t>AIの答えに接したとき「本当かな？」と一度立ち止まってみる</a:t>
            </a:r>
          </a:p>
          <a:p>
            <a:pPr>
              <a:defRPr sz="1200">
                <a:solidFill>
                  <a:srgbClr val="FAF3E8"/>
                </a:solidFill>
                <a:latin typeface="Calibri"/>
              </a:defRPr>
              <a:buChar char="●"/>
            </a:pPr>
            <a:r>
              <a:t>わからないことがあれば、いつでも相談してください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3E8"/>
        </a:solidFill>
        <a:effectLst/>
      </p:bgPr>
    </p:bg>
    <p:spTree>
      <p:nvGrpSpPr>
        <p:cNvPr id="1" name=""/>
        <p:cNvGrpSpPr/>
        <p:nvPr/>
      </p:nvGrpSpPr>
      <p:grpSpPr/>
      <p:sp>
        <p:nvSpPr>
          <p:cNvPr id="2" name="TextBox 1"/>
          <p:cNvSpPr txBox="1"/>
          <p:nvPr/>
        </p:nvSpPr>
        <p:spPr>
          <a:xfrm>
            <a:off x="457200" y="182880"/>
            <a:ext cx="8229600" cy="548640"/>
          </a:xfrm>
          <a:prstGeom prst="rect">
            <a:avLst/>
          </a:prstGeom>
          <a:noFill/>
        </p:spPr>
        <p:txBody>
          <a:bodyPr wrap="square">
            <a:spAutoFit/>
          </a:bodyPr>
          <a:lstStyle/>
          <a:p>
            <a:pPr algn="l">
              <a:defRPr sz="2200" b="1">
                <a:solidFill>
                  <a:srgbClr val="3A3A3A"/>
                </a:solidFill>
                <a:latin typeface="Calibri"/>
              </a:defRPr>
            </a:pPr>
            <a:r>
              <a:t>参考文献</a:t>
            </a:r>
          </a:p>
        </p:txBody>
      </p:sp>
      <p:sp>
        <p:nvSpPr>
          <p:cNvPr id="3" name="TextBox 2"/>
          <p:cNvSpPr txBox="1"/>
          <p:nvPr/>
        </p:nvSpPr>
        <p:spPr>
          <a:xfrm>
            <a:off x="548640" y="822960"/>
            <a:ext cx="7772400" cy="1188720"/>
          </a:xfrm>
          <a:prstGeom prst="rect">
            <a:avLst/>
          </a:prstGeom>
          <a:noFill/>
        </p:spPr>
        <p:txBody>
          <a:bodyPr wrap="square">
            <a:spAutoFit/>
          </a:bodyPr>
          <a:lstStyle/>
          <a:p>
            <a:pPr>
              <a:defRPr sz="1200">
                <a:solidFill>
                  <a:srgbClr val="3A3A3A"/>
                </a:solidFill>
                <a:latin typeface="Calibri"/>
              </a:defRPr>
              <a:buChar char="●"/>
            </a:pPr>
            <a:r>
              <a:t>AMA (2026) — 医師のAI活用調査（80%超が臨床でAI活用）。IME 2026 Conference, University of Miami Miller School of Medicine. https://news.med.miami.edu/innovations-in-medical-education-2026-explores-the-power-of-ai/</a:t>
            </a:r>
          </a:p>
          <a:p>
            <a:pPr>
              <a:defRPr sz="1200">
                <a:solidFill>
                  <a:srgbClr val="3A3A3A"/>
                </a:solidFill>
                <a:latin typeface="Calibri"/>
              </a:defRPr>
              <a:buChar char="●"/>
            </a:pPr>
            <a:r>
              <a:t>AMA (2026) — Boost health AI training across medical education continuum. https://www.ama-assn.org/practice-management/digital-health/boost-health-ai-training-across-medical-education-continuum</a:t>
            </a:r>
          </a:p>
          <a:p>
            <a:pPr>
              <a:defRPr sz="1200">
                <a:solidFill>
                  <a:srgbClr val="3A3A3A"/>
                </a:solidFill>
                <a:latin typeface="Calibri"/>
              </a:defRPr>
              <a:buChar char="●"/>
            </a:pPr>
            <a:r>
              <a:t>Healthcare IT News (2026) — BJC Healthcare ACO, マルチAIエージェントによる臨床意思決定支援（HIMSS26発表）。https://www.healthcareitnews.com/news/how-multi-ai-agents-can-improve-clinical-decision-support</a:t>
            </a:r>
          </a:p>
          <a:p>
            <a:pPr>
              <a:defRPr sz="1200">
                <a:solidFill>
                  <a:srgbClr val="3A3A3A"/>
                </a:solidFill>
                <a:latin typeface="Calibri"/>
              </a:defRPr>
              <a:buChar char="●"/>
            </a:pPr>
            <a:r>
              <a:t>PNAS (2026) — LLMの認知バイアス増幅に関する研究（不作為バイアス・フレーミング効果）。https://www.pnas.org/doi/10.1073/pnas.2412015122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7A5C4F"/>
        </a:solidFill>
        <a:effectLst/>
      </p:bgPr>
    </p:bg>
    <p:spTree>
      <p:nvGrpSpPr>
        <p:cNvPr id="1" name=""/>
        <p:cNvGrpSpPr/>
        <p:nvPr/>
      </p:nvGrpSpPr>
      <p:grpSpPr/>
      <p:sp>
        <p:nvSpPr>
          <p:cNvPr id="2" name="TextBox 1"/>
          <p:cNvSpPr txBox="1"/>
          <p:nvPr/>
        </p:nvSpPr>
        <p:spPr>
          <a:xfrm>
            <a:off x="457200" y="182880"/>
            <a:ext cx="8229600" cy="548640"/>
          </a:xfrm>
          <a:prstGeom prst="rect">
            <a:avLst/>
          </a:prstGeom>
          <a:noFill/>
        </p:spPr>
        <p:txBody>
          <a:bodyPr wrap="square">
            <a:spAutoFit/>
          </a:bodyPr>
          <a:lstStyle/>
          <a:p>
            <a:pPr algn="l">
              <a:defRPr sz="2200" b="1">
                <a:solidFill>
                  <a:srgbClr val="FAF3E8"/>
                </a:solidFill>
                <a:latin typeface="Calibri"/>
              </a:defRPr>
            </a:pPr>
            <a:r>
              <a:t>ファシリテーター向けメモ</a:t>
            </a:r>
          </a:p>
        </p:txBody>
      </p:sp>
      <p:sp>
        <p:nvSpPr>
          <p:cNvPr id="3" name="TextBox 2"/>
          <p:cNvSpPr txBox="1"/>
          <p:nvPr/>
        </p:nvSpPr>
        <p:spPr>
          <a:xfrm>
            <a:off x="548640" y="822960"/>
            <a:ext cx="7772400" cy="914399"/>
          </a:xfrm>
          <a:prstGeom prst="rect">
            <a:avLst/>
          </a:prstGeom>
          <a:noFill/>
        </p:spPr>
        <p:txBody>
          <a:bodyPr wrap="square">
            <a:spAutoFit/>
          </a:bodyPr>
          <a:lstStyle/>
          <a:p>
            <a:pPr>
              <a:defRPr sz="1200">
                <a:solidFill>
                  <a:srgbClr val="FAF3E8"/>
                </a:solidFill>
                <a:latin typeface="Calibri"/>
              </a:defRPr>
              <a:buChar char="●"/>
            </a:pPr>
            <a:r>
              <a:t>[ ] プロジェクター or モニター</a:t>
            </a:r>
          </a:p>
          <a:p>
            <a:pPr>
              <a:defRPr sz="1200">
                <a:solidFill>
                  <a:srgbClr val="FAF3E8"/>
                </a:solidFill>
                <a:latin typeface="Calibri"/>
              </a:defRPr>
              <a:buChar char="●"/>
            </a:pPr>
            <a:r>
              <a:t>[ ] タイマー（グループワーク3分計測用）</a:t>
            </a:r>
          </a:p>
          <a:p>
            <a:pPr>
              <a:defRPr sz="1200">
                <a:solidFill>
                  <a:srgbClr val="FAF3E8"/>
                </a:solidFill>
                <a:latin typeface="Calibri"/>
              </a:defRPr>
              <a:buChar char="●"/>
            </a:pPr>
            <a:r>
              <a:t>[ ] 付箋（グループワーク用、任意）</a:t>
            </a:r>
          </a:p>
        </p:txBody>
      </p:sp>
      <p:sp>
        <p:nvSpPr>
          <p:cNvPr id="4" name="TextBox 3"/>
          <p:cNvSpPr txBox="1"/>
          <p:nvPr/>
        </p:nvSpPr>
        <p:spPr>
          <a:xfrm>
            <a:off x="548640" y="1828800"/>
            <a:ext cx="7772400" cy="1737360"/>
          </a:xfrm>
          <a:prstGeom prst="rect">
            <a:avLst/>
          </a:prstGeom>
          <a:noFill/>
        </p:spPr>
        <p:txBody>
          <a:bodyPr wrap="square">
            <a:spAutoFit/>
          </a:bodyPr>
          <a:lstStyle/>
          <a:p>
            <a:pPr>
              <a:defRPr sz="1200">
                <a:solidFill>
                  <a:srgbClr val="FAF3E8"/>
                </a:solidFill>
                <a:latin typeface="Calibri"/>
              </a:defRPr>
              <a:buChar char="●"/>
            </a:pPr>
            <a:r>
              <a:t>スライド1: 「80%」の数字を最初に見せてインパクトを与える。「自分もAI使ったことある？」と問いかけて参加感を出す</a:t>
            </a:r>
          </a:p>
          <a:p>
            <a:pPr>
              <a:defRPr sz="1200">
                <a:solidFill>
                  <a:srgbClr val="FAF3E8"/>
                </a:solidFill>
                <a:latin typeface="Calibri"/>
              </a:defRPr>
              <a:buChar char="●"/>
            </a:pPr>
            <a:r>
              <a:t>スライド2: 「空気が読めない新人スタッフ」の例えは笑いを誘いやすい。場が和んだところで「でも仕事は速い」と続ける</a:t>
            </a:r>
          </a:p>
          <a:p>
            <a:pPr>
              <a:defRPr sz="1200">
                <a:solidFill>
                  <a:srgbClr val="FAF3E8"/>
                </a:solidFill>
                <a:latin typeface="Calibri"/>
              </a:defRPr>
              <a:buChar char="●"/>
            </a:pPr>
            <a:r>
              <a:t>スライド3: バイアスの話は難しくなりがちなので、必ず例え話で説明する。「転びそうな患者さん」の例は全職種がイメージしやすい</a:t>
            </a:r>
          </a:p>
          <a:p>
            <a:pPr>
              <a:defRPr sz="1200">
                <a:solidFill>
                  <a:srgbClr val="FAF3E8"/>
                </a:solidFill>
                <a:latin typeface="Calibri"/>
              </a:defRPr>
              <a:buChar char="●"/>
            </a:pPr>
            <a:r>
              <a:t>スライド4: 「AIは提案、人間が決定」を繰り返し強調する</a:t>
            </a:r>
          </a:p>
          <a:p>
            <a:pPr>
              <a:defRPr sz="1200">
                <a:solidFill>
                  <a:srgbClr val="FAF3E8"/>
                </a:solidFill>
                <a:latin typeface="Calibri"/>
              </a:defRPr>
              <a:buChar char="●"/>
            </a:pPr>
            <a:r>
              <a:t>スライド5: グループワークでは「正解はない」ことを最初に伝える。迷うこと自体が学び</a:t>
            </a:r>
          </a:p>
          <a:p>
            <a:pPr>
              <a:defRPr sz="1200">
                <a:solidFill>
                  <a:srgbClr val="FAF3E8"/>
                </a:solidFill>
                <a:latin typeface="Calibri"/>
              </a:defRPr>
              <a:buChar char="●"/>
            </a:pPr>
            <a:r>
              <a:t>スライド6: 最後のメッセージは落ち着いたトーンで。「あなたが大切」を心を込めて</a:t>
            </a:r>
          </a:p>
        </p:txBody>
      </p:sp>
      <p:sp>
        <p:nvSpPr>
          <p:cNvPr id="5" name="TextBox 4"/>
          <p:cNvSpPr txBox="1"/>
          <p:nvPr/>
        </p:nvSpPr>
        <p:spPr>
          <a:xfrm>
            <a:off x="548640" y="3657600"/>
            <a:ext cx="7772400" cy="914399"/>
          </a:xfrm>
          <a:prstGeom prst="rect">
            <a:avLst/>
          </a:prstGeom>
          <a:noFill/>
        </p:spPr>
        <p:txBody>
          <a:bodyPr wrap="square">
            <a:spAutoFit/>
          </a:bodyPr>
          <a:lstStyle/>
          <a:p>
            <a:pPr>
              <a:defRPr sz="1200">
                <a:solidFill>
                  <a:srgbClr val="FAF3E8"/>
                </a:solidFill>
                <a:latin typeface="Calibri"/>
              </a:defRPr>
              <a:buChar char="●"/>
            </a:pPr>
            <a:r>
              <a:t>3/21版：「AIエージェント」の概念紹介が中心（AIチームの比喩）</a:t>
            </a:r>
          </a:p>
          <a:p>
            <a:pPr>
              <a:defRPr sz="1200">
                <a:solidFill>
                  <a:srgbClr val="FAF3E8"/>
                </a:solidFill>
                <a:latin typeface="Calibri"/>
              </a:defRPr>
              <a:buChar char="●"/>
            </a:pPr>
            <a:r>
              <a:t>今回：「最新データで見るAIの光と影」がテーマ。AIの限界やバイアスにも踏み込んだ内容</a:t>
            </a:r>
          </a:p>
          <a:p>
            <a:pPr>
              <a:defRPr sz="1200">
                <a:solidFill>
                  <a:srgbClr val="FAF3E8"/>
                </a:solidFill>
                <a:latin typeface="Calibri"/>
              </a:defRPr>
              <a:buChar char="●"/>
            </a:pPr>
            <a:r>
              <a:t>両方受けた方には：「前回は"AIって何ができるか"、今回は"AIとどう付き合うか"」と伝える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