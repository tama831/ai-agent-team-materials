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E89B3B"/>
                </a:solidFill>
                <a:latin typeface="Yu Gothic"/>
              </a:rPr>
              <a:t>WHOシステム思考を、明日の外来でどう使うか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4300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F5F0E8"/>
                </a:solidFill>
                <a:latin typeface="Yu Gothic"/>
              </a:rPr>
              <a:t>部品から繋がりへ — 1人の患者から地域までのズームアウト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 / 28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424160" y="4892040"/>
            <a:ext cx="14630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F5F0E8"/>
                </a:solidFill>
                <a:latin typeface="Yu Gothic"/>
              </a:rPr>
              <a:t>出典 (主)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このセッションで持ち帰ってもらう3つ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1. WHOが2026年に提唱した 3つのフレーム転換 が言える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2. 目の前の1人の患者で 「部品の見方」と「繋がりの見方」 を切り替えられる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3. 自分の診療を、半径を広げて(チーム→外来→地域)眺める 語彙 を持つ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約束: 今日の話は、研修1年目の人が明日の外来で1つだけ試せることから始めます。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後半に進むにつれて視野が広がりますが、置いていきません。最後まで一緒に旅をしましょう。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0. なぜ今この話?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2026年1月、WHO と NHS England が共催ウェビナーで「保健医療人材の強化にはシステム思考が必要」と公式提唱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背景: WHO推計で 2030年までに世界で1,100万人 の保健医療人材が不足する見通し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「人を増やす」だけでは解けない問題 → 認識のフレームそのものを変える必要がある、というのが今回の提言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出典: WHO/AHPSR, *Systems thinking for health systems strengthening – changing the frame* (2026年2月)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Part 1. 症例から入る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症例: 65歳男性、2型糖尿病、HbA1c 8.6%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30秒、隣の人と話してみてください。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既往: 高血圧、軽度CKD(eGFR 52)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内服: メトホルミン1500mg/日、ARB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半年前から HbA1c が 7.4 → 8.6 にじわじわ上昇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外来では「ちゃんと飲んでます」「食事も気をつけてます」と笑顔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体重も変わらない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次の一手は?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ありがちな「部品の見方」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「やるべきこと」のチェックリストはこなしている。けれど、何かが噛み合っていない感じがする。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HbA1c が高い → 内服を強化する(SGLT2阻害薬を追加? GLP-1?)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あるいは「服薬アドヒアランスが悪いのでは」と疑う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食事指導の紙を渡し直す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次回3か月後、また同じ会話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同じ患者を「繋がりの見方」で見直す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外来カルテの欄外に書かれていない情報: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HbA1cの背後には、こういう繋がりがある。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半年前に 妻が入院 して以来、夕食は近所のスーパーの惣菜に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以前は妻が早朝散歩に付き合っていたが、今は1人だと億劫で出ない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通院は本人の運転 → 最近運転に自信がなくなり、診察日を月1回に減らしたいと思っている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息子家族は隣市だが、義母の介護で手一杯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患者本人は「先生に余計な心配をかけたくない」と思っている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同じカルテ、違う問診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「最近、食事や生活で変わったことってありますか?」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たった1問。ただし、前のスライドの情報を引き出そうとして聞く。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返ってくるのは「いや、特に……」かもしれない。それでも: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繋がりを意識した問診は、技術というより "視野" の問題。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「奥さん、元気にされてますか?」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「散歩、続けてます?」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「ここまで運転、しんどくないですか?」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Part 2. 概念整理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WHO/NHS England の3つのフレーム転換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/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0E8"/>
                          </a:solidFill>
                          <a:latin typeface="Yu Gothic"/>
                        </a:rPr>
                        <a:t>これまで(部品)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0E8"/>
                          </a:solidFill>
                          <a:latin typeface="Yu Gothic"/>
                        </a:rPr>
                        <a:t>これから(繋がり)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1. 何を見るか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部品 (parts)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繋がり (connections)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2. どう介入するか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処方 (prescription)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学習 (learning)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3. どう成果を測るか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アウトカム測定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文脈理解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出典: *Systems thinking for health systems strengthening – changing the frame*, WHO/AHPSR,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転換1: 部品から繋がりへ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「数値は嘘をつかないが、数値だけ見ていると患者を見失う」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家庭医にとっては当たり前のことを、WHOが世界の保健医療システムに対して言い直してくれた、と捉えると分かりやすい。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部品: HbA1c, 血圧, eGFR, BMI ……単独の数値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繋がり: 数値どうしの関係、数値と生活の関係、患者と家族の関係、患者と医療者の関係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転換2: 処方から学習へ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これは「ガイドラインを捨てよう」という話ではない。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ガイドラインは "最初の仮説" として使い、次回外来は "前回の仮説の検証" に使う、というイメージ。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PDCA を、医療者だけでなく 患者と一緒に回す 感じ。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処方: 「こうしなさい」と告げるモード。プロトコル通り、ガイドライン通り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学習: 「やってみてどうだったか」を一緒に振り返るモード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転換3: アウトカム測定から文脈理解へ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アウトカム測定をやめるわけではない。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測定で「何が起きたか」、文脈理解で「なぜ起きたか」を補う。 どちらか一方では片手落ち。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アウトカム測定: HbA1c が下がったか、再入院率が減ったか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文脈理解: なぜ下がったのか / なぜ下がらなかったのか、その人の生活の中で何が起きているか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3つの転換を、さっきの症例に当てはめると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486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0E8"/>
                          </a:solidFill>
                          <a:latin typeface="Yu Gothic"/>
                        </a:rPr>
                        <a:t>転換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0E8"/>
                          </a:solidFill>
                          <a:latin typeface="Yu Gothic"/>
                        </a:rPr>
                        <a:t>この症例での実装</a:t>
                      </a:r>
                    </a:p>
                  </a:txBody>
                  <a:tcPr marL="54864" marR="54864" marT="27432" marB="27432">
                    <a:solidFill>
                      <a:srgbClr val="0D2B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部品→繋がり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HbA1c単独でなく、配偶者入院・社会的孤立・通院困難の連鎖を見る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処方→学習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「散歩を再開しましょう」ではなく「次回までに何が起きたか教えてください」</a:t>
                      </a:r>
                    </a:p>
                  </a:txBody>
                  <a:tcPr marL="54864" marR="54864" marT="27432" marB="27432">
                    <a:solidFill>
                      <a:srgbClr val="F5F0E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測定→文脈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Yu Gothic"/>
                        </a:rPr>
                        <a:t>次回 HbA1c が下がっても上がっても、「なぜ?」を聞ける関係</a:t>
                      </a:r>
                    </a:p>
                  </a:txBody>
                  <a:tcPr marL="54864" marR="54864" marT="27432" marB="27432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Part 3. 自分の診療への適用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明日の外来で1つだけ試せること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外来の1人目の患者の最後に、こう聞いてみる: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「最近、生活で何か変わったことはありますか?」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ポイント: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カルテのキーワードを埋めるためではなく、繋がりを探すために 聞く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返ってきた情報は、無理に問題リストに統合しなくていい。「気にしている」と相手に伝わるだけで十分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慣れてきたら「家族で何か変化はありますか?」「仕事はどうですか?」とバリエーションを増やす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ふりかえりの型 — 自分の診療に学習ループを入れる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外来終わりに30秒、こう問う: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1. 今日の患者で、繋がりを見落としていた 可能性があるのは誰か?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2. その繋がりは、次回どう聞けば 浮かび上がりそうか?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3. 自分が気づけたのは、何のおかげ だったか?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メモは要らない。考える習慣だけでいい。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これがWHOの言う「処方から学習へ」の、自分自身への適用。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Part 4. 次の半径へ — チームと外来導線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半径を広げる: チーム回診のシステム視点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チーム = 1人の医師では見えない繋がりを束ねる装置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カンファレンスで症例を出すとき、社会背景の1スライド を必ず付ける文化にできるか?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看護師・MSW・薬剤師が見ている "繋がり" は、医師が見ている "部品" を補完する宝の山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「あの人の奥さん、最近来てないですよね」という看護師の一言が、HbA1c の謎を解くことがある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外来導線を「学習ループ」に変える小さな仕掛け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どれも今日明日には変えられないかもしれない。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でも、「これは自分が将来触れる場所だ」と思って外来を歩くと、見え方が変わる。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予約システムに「前回の宿題」欄を追加できないか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受付の問診票に「最近の変化」を書く欄を追加してみる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検査結果説明のとき、数値の前に「前回からの間に何がありましたか?」を聞く順番にする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9B3B"/>
                </a:solidFill>
                <a:latin typeface="Yu Gothic"/>
              </a:rPr>
              <a:t>Part 5. 自院・地域に持ち帰る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自分の診療所/病院をシステムとして見る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これらは、個人の努力不足ではなく、システムの構造 の問題であることが多い。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システム思考は、こういう問いに「誰が悪い」ではなく「どこに繋がりの詰まりがあるか」で答える道具を提供する。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「なぜうちの外来は毎週金曜の午後がパンクするのか」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「なぜリハビリ依頼の戻りが遅いのか」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「なぜ ACP の話し合いが一向に進まないのか」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マクロ文脈: 2030年に1,100万人不足の世界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「専門家から協働の促進者へ」というWHOの言葉は、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家庭医にとっては新しいアイデンティティではなく、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すでにやっていることに世界がやっと追いついてきた という話。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WHOは「人を増やす」だけでは追いつかないと認めた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だからこそ、既存の人材が 繋がりを束ねる 力を持つことが切実に必要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家庭医療・総合診療という職種は、まさにこの文脈の最前線にいる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今日のまとめ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1. WHOは2026年に 3つのフレーム転換 を公式に打ち出した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   (部品→繋がり / 処方→学習 / 測定→文脈)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2. それは 明日の外来の1問 から実装できる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   (「最近、生活で変わったことは?」)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3. 半径を広げると、チーム → 外来導線 → 自院 → 地域 → 世界 の話になる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4. 家庭医療科にいる私たちは、この潮流の追い風 を受けている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明日からの宿題(任意)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うまくいかなくてもOK。やってみて気づいたことを次回シェア してください。それが「学習ループ」です。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1人の患者で「繋がりを意識した1問」を試す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カンファで症例を出すとき、社会背景の1行を必ず添える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外来終わりに30秒、「今日見落とした繋がりはなかったか」を自問する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出典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&lt;https://ahpsr.who.int/newsroom/news/item/02-02-2026-systems-thinking-for-health-systems-strengthening-changing-the-frame&gt;</a:t>
            </a:r>
            <a:br/>
            <a:r>
              <a:rPr sz="1800" b="0">
                <a:solidFill>
                  <a:srgbClr val="1A1A2E"/>
                </a:solidFill>
                <a:latin typeface="Yu Gothic"/>
              </a:rPr>
              <a:t>  &lt;https://www.who.int/news-room/events/detail/2026/01/27/default-calendar/embracing-complexity--systems-thinking-for-health-workforce-strengthening&gt;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主出典: WHO/AHPSR. *Systems thinking for health systems strengthening – changing the frame*. 2026年2月.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副出典: WHO. *Embracing Complexity: Systems Thinking for Health Workforce Strengthening (Webinar)*. 2026年1月27日.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背景文献: ドネラ・メドウズ『世界はシステムで動く』, ピーター・センゲ『学習する組織』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4300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0D2B3E"/>
                </a:solidFill>
                <a:latin typeface="Yu Gothic"/>
              </a:rPr>
              <a:t>参考: もう一歩深めたい人へ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興味が湧いたら、Slack #learning にひとこと投げてください。文献紹介します。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2377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1A1A2E"/>
                </a:solidFill>
                <a:latin typeface="Yu Gothic"/>
              </a:rPr>
              <a:t>• 複雑適応系 (Complex Adaptive System, CAS) の入門資料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ドネラ・メドウズのレバレッジポイント論 (12段階)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WHOの保健システム6つのビルディングブロック</a:t>
            </a:r>
          </a:p>
          <a:p>
            <a:r>
              <a:rPr sz="1800">
                <a:solidFill>
                  <a:srgbClr val="1A1A2E"/>
                </a:solidFill>
                <a:latin typeface="Yu Gothic"/>
              </a:rPr>
              <a:t>• 『Friday Night at the ER』 — システム思考教育用シミュレーションゲーム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35661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*Generated by Scribe / 2026-04-09 / 出典は必ず一次資料を確認してください*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92240"/>
            <a:ext cx="96012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7A8A9A"/>
                </a:solidFill>
                <a:latin typeface="Yu Gothic"/>
              </a:rPr>
              <a:t>藪医者の学び / 2026-04-09 / WHOシステム思考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8A9A"/>
                </a:solidFill>
                <a:latin typeface="Yu Gothic"/>
              </a:rPr>
              <a:t>28 / 28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5120640"/>
            <a:ext cx="1371600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424160" y="4892040"/>
            <a:ext cx="1463040" cy="228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Yu Gothic"/>
              </a:rPr>
              <a:t>出典 (主)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