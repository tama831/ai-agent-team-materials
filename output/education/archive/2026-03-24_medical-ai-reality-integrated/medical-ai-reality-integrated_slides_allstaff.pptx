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A5C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5F0E8"/>
                </a:solidFill>
                <a:latin typeface="Georgia"/>
              </a:defRPr>
            </a:pPr>
            <a:r>
              <a:t>医療AIの「今」を知る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47B56"/>
                </a:solidFill>
                <a:latin typeface="Calibri"/>
              </a:defRPr>
            </a:pPr>
            <a:r>
              <a:t>私たちの働き方はどう変わるのか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2743200" cy="36576"/>
          </a:xfrm>
          <a:prstGeom prst="rect">
            <a:avLst/>
          </a:prstGeom>
          <a:solidFill>
            <a:srgbClr val="D47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7A6A"/>
                </a:solidFill>
                <a:latin typeface="Calibri"/>
              </a:defRPr>
            </a:pPr>
            <a:r>
              <a:t>全スタッフ向け 15分｜2026-03-24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A2E28"/>
                </a:solidFill>
                <a:latin typeface="Georgia"/>
              </a:defRPr>
            </a:pPr>
            <a:r>
              <a:t>AIは今、医療でどう使われているか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5603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7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822960"/>
            <a:ext cx="2560320" cy="54864"/>
          </a:xfrm>
          <a:prstGeom prst="rect">
            <a:avLst/>
          </a:prstGeom>
          <a:solidFill>
            <a:srgbClr val="D47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914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A2E28"/>
                </a:solidFill>
                <a:latin typeface="Calibri"/>
              </a:defRPr>
            </a:pPr>
            <a:r>
              <a:t>94%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4630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A2E28"/>
                </a:solidFill>
                <a:latin typeface="Calibri"/>
              </a:defRPr>
            </a:pPr>
            <a:r>
              <a:t>の医師が</a:t>
            </a:r>
            <a:br/>
            <a:r>
              <a:t>AIを利用中・検討中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94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A7A6A"/>
                </a:solidFill>
                <a:latin typeface="Calibri"/>
              </a:defRPr>
            </a:pPr>
            <a:r>
              <a:t>Doximity</a:t>
            </a:r>
            <a:br/>
            <a:r>
              <a:t>（米国医師向けプラットフォーム）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3520439" y="822960"/>
            <a:ext cx="25603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7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0439" y="822960"/>
            <a:ext cx="2560320" cy="54864"/>
          </a:xfrm>
          <a:prstGeom prst="rect">
            <a:avLst/>
          </a:prstGeom>
          <a:solidFill>
            <a:srgbClr val="D47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599" y="914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A2E28"/>
                </a:solidFill>
                <a:latin typeface="Calibri"/>
              </a:defRPr>
            </a:pPr>
            <a:r>
              <a:t>81%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599" y="14630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A2E28"/>
                </a:solidFill>
                <a:latin typeface="Calibri"/>
              </a:defRPr>
            </a:pPr>
            <a:r>
              <a:t>のAI利用率</a:t>
            </a:r>
            <a:br/>
            <a:r>
              <a:t>（2年前は38%）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599" y="2194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A7A6A"/>
                </a:solidFill>
                <a:latin typeface="Calibri"/>
              </a:defRPr>
            </a:pPr>
            <a:r>
              <a:t>AMA</a:t>
            </a:r>
            <a:br/>
            <a:r>
              <a:t>（米国医師会）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59" y="822960"/>
            <a:ext cx="25603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7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59" y="822960"/>
            <a:ext cx="2560320" cy="54864"/>
          </a:xfrm>
          <a:prstGeom prst="rect">
            <a:avLst/>
          </a:prstGeom>
          <a:solidFill>
            <a:srgbClr val="D47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914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A2E28"/>
                </a:solidFill>
                <a:latin typeface="Calibri"/>
              </a:defRPr>
            </a:pPr>
            <a:r>
              <a:t>2時間+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4630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A2E28"/>
                </a:solidFill>
                <a:latin typeface="Calibri"/>
              </a:defRPr>
            </a:pPr>
            <a:r>
              <a:t>の時間短縮</a:t>
            </a:r>
            <a:br/>
            <a:r>
              <a:t>1日あたり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194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A7A6A"/>
                </a:solidFill>
                <a:latin typeface="Calibri"/>
              </a:defRPr>
            </a:pPr>
            <a:r>
              <a:t>音声AI</a:t>
            </a:r>
            <a:br/>
            <a:r>
              <a:t>カルテ記録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29184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A2E28"/>
                </a:solidFill>
                <a:latin typeface="Georgia"/>
              </a:defRPr>
            </a:pPr>
            <a:r>
              <a:t>AIは「特別なもの」から「日常のツール」になりつつある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A2E28"/>
                </a:solidFill>
                <a:latin typeface="Georgia"/>
              </a:defRPr>
            </a:pPr>
            <a:r>
              <a:t>AIが担っていること・まだ担えないこと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777240"/>
          <a:ext cx="76809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743200"/>
                <a:gridCol w="3291840"/>
              </a:tblGrid>
              <a:tr h="40233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5F0E8"/>
                          </a:solidFill>
                          <a:latin typeface="Calibri"/>
                        </a:defRPr>
                      </a:pPr>
                      <a:r>
                        <a:t>領域</a:t>
                      </a:r>
                    </a:p>
                  </a:txBody>
                  <a:tcPr>
                    <a:solidFill>
                      <a:srgbClr val="7A5C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5F0E8"/>
                          </a:solidFill>
                          <a:latin typeface="Calibri"/>
                        </a:defRPr>
                      </a:pPr>
                      <a:r>
                        <a:t>AIの役割</a:t>
                      </a:r>
                    </a:p>
                  </a:txBody>
                  <a:tcPr>
                    <a:solidFill>
                      <a:srgbClr val="7A5C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5F0E8"/>
                          </a:solidFill>
                          <a:latin typeface="Calibri"/>
                        </a:defRPr>
                      </a:pPr>
                      <a:r>
                        <a:t>私たちへの影響</a:t>
                      </a:r>
                    </a:p>
                  </a:txBody>
                  <a:tcPr>
                    <a:solidFill>
                      <a:srgbClr val="7A5C4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E28"/>
                          </a:solidFill>
                          <a:latin typeface="Calibri"/>
                        </a:defRPr>
                      </a:pPr>
                      <a:r>
                        <a:t>カルテ記録</a:t>
                      </a:r>
                    </a:p>
                  </a:txBody>
                  <a:tcPr>
                    <a:solidFill>
                      <a:srgbClr val="F0E8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E28"/>
                          </a:solidFill>
                          <a:latin typeface="Calibri"/>
                        </a:defRPr>
                      </a:pPr>
                      <a:r>
                        <a:t>医師の音声を自動で文書化</a:t>
                      </a:r>
                    </a:p>
                  </a:txBody>
                  <a:tcPr>
                    <a:solidFill>
                      <a:srgbClr val="F0E8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E28"/>
                          </a:solidFill>
                          <a:latin typeface="Calibri"/>
                        </a:defRPr>
                      </a:pPr>
                      <a:r>
                        <a:t>記録業務の負担減</a:t>
                      </a:r>
                    </a:p>
                  </a:txBody>
                  <a:tcPr>
                    <a:solidFill>
                      <a:srgbClr val="F0E8E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E28"/>
                          </a:solidFill>
                          <a:latin typeface="Calibri"/>
                        </a:defRPr>
                      </a:pPr>
                      <a:r>
                        <a:t>事務作業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E28"/>
                          </a:solidFill>
                          <a:latin typeface="Calibri"/>
                        </a:defRPr>
                      </a:pPr>
                      <a:r>
                        <a:t>書類作成・要約を支援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E28"/>
                          </a:solidFill>
                          <a:latin typeface="Calibri"/>
                        </a:defRPr>
                      </a:pPr>
                      <a:r>
                        <a:t>残業時間の短縮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E28"/>
                          </a:solidFill>
                          <a:latin typeface="Calibri"/>
                        </a:defRPr>
                      </a:pPr>
                      <a:r>
                        <a:t>診断支援</a:t>
                      </a:r>
                    </a:p>
                  </a:txBody>
                  <a:tcPr>
                    <a:solidFill>
                      <a:srgbClr val="F0E8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E28"/>
                          </a:solidFill>
                          <a:latin typeface="Calibri"/>
                        </a:defRPr>
                      </a:pPr>
                      <a:r>
                        <a:t>情報提示（最終判断は医師）</a:t>
                      </a:r>
                    </a:p>
                  </a:txBody>
                  <a:tcPr>
                    <a:solidFill>
                      <a:srgbClr val="F0E8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E28"/>
                          </a:solidFill>
                          <a:latin typeface="Calibri"/>
                        </a:defRPr>
                      </a:pPr>
                      <a:r>
                        <a:t>判断の参考として活用</a:t>
                      </a:r>
                    </a:p>
                  </a:txBody>
                  <a:tcPr>
                    <a:solidFill>
                      <a:srgbClr val="F0E8E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E28"/>
                          </a:solidFill>
                          <a:latin typeface="Calibri"/>
                        </a:defRPr>
                      </a:pPr>
                      <a:r>
                        <a:t>患者対応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E28"/>
                          </a:solidFill>
                          <a:latin typeface="Calibri"/>
                        </a:defRPr>
                      </a:pPr>
                      <a:r>
                        <a:t>まだ発展途上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E28"/>
                          </a:solidFill>
                          <a:latin typeface="Calibri"/>
                        </a:defRPr>
                      </a:pPr>
                      <a:r>
                        <a:t>人間にしかできない領域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292608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47B56"/>
                </a:solidFill>
                <a:latin typeface="Calibri"/>
              </a:defRPr>
            </a:pPr>
            <a:r>
              <a:t>[!] AIは「医師の代わり」ではなく「医療チームの支援ツール」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A2E28"/>
                </a:solidFill>
                <a:latin typeface="Georgia"/>
              </a:defRPr>
            </a:pPr>
            <a:r>
              <a:t>AIの光と影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36576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6BA8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822960"/>
            <a:ext cx="3657600" cy="54864"/>
          </a:xfrm>
          <a:prstGeom prst="rect">
            <a:avLst/>
          </a:prstGeom>
          <a:solidFill>
            <a:srgbClr val="6BA8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8686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BA87B"/>
                </a:solidFill>
                <a:latin typeface="Calibri"/>
              </a:defRPr>
            </a:pPr>
            <a:r>
              <a:t>[+] 光の側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18872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A2E28"/>
                </a:solidFill>
                <a:latin typeface="Calibri"/>
              </a:defRPr>
              <a:buChar char="●"/>
            </a:pPr>
            <a:r>
              <a:t>カルテ記録時間が大幅に短縮</a:t>
            </a:r>
          </a:p>
          <a:p>
            <a:pPr>
              <a:defRPr sz="1100">
                <a:solidFill>
                  <a:srgbClr val="3A2E28"/>
                </a:solidFill>
                <a:latin typeface="Calibri"/>
              </a:defRPr>
              <a:buChar char="●"/>
            </a:pPr>
            <a:r>
              <a:t>医師の燃え尽き症候群の軽減</a:t>
            </a:r>
          </a:p>
          <a:p>
            <a:pPr>
              <a:defRPr sz="1100">
                <a:solidFill>
                  <a:srgbClr val="3A2E28"/>
                </a:solidFill>
                <a:latin typeface="Calibri"/>
              </a:defRPr>
              <a:buChar char="●"/>
            </a:pPr>
            <a:r>
              <a:t>研修医教育の質が向上（保持率91%）</a:t>
            </a:r>
          </a:p>
          <a:p>
            <a:pPr>
              <a:defRPr sz="1100">
                <a:solidFill>
                  <a:srgbClr val="3A2E28"/>
                </a:solidFill>
                <a:latin typeface="Calibri"/>
              </a:defRPr>
              <a:buChar char="●"/>
            </a:pPr>
            <a:r>
              <a:t>膨大な文献を瞬時に検索・要約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822960"/>
            <a:ext cx="36576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5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54880" y="822960"/>
            <a:ext cx="3657600" cy="54864"/>
          </a:xfrm>
          <a:prstGeom prst="rect">
            <a:avLst/>
          </a:prstGeom>
          <a:solidFill>
            <a:srgbClr val="D45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92040" y="8686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5B47"/>
                </a:solidFill>
                <a:latin typeface="Calibri"/>
              </a:defRPr>
            </a:pPr>
            <a:r>
              <a:t>[!] 影の側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118872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A2E28"/>
                </a:solidFill>
                <a:latin typeface="Calibri"/>
              </a:defRPr>
              <a:buChar char="●"/>
            </a:pPr>
            <a:r>
              <a:t>AIの誤りを見逃すリスク</a:t>
            </a:r>
          </a:p>
          <a:p>
            <a:pPr>
              <a:defRPr sz="1100">
                <a:solidFill>
                  <a:srgbClr val="3A2E28"/>
                </a:solidFill>
                <a:latin typeface="Calibri"/>
              </a:defRPr>
              <a:buChar char="●"/>
            </a:pPr>
            <a:r>
              <a:t>実際の患者データでの検証が不十分</a:t>
            </a:r>
          </a:p>
          <a:p>
            <a:pPr>
              <a:defRPr sz="1100">
                <a:solidFill>
                  <a:srgbClr val="3A2E28"/>
                </a:solidFill>
                <a:latin typeface="Calibri"/>
              </a:defRPr>
              <a:buChar char="●"/>
            </a:pPr>
            <a:r>
              <a:t>個人情報保護の課題</a:t>
            </a:r>
          </a:p>
          <a:p>
            <a:pPr>
              <a:defRPr sz="1100">
                <a:solidFill>
                  <a:srgbClr val="3A2E28"/>
                </a:solidFill>
                <a:latin typeface="Calibri"/>
              </a:defRPr>
              <a:buChar char="●"/>
            </a:pPr>
            <a:r>
              <a:t>「AIに任せきり」の危険性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49039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47B56"/>
                </a:solidFill>
                <a:latin typeface="Calibri"/>
              </a:defRPr>
            </a:pPr>
            <a:r>
              <a:t>大切なのは「光」だけでも「影」だけでもなく、両方を知ること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A2E28"/>
                </a:solidFill>
                <a:latin typeface="Georgia"/>
              </a:defRPr>
            </a:pPr>
            <a:r>
              <a:t>私たちにできること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965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A7B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1965960" cy="54864"/>
          </a:xfrm>
          <a:prstGeom prst="rect">
            <a:avLst/>
          </a:prstGeom>
          <a:solidFill>
            <a:srgbClr val="D47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A2E28"/>
                </a:solidFill>
                <a:latin typeface="Calibri"/>
              </a:defRPr>
            </a:pPr>
            <a:r>
              <a:t>知る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783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A2E28"/>
                </a:solidFill>
                <a:latin typeface="Calibri"/>
              </a:defRPr>
            </a:pPr>
            <a:r>
              <a:t>AIが何をしているか</a:t>
            </a:r>
            <a:br/>
            <a:r>
              <a:t>理解する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2606040" y="822960"/>
            <a:ext cx="1965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A7B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606040" y="822960"/>
            <a:ext cx="1965960" cy="54864"/>
          </a:xfrm>
          <a:prstGeom prst="rect">
            <a:avLst/>
          </a:prstGeom>
          <a:solidFill>
            <a:srgbClr val="D47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97480" y="91440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A2E28"/>
                </a:solidFill>
                <a:latin typeface="Calibri"/>
              </a:defRPr>
            </a:pPr>
            <a:r>
              <a:t>確認する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463040"/>
            <a:ext cx="1783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A2E28"/>
                </a:solidFill>
                <a:latin typeface="Calibri"/>
              </a:defRPr>
            </a:pPr>
            <a:r>
              <a:t>AIの結果を</a:t>
            </a:r>
            <a:br/>
            <a:r>
              <a:t>鵜呑みにしない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822960"/>
            <a:ext cx="1965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A7B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54880" y="822960"/>
            <a:ext cx="1965960" cy="54864"/>
          </a:xfrm>
          <a:prstGeom prst="rect">
            <a:avLst/>
          </a:prstGeom>
          <a:solidFill>
            <a:srgbClr val="D47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91440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A2E28"/>
                </a:solidFill>
                <a:latin typeface="Calibri"/>
              </a:defRPr>
            </a:pPr>
            <a:r>
              <a:t>伝える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1463040"/>
            <a:ext cx="1783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A2E28"/>
                </a:solidFill>
                <a:latin typeface="Calibri"/>
              </a:defRPr>
            </a:pPr>
            <a:r>
              <a:t>患者さんに</a:t>
            </a:r>
            <a:br/>
            <a:r>
              <a:t>正直に説明する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03720" y="822960"/>
            <a:ext cx="1965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A7B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03720" y="822960"/>
            <a:ext cx="1965960" cy="54864"/>
          </a:xfrm>
          <a:prstGeom prst="rect">
            <a:avLst/>
          </a:prstGeom>
          <a:solidFill>
            <a:srgbClr val="D47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95160" y="91440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A2E28"/>
                </a:solidFill>
                <a:latin typeface="Calibri"/>
              </a:defRPr>
            </a:pPr>
            <a:r>
              <a:t>学び続ける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1463040"/>
            <a:ext cx="1783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A2E28"/>
                </a:solidFill>
                <a:latin typeface="Calibri"/>
              </a:defRPr>
            </a:pPr>
            <a:r>
              <a:t>新しい技術に</a:t>
            </a:r>
            <a:br/>
            <a:r>
              <a:t>関心を持ち続ける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292608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47B56"/>
                </a:solidFill>
                <a:latin typeface="Calibri"/>
              </a:defRPr>
            </a:pPr>
            <a:r>
              <a:t>AIは「使う側」の姿勢で結果が変わる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A2E28"/>
                </a:solidFill>
                <a:latin typeface="Georgia"/>
              </a:defRPr>
            </a:pPr>
            <a:r>
              <a:t>よくある質問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777240"/>
          <a:ext cx="768096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937760"/>
              </a:tblGrid>
              <a:tr h="5029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5F0E8"/>
                          </a:solidFill>
                          <a:latin typeface="Calibri"/>
                        </a:defRPr>
                      </a:pPr>
                      <a:r>
                        <a:t>質問</a:t>
                      </a:r>
                    </a:p>
                  </a:txBody>
                  <a:tcPr>
                    <a:solidFill>
                      <a:srgbClr val="7A5C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5F0E8"/>
                          </a:solidFill>
                          <a:latin typeface="Calibri"/>
                        </a:defRPr>
                      </a:pPr>
                      <a:r>
                        <a:t>回答</a:t>
                      </a:r>
                    </a:p>
                  </a:txBody>
                  <a:tcPr>
                    <a:solidFill>
                      <a:srgbClr val="7A5C4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E28"/>
                          </a:solidFill>
                          <a:latin typeface="Calibri"/>
                        </a:defRPr>
                      </a:pPr>
                      <a:r>
                        <a:t>AIに仕事を奪われる？</a:t>
                      </a:r>
                    </a:p>
                  </a:txBody>
                  <a:tcPr>
                    <a:solidFill>
                      <a:srgbClr val="F0E8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E28"/>
                          </a:solidFill>
                          <a:latin typeface="Calibri"/>
                        </a:defRPr>
                      </a:pPr>
                      <a:r>
                        <a:t>現時点では「代替」ではなく「支援」。事務作業の負担軽減が中心</a:t>
                      </a:r>
                    </a:p>
                  </a:txBody>
                  <a:tcPr>
                    <a:solidFill>
                      <a:srgbClr val="F0E8E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E28"/>
                          </a:solidFill>
                          <a:latin typeface="Calibri"/>
                        </a:defRPr>
                      </a:pPr>
                      <a:r>
                        <a:t>患者の情報は大丈夫？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E28"/>
                          </a:solidFill>
                          <a:latin typeface="Calibri"/>
                        </a:defRPr>
                      </a:pPr>
                      <a:r>
                        <a:t>個人情報保護は最重要課題。施設のルールに従うことが大切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E28"/>
                          </a:solidFill>
                          <a:latin typeface="Calibri"/>
                        </a:defRPr>
                      </a:pPr>
                      <a:r>
                        <a:t>私も使うべき？</a:t>
                      </a:r>
                    </a:p>
                  </a:txBody>
                  <a:tcPr>
                    <a:solidFill>
                      <a:srgbClr val="F0E8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E28"/>
                          </a:solidFill>
                          <a:latin typeface="Calibri"/>
                        </a:defRPr>
                      </a:pPr>
                      <a:r>
                        <a:t>まずは「何ができるか」を知ることから。無理に使う必要はない</a:t>
                      </a:r>
                    </a:p>
                  </a:txBody>
                  <a:tcPr>
                    <a:solidFill>
                      <a:srgbClr val="F0E8E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E28"/>
                          </a:solidFill>
                          <a:latin typeface="Calibri"/>
                        </a:defRPr>
                      </a:pPr>
                      <a:r>
                        <a:t>間違えたら誰の責任？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2E28"/>
                          </a:solidFill>
                          <a:latin typeface="Calibri"/>
                        </a:defRPr>
                      </a:pPr>
                      <a:r>
                        <a:t>最終判断は医療者。AIは参考情報の提供者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A5C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5F0E8"/>
                </a:solidFill>
                <a:latin typeface="Georgia"/>
              </a:defRPr>
            </a:pPr>
            <a:r>
              <a:t>今日の持ち帰り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5F0E8"/>
                </a:solidFill>
                <a:latin typeface="Calibri"/>
              </a:defRPr>
              <a:buChar char="●"/>
            </a:pPr>
            <a:r>
              <a:t>医療AIは急速に広がっている -- 医師の94%が利用中・検討中</a:t>
            </a:r>
          </a:p>
          <a:p>
            <a:pPr>
              <a:defRPr sz="1400">
                <a:solidFill>
                  <a:srgbClr val="F5F0E8"/>
                </a:solidFill>
                <a:latin typeface="Calibri"/>
              </a:defRPr>
              <a:buChar char="●"/>
            </a:pPr>
            <a:r>
              <a:t>主な用途は「カルテ記録」と「事務作業」の効率化</a:t>
            </a:r>
          </a:p>
          <a:p>
            <a:pPr>
              <a:defRPr sz="1400">
                <a:solidFill>
                  <a:srgbClr val="F5F0E8"/>
                </a:solidFill>
                <a:latin typeface="Calibri"/>
              </a:defRPr>
              <a:buChar char="●"/>
            </a:pPr>
            <a:r>
              <a:t>光（時短・質の向上）と影（誤りのリスク・倫理課題）の両面がある</a:t>
            </a:r>
          </a:p>
          <a:p>
            <a:pPr>
              <a:defRPr sz="1400">
                <a:solidFill>
                  <a:srgbClr val="F5F0E8"/>
                </a:solidFill>
                <a:latin typeface="Calibri"/>
              </a:defRPr>
              <a:buChar char="●"/>
            </a:pPr>
            <a:r>
              <a:t>大切なのは「知る・確認する・伝える・学び続ける」の4つ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834640"/>
            <a:ext cx="7680960" cy="36576"/>
          </a:xfrm>
          <a:prstGeom prst="rect">
            <a:avLst/>
          </a:prstGeom>
          <a:solidFill>
            <a:srgbClr val="D47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5F0E8"/>
                </a:solidFill>
                <a:latin typeface="Georgia"/>
              </a:defRPr>
            </a:pPr>
            <a:r>
              <a:t>AIは「怖いもの」でも「魔法」でもない。</a:t>
            </a:r>
            <a:br/>
            <a:r>
              <a:t>正しく知って、賢く付き合っていくための第一歩。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