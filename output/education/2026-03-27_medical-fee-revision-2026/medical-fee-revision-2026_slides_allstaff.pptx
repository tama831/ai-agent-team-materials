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8A9E8C"/>
                </a:solidFill>
                <a:latin typeface="Calibri"/>
              </a:defRPr>
            </a:pPr>
            <a:r>
              <a:t>2026年度 診療報酬改定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914400"/>
            <a:ext cx="82296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6400" b="1">
                <a:solidFill>
                  <a:srgbClr val="E8A84C"/>
                </a:solidFill>
                <a:latin typeface="Calibri"/>
              </a:defRPr>
            </a:pPr>
            <a:r>
              <a:t>+3.09%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800" b="0">
                <a:solidFill>
                  <a:srgbClr val="FFF8F0"/>
                </a:solidFill>
                <a:latin typeface="Calibri"/>
              </a:defRPr>
            </a:pPr>
            <a:r>
              <a:t>30年ぶりの大改定 — あなたの給与に直結します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0" y="2743200"/>
            <a:ext cx="36576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108960"/>
            <a:ext cx="54864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566928" y="310896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318211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Georgia"/>
              </a:defRPr>
            </a:pPr>
            <a:r>
              <a:t>改定の半分以上は「賃上げ」と「物価対策」。</a:t>
            </a:r>
            <a:br/>
            <a:r>
              <a:t>皆さんの処遇改善に直接つながる改定です。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10分で3つだけ覚えてください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2296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63040"/>
            <a:ext cx="16459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E8A84C"/>
                </a:solidFill>
                <a:latin typeface="Calibri"/>
              </a:defRPr>
            </a:pPr>
            <a:r>
              <a:t>わかる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508760"/>
            <a:ext cx="56692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改定が自分の給与にどう影響するか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2468880"/>
            <a:ext cx="7680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560320"/>
            <a:ext cx="16459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E8A84C"/>
                </a:solidFill>
                <a:latin typeface="Calibri"/>
              </a:defRPr>
            </a:pPr>
            <a:r>
              <a:t>できる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60320" y="2606040"/>
            <a:ext cx="56692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マイナ保険証の案内をスムーズにできる</a:t>
            </a:r>
          </a:p>
        </p:txBody>
      </p:sp>
      <p:sp>
        <p:nvSpPr>
          <p:cNvPr id="10" name="Rectangle 9"/>
          <p:cNvSpPr/>
          <p:nvPr/>
        </p:nvSpPr>
        <p:spPr>
          <a:xfrm>
            <a:off x="731520" y="3566160"/>
            <a:ext cx="768096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3657600"/>
            <a:ext cx="164592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E8A84C"/>
                </a:solidFill>
                <a:latin typeface="Calibri"/>
              </a:defRPr>
            </a:pPr>
            <a:r>
              <a:t>知る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560320" y="3703320"/>
            <a:ext cx="5669280" cy="6400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500" b="0">
                <a:solidFill>
                  <a:srgbClr val="2D2D2D"/>
                </a:solidFill>
                <a:latin typeface="Calibri"/>
              </a:defRPr>
            </a:pPr>
            <a:r>
              <a:t>BCPとは何か、自分の役割は何か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FFF8F0"/>
                </a:solidFill>
                <a:latin typeface="Calibri"/>
              </a:defRPr>
            </a:pPr>
            <a:r>
              <a:t>あなたの給与に直結する変更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400" b="0">
                <a:solidFill>
                  <a:srgbClr val="8A9E8C"/>
                </a:solidFill>
                <a:latin typeface="Calibri"/>
              </a:defRPr>
            </a:pPr>
            <a:r>
              <a:t>ベースアップ評価料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645920"/>
            <a:ext cx="2743200" cy="1371600"/>
          </a:xfrm>
          <a:prstGeom prst="rect">
            <a:avLst/>
          </a:prstGeom>
          <a:solidFill>
            <a:srgbClr val="3D6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7432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000" b="1">
                <a:solidFill>
                  <a:srgbClr val="8A9E8C"/>
                </a:solidFill>
                <a:latin typeface="Calibri"/>
              </a:defRPr>
            </a:pPr>
            <a:r>
              <a:t>6点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27432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000" b="0">
                <a:solidFill>
                  <a:srgbClr val="8A9E8C"/>
                </a:solidFill>
                <a:latin typeface="Calibri"/>
              </a:defRPr>
            </a:pPr>
            <a:r>
              <a:t>旧（医療従事者のみ）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82880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E8A84C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0" y="1645920"/>
            <a:ext cx="3200400" cy="13716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0" y="1737360"/>
            <a:ext cx="3200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4800" b="1">
                <a:solidFill>
                  <a:srgbClr val="3D6B5E"/>
                </a:solidFill>
                <a:latin typeface="Calibri"/>
              </a:defRPr>
            </a:pPr>
            <a:r>
              <a:t>17点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468880"/>
            <a:ext cx="32004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3D6B5E"/>
                </a:solidFill>
                <a:latin typeface="Calibri"/>
              </a:defRPr>
            </a:pPr>
            <a:r>
              <a:t>新（全職員対象！）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4864" cy="73152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3383280"/>
            <a:ext cx="8119872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456432"/>
            <a:ext cx="7863840" cy="58521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300" b="0">
                <a:solidFill>
                  <a:srgbClr val="2D2D2D"/>
                </a:solidFill>
                <a:latin typeface="Georgia"/>
              </a:defRPr>
            </a:pPr>
            <a:r>
              <a:t>事務職員・受付・介護職員も対象に。</a:t>
            </a:r>
            <a:br/>
            <a:r>
              <a:t>病院全体の収入増 → 皆さんの処遇改善の原資になります。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窓口の声かけが収入に直結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8A9E8C"/>
                </a:solidFill>
                <a:latin typeface="Calibri"/>
              </a:defRPr>
            </a:pPr>
            <a:r>
              <a:t>マイナ保険証の利用率で加算が変わる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45920"/>
            <a:ext cx="8229600" cy="640080"/>
          </a:xfrm>
          <a:prstGeom prst="rect">
            <a:avLst/>
          </a:prstGeom>
          <a:solidFill>
            <a:srgbClr val="E8A84C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69164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3D6B5E"/>
                </a:solidFill>
                <a:latin typeface="Calibri"/>
              </a:defRPr>
            </a:pPr>
            <a:r>
              <a:t>15点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69164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3D6B5E"/>
                </a:solidFill>
                <a:latin typeface="Calibri"/>
              </a:defRPr>
            </a:pPr>
            <a:r>
              <a:t>利用率30%以上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17373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E8C"/>
                </a:solidFill>
                <a:latin typeface="Calibri"/>
              </a:defRPr>
            </a:pPr>
            <a:r>
              <a:t>目指すべきライン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468880"/>
            <a:ext cx="6858000" cy="640080"/>
          </a:xfrm>
          <a:prstGeom prst="rect">
            <a:avLst/>
          </a:prstGeom>
          <a:solidFill>
            <a:srgbClr val="F0F7F2"/>
          </a:solidFill>
          <a:ln w="12700">
            <a:solidFill>
              <a:srgbClr val="8A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51460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9点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51460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電子処方箋あり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56032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E8C"/>
                </a:solidFill>
                <a:latin typeface="Calibri"/>
              </a:defRPr>
            </a:pPr>
            <a:r>
              <a:t>体制が整っていれば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291840"/>
            <a:ext cx="5486400" cy="640080"/>
          </a:xfrm>
          <a:prstGeom prst="rect">
            <a:avLst/>
          </a:prstGeom>
          <a:solidFill>
            <a:srgbClr val="F0F7F2"/>
          </a:solidFill>
          <a:ln w="12700">
            <a:solidFill>
              <a:srgbClr val="8A9E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337560"/>
            <a:ext cx="109728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200" b="1">
                <a:solidFill>
                  <a:srgbClr val="2D2D2D"/>
                </a:solidFill>
                <a:latin typeface="Calibri"/>
              </a:defRPr>
            </a:pPr>
            <a:r>
              <a:t>4点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33756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Calibri"/>
              </a:defRPr>
            </a:pPr>
            <a:r>
              <a:t>基本体制のみ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383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100" b="0">
                <a:solidFill>
                  <a:srgbClr val="8A9E8C"/>
                </a:solidFill>
                <a:latin typeface="Calibri"/>
              </a:defRPr>
            </a:pPr>
            <a:r>
              <a:t>最低ライン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389120"/>
            <a:ext cx="54864" cy="64008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4389120"/>
            <a:ext cx="8119872" cy="64008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5800" y="4462272"/>
            <a:ext cx="7863840" cy="493775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2D2D2D"/>
                </a:solidFill>
                <a:latin typeface="Georgia"/>
              </a:defRPr>
            </a:pPr>
            <a:r>
              <a:t>受付の皆さんへ: 「マイナ保険証はお持ちですか？」の一言が、</a:t>
            </a:r>
            <a:br/>
            <a:r>
              <a:t>病院の収入を年間数百万円変える可能性があります。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FF8F0"/>
                </a:solidFill>
                <a:latin typeface="Calibri"/>
              </a:defRPr>
            </a:pPr>
            <a:r>
              <a:t>BCP = 事業継続計画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E8A84C"/>
                </a:solidFill>
                <a:latin typeface="Calibri"/>
              </a:defRPr>
            </a:pPr>
            <a:r>
              <a:t>「災害やサイバー攻撃が起きても診療を続ける計画」</a:t>
            </a:r>
          </a:p>
        </p:txBody>
      </p:sp>
      <p:sp>
        <p:nvSpPr>
          <p:cNvPr id="5" name="Rectangle 4"/>
          <p:cNvSpPr/>
          <p:nvPr/>
        </p:nvSpPr>
        <p:spPr>
          <a:xfrm>
            <a:off x="2286000" y="1828800"/>
            <a:ext cx="4572000" cy="13716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286000" y="1874519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3D6B5E"/>
                </a:solidFill>
                <a:latin typeface="Calibri"/>
              </a:defRPr>
            </a:pPr>
            <a:r>
              <a:t>策定期限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2148840"/>
            <a:ext cx="45720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3600" b="1">
                <a:solidFill>
                  <a:srgbClr val="3D6B5E"/>
                </a:solidFill>
                <a:latin typeface="Calibri"/>
              </a:defRPr>
            </a:pPr>
            <a:r>
              <a:t>2027年5月末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2834640"/>
            <a:ext cx="45720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1100" b="0">
                <a:solidFill>
                  <a:srgbClr val="3D6B5E"/>
                </a:solidFill>
                <a:latin typeface="Calibri"/>
              </a:defRPr>
            </a:pPr>
            <a:r>
              <a:t>未策定の場合、施設基準を満たせなくなる可能性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8229600" cy="2743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1">
                <a:solidFill>
                  <a:srgbClr val="FFF8F0"/>
                </a:solidFill>
                <a:latin typeface="Calibri"/>
              </a:defRPr>
            </a:pPr>
            <a:r>
              <a:t>あなたに関係すること: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840480"/>
            <a:ext cx="7772400" cy="109728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FFF8F0"/>
                </a:solidFill>
                <a:latin typeface="Calibri"/>
              </a:defRPr>
              <a:buChar char="●"/>
            </a:pPr>
            <a:r>
              <a:t>「災害時にあなたの部署は何をするか」を決める</a:t>
            </a:r>
          </a:p>
          <a:p>
            <a:pPr>
              <a:defRPr sz="1300">
                <a:solidFill>
                  <a:srgbClr val="FFF8F0"/>
                </a:solidFill>
                <a:latin typeface="Calibri"/>
              </a:defRPr>
              <a:buChar char="●"/>
            </a:pPr>
            <a:r>
              <a:t>「システムが止まったらどうするか」の手順を決める</a:t>
            </a:r>
          </a:p>
          <a:p>
            <a:pPr>
              <a:defRPr sz="1300">
                <a:solidFill>
                  <a:srgbClr val="FFF8F0"/>
                </a:solidFill>
                <a:latin typeface="Calibri"/>
              </a:defRPr>
              <a:buChar char="●"/>
            </a:pPr>
            <a:r>
              <a:t>年1回以上の訓練に参加する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2D2D2D"/>
                </a:solidFill>
                <a:latin typeface="Calibri"/>
              </a:defRPr>
            </a:pPr>
            <a:r>
              <a:t>隣の人と話してみましょう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77724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0" y="1097280"/>
            <a:ext cx="27432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E8A84C"/>
                </a:solidFill>
                <a:latin typeface="Calibri"/>
              </a:defRPr>
            </a:pPr>
            <a:r>
              <a:t>2分間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828800"/>
            <a:ext cx="54864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24128" y="1828800"/>
            <a:ext cx="7205472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901952"/>
            <a:ext cx="6949440" cy="76809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0">
                <a:solidFill>
                  <a:srgbClr val="2D2D2D"/>
                </a:solidFill>
                <a:latin typeface="Georgia"/>
              </a:defRPr>
            </a:pPr>
            <a:r>
              <a:t>今日聞いた改定内容の中で、</a:t>
            </a:r>
            <a:br/>
            <a:r>
              <a:t>あなたの日常業務に一番影響がありそうなのは何ですか？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017520"/>
            <a:ext cx="6400800" cy="13716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>
              <a:defRPr sz="1300">
                <a:solidFill>
                  <a:srgbClr val="2D2D2D"/>
                </a:solidFill>
                <a:latin typeface="Calibri"/>
              </a:defRPr>
              <a:buChar char="●"/>
            </a:pPr>
            <a:r>
              <a:t>「マイナ保険証の声かけを増やさないと…」</a:t>
            </a:r>
          </a:p>
          <a:p>
            <a:pPr>
              <a:defRPr sz="1300">
                <a:solidFill>
                  <a:srgbClr val="2D2D2D"/>
                </a:solidFill>
                <a:latin typeface="Calibri"/>
              </a:defRPr>
              <a:buChar char="●"/>
            </a:pPr>
            <a:r>
              <a:t>「BCPって、うちの部署ではどうなるんだろう？」</a:t>
            </a:r>
          </a:p>
          <a:p>
            <a:pPr>
              <a:defRPr sz="1300">
                <a:solidFill>
                  <a:srgbClr val="2D2D2D"/>
                </a:solidFill>
                <a:latin typeface="Calibri"/>
              </a:defRPr>
              <a:buChar char="●"/>
            </a:pPr>
            <a:r>
              <a:t>「ベースアップ評価料、給与にいつ反映される？」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D6B5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2400" b="1">
                <a:solidFill>
                  <a:srgbClr val="FFF8F0"/>
                </a:solidFill>
                <a:latin typeface="Calibri"/>
              </a:defRPr>
            </a:pPr>
            <a:r>
              <a:t>3つだけ覚えてください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685800"/>
            <a:ext cx="1828800" cy="54864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09728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05156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FF8F0"/>
                </a:solidFill>
                <a:latin typeface="Calibri"/>
              </a:defRPr>
            </a:pPr>
            <a:r>
              <a:t>賃上げ原資が大幅増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41732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ベースアップ評価料17点</a:t>
            </a:r>
            <a:br/>
            <a:r>
              <a:t>全職員が対象に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19456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28600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24028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FF8F0"/>
                </a:solidFill>
                <a:latin typeface="Calibri"/>
              </a:defRPr>
            </a:pPr>
            <a:r>
              <a:t>マイナ保険証 = 収入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260604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利用率30%で区分1（15点）</a:t>
            </a:r>
            <a:br/>
            <a:r>
              <a:t>窓口の声かけが鍵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3383280"/>
            <a:ext cx="914400" cy="91440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3474720"/>
            <a:ext cx="914400" cy="73152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ctr">
              <a:defRPr sz="2800" b="1">
                <a:solidFill>
                  <a:srgbClr val="3D6B5E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3429000"/>
            <a:ext cx="3657600" cy="36576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600" b="1">
                <a:solidFill>
                  <a:srgbClr val="FFF8F0"/>
                </a:solidFill>
                <a:latin typeface="Calibri"/>
              </a:defRPr>
            </a:pPr>
            <a:r>
              <a:t>BCP策定に全員参加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3794760"/>
            <a:ext cx="6858000" cy="457200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200" b="0">
                <a:solidFill>
                  <a:srgbClr val="FFF8F0"/>
                </a:solidFill>
                <a:latin typeface="Calibri"/>
              </a:defRPr>
            </a:pPr>
            <a:r>
              <a:t>2027年5月末までに策定</a:t>
            </a:r>
            <a:br/>
            <a:r>
              <a:t>「あなたの役割」を確認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371600" y="4572000"/>
            <a:ext cx="54864" cy="365760"/>
          </a:xfrm>
          <a:prstGeom prst="rect">
            <a:avLst/>
          </a:prstGeom>
          <a:solidFill>
            <a:srgbClr val="E8A8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1481328" y="4572000"/>
            <a:ext cx="6291072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7DB8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600200" y="4645152"/>
            <a:ext cx="6035040" cy="219456"/>
          </a:xfrm>
          <a:prstGeom prst="rect">
            <a:avLst/>
          </a:prstGeom>
          <a:noFill/>
        </p:spPr>
        <p:txBody>
          <a:bodyPr wrap="square" lIns="45720" rIns="45720" tIns="27432" bIns="27432">
            <a:spAutoFit/>
          </a:bodyPr>
          <a:lstStyle/>
          <a:p>
            <a:pPr algn="l">
              <a:defRPr sz="1400" b="0">
                <a:solidFill>
                  <a:srgbClr val="2D2D2D"/>
                </a:solidFill>
                <a:latin typeface="Georgia"/>
              </a:defRPr>
            </a:pPr>
            <a:r>
              <a:t>明日、1つだけ変えるとしたら何を変えますか？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