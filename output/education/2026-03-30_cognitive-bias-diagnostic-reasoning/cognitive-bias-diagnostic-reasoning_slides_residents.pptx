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F0F4FC"/>
                </a:solidFill>
                <a:latin typeface="Calibri"/>
              </a:defRPr>
            </a:pPr>
            <a:r>
              <a:t>「完全に確信がある」医師の</a:t>
            </a:r>
            <a:br/>
            <a:r>
              <a:t>40%が間違っていた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645920"/>
            <a:ext cx="36576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920240"/>
            <a:ext cx="274320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6000" b="1">
                <a:solidFill>
                  <a:srgbClr val="00C9A7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0">
                <a:solidFill>
                  <a:srgbClr val="8A95BA"/>
                </a:solidFill>
                <a:latin typeface="Calibri"/>
              </a:defRPr>
            </a:pPr>
            <a:r>
              <a:t>ICU臨床診断 — 剖検との比較研究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3657600"/>
            <a:ext cx="72054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730752"/>
            <a:ext cx="69494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E2761"/>
                </a:solidFill>
                <a:latin typeface="Georgia"/>
              </a:defRPr>
            </a:pPr>
            <a:r>
              <a:t>これは能力の問題ではない。人間の脳に構造的に組み込まれた</a:t>
            </a:r>
            <a:br/>
            <a:r>
              <a:t>予測可能なシステムエラーである。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本日のゴール（20分後のあなた）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011680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39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認識できる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188720"/>
            <a:ext cx="5943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Calibri"/>
              </a:defRPr>
            </a:pPr>
            <a:r>
              <a:t>4つの認知バイアスを</a:t>
            </a:r>
            <a:br/>
            <a:r>
              <a:t>臨床場面で見分けられる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011680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実践できる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77440"/>
            <a:ext cx="5943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Calibri"/>
              </a:defRPr>
            </a:pPr>
            <a:r>
              <a:t>除偏介入を3つ使える</a:t>
            </a:r>
            <a:br/>
            <a:r>
              <a:t>（タイムアウト、プレモーテム、構造化振り返り）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2011680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611879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振り返れる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566160"/>
            <a:ext cx="5943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Calibri"/>
              </a:defRPr>
            </a:pPr>
            <a:r>
              <a:t>自分の推論プロセスを</a:t>
            </a:r>
            <a:br/>
            <a:r>
              <a:t>構造化して省察できる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ブルーム分類: 理解 → 分析 → 創造 | 二重過程理論 × 認知的強制戦略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F0F4FC"/>
                </a:solidFill>
                <a:latin typeface="Calibri"/>
              </a:defRPr>
            </a:pPr>
            <a:r>
              <a:t>Kahnemanの二重過程理論 — 速い脳と遅い脳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154680"/>
                <a:gridCol w="3154680"/>
              </a:tblGrid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System 1（直感）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System 2（分析）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速度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高速・自動的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低速・意識的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努力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低負荷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高負荷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臨床での発現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パターン認識で</a:t>
                      </a:r>
                    </a:p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即座に診断仮説を生成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鑑別診断リストの</a:t>
                      </a:r>
                    </a:p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体系的検討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強み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経験に基づく効率的判断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論理的・確率的推論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弱み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認知バイアスの温床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認知負荷が高く</a:t>
                      </a:r>
                    </a:p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疲労で機能低下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206240"/>
            <a:ext cx="54864" cy="6400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206240"/>
            <a:ext cx="81198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279392"/>
            <a:ext cx="7863840" cy="4937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Georgia"/>
              </a:defRPr>
            </a:pPr>
            <a:r>
              <a:t>System 1が生成した仮説を、System 2が十分にチェックしないとき、バイアスが発動する</a:t>
            </a:r>
            <a:br/>
            <a:r>
              <a:t>— Enke (2023): 高ステークでもバイアスは縮小するが完全には消えない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確認バイアス × アンカリング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4206240" cy="182880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確認バイアス（Confirmation Bias）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Calibri"/>
              </a:defRPr>
            </a:pPr>
            <a:r>
              <a:t>初期仮説を支持する情報を選択的に収集し、</a:t>
            </a:r>
            <a:br/>
            <a:r>
              <a:t>矛盾する情報を無視・過小評価する傾向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8404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Calibri"/>
              </a:defRPr>
            </a:pPr>
            <a:r>
              <a:t>ケース: 32歳女性、不安障害既往、胸痛</a:t>
            </a:r>
            <a:br/>
            <a:r>
              <a:t>→「パニック発作」仮説 → 確認的質問に偏る</a:t>
            </a:r>
            <a:br/>
            <a:r>
              <a:t>→ SpO2 96%を不安のせいと軽視</a:t>
            </a:r>
            <a:br/>
            <a:r>
              <a:t>→ 肺塞栓症の見逃し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822960"/>
            <a:ext cx="4206240" cy="182880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86868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アンカリング（Anchoring）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Calibri"/>
              </a:defRPr>
            </a:pPr>
            <a:r>
              <a:t>最初に得た情報に過度に依存し、</a:t>
            </a:r>
            <a:br/>
            <a:r>
              <a:t>後続の情報で十分な調整ができない傾向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38404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Calibri"/>
              </a:defRPr>
            </a:pPr>
            <a:r>
              <a:t>ケース: 58歳男性、紹介状「GERD増悪疑い」</a:t>
            </a:r>
            <a:br/>
            <a:r>
              <a:t>→ 紹介状がアンカーに</a:t>
            </a:r>
            <a:br/>
            <a:r>
              <a:t>→ 労作時増悪・冷汗に注意が向かない</a:t>
            </a:r>
            <a:br/>
            <a:r>
              <a:t>→ 急性冠症候群の診断遅延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92608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Georgia"/>
              </a:defRPr>
            </a:pPr>
            <a:r>
              <a:t>紹介状という権威ある情報源がアンカーの強度を増幅。</a:t>
            </a:r>
            <a:br/>
            <a:r>
              <a:t>年間約27,000件の入院と150,000件以上の患者被害が診断エラーに起因（米国）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エラーの構造: 既往歴がアンカーとなり、確認バイアスがそれを強化する複合パターン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利用可能性ヒューリスティック × 過信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42062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利用可能性（Availability）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F0F4FC"/>
                </a:solidFill>
                <a:latin typeface="Calibri"/>
              </a:defRPr>
            </a:pPr>
            <a:r>
              <a:t>思い出しやすい情報に基づいて</a:t>
            </a:r>
            <a:br/>
            <a:r>
              <a:t>確率を推定してしまう傾向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8404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F0F4FC"/>
                </a:solidFill>
                <a:latin typeface="Calibri"/>
              </a:defRPr>
            </a:pPr>
            <a:r>
              <a:t>ケース: 肺炎見逃しの翌週</a:t>
            </a:r>
            <a:br/>
            <a:r>
              <a:t>→ 咳嗽の患者で肺炎を過大評価</a:t>
            </a:r>
            <a:br/>
            <a:r>
              <a:t>→ 不要なCTオーダー増加</a:t>
            </a:r>
            <a:br/>
            <a:r>
              <a:t>→ 心不全・気管支喘息を見落とす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822960"/>
            <a:ext cx="42062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86868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過信（Overconfidence）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F0F4FC"/>
                </a:solidFill>
                <a:latin typeface="Calibri"/>
              </a:defRPr>
            </a:pPr>
            <a:r>
              <a:t>自分の判断の正確さを過大評価し、</a:t>
            </a:r>
            <a:br/>
            <a:r>
              <a:t>不確実性の範囲を過小見積もりする傾向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38404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F0F4FC"/>
                </a:solidFill>
                <a:latin typeface="Calibri"/>
              </a:defRPr>
            </a:pPr>
            <a:r>
              <a:t>3形態: 過精度（90%確信→実際60%）</a:t>
            </a:r>
            <a:br/>
            <a:r>
              <a:t>過大評価（能力を過信）</a:t>
            </a:r>
            <a:br/>
            <a:r>
              <a:t>過配置（自分は平均以上と信じる）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2926080"/>
          <a:ext cx="8595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402336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時期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自信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正確性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状態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研修初期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高い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低い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知らないことを知らない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中間期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急落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上昇中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複雑さに気づく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熟達期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適切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高い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自信と謙虚さのバランス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Dunning-Kruger効果: レジデントは指導医より自信が高いのに正確性が低い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t>4バイアスの統合フレーム — 予測可能なシステムエラー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22960"/>
          <a:ext cx="85953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377440"/>
                <a:gridCol w="2377440"/>
              </a:tblGrid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バイアス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発動メカニズム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臨床での典型パターン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危険度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確認バイアス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仮説一致情報の</a:t>
                      </a:r>
                    </a:p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選択的収集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既往歴→先入観→</a:t>
                      </a:r>
                    </a:p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矛盾情報の軽視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アンカリング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初期情報への</a:t>
                      </a:r>
                    </a:p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過度な依存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紹介状・申し送りの</a:t>
                      </a:r>
                    </a:p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診断名に引きずられる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利用可能性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想起しやすさ≒</a:t>
                      </a:r>
                    </a:p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確率と錯覚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直近の経験に</a:t>
                      </a:r>
                    </a:p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判断が引っぱられる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過信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自己評価の</a:t>
                      </a:r>
                    </a:p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系統的過大推定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確認を省略、</a:t>
                      </a:r>
                    </a:p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鑑別を狭める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657600"/>
            <a:ext cx="54864" cy="6400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657600"/>
            <a:ext cx="81198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730752"/>
            <a:ext cx="7863840" cy="4937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t>診断エラーの36-77%に認知バイアスが寄与（Saposnik et al., 2016）</a:t>
            </a:r>
            <a:br/>
            <a:r>
              <a:t>これはランダムなミスではなく、予測可能なパターンである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あなたの脳を守る3つの武器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2743200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診断タイムアウト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8A95BA"/>
                </a:solidFill>
                <a:latin typeface="Calibri"/>
              </a:defRPr>
            </a:pPr>
            <a:r>
              <a:t>Diagnostic Timeout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63040"/>
            <a:ext cx="246888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F0F4FC"/>
                </a:solidFill>
                <a:latin typeface="Calibri"/>
              </a:defRPr>
            </a:pPr>
            <a:r>
              <a:t>診断プロセスの特定時点で意図的に立ち止まる</a:t>
            </a:r>
            <a:br/>
            <a:r>
              <a:t>自問: 他に何があり得るか？</a:t>
            </a:r>
            <a:br/>
            <a:r>
              <a:t>Croskerry (2003) の認知的強制戦略の中核技法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822960"/>
            <a:ext cx="2743200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868680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86868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プレモーテム分析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14300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8A95BA"/>
                </a:solidFill>
                <a:latin typeface="Calibri"/>
              </a:defRPr>
            </a:pPr>
            <a:r>
              <a:t>Pre-mortem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463040"/>
            <a:ext cx="246888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F0F4FC"/>
                </a:solidFill>
                <a:latin typeface="Calibri"/>
              </a:defRPr>
            </a:pPr>
            <a:r>
              <a:t>もしこの診断が間違っていたら、</a:t>
            </a:r>
            <a:br/>
            <a:r>
              <a:t>最も可能性の高い理由は？</a:t>
            </a:r>
            <a:br/>
            <a:r>
              <a:t>確定前に誤りの可能性を積極的に想像する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822960"/>
            <a:ext cx="2743200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868680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86868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構造化振り返り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14300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8A95BA"/>
                </a:solidFill>
                <a:latin typeface="Calibri"/>
              </a:defRPr>
            </a:pPr>
            <a:r>
              <a:t>Cognitive Autopsy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246888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F0F4FC"/>
                </a:solidFill>
                <a:latin typeface="Calibri"/>
              </a:defRPr>
            </a:pPr>
            <a:r>
              <a:t>どの情報を重視したか？無視した情報は？</a:t>
            </a:r>
            <a:br/>
            <a:r>
              <a:t>最初の仮説はいつ形成されたか？</a:t>
            </a:r>
            <a:br/>
            <a:r>
              <a:t>別の医師なら異なる結論に至るか？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65760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3075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Georgia"/>
              </a:defRPr>
            </a:pPr>
            <a:r>
              <a:t>Ludolph &amp; Schulz (2018): 診断仮説に対する省察が</a:t>
            </a:r>
            <a:br/>
            <a:r>
              <a:t>診断意思決定において成功が確認された唯一の介入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t>構造化振り返りをやってみよう（5分）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Calibri"/>
              </a:defRPr>
            </a:pPr>
            <a:r>
              <a:t>ペアで実施: 最近の診療で診断に迷った症例を1つ思い出し、4つの問いに答える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8595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029200"/>
                <a:gridCol w="310896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問い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対応するバイアス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最初の診断仮説は何だった？</a:t>
                      </a:r>
                    </a:p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いつ形成された？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アンカリング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その仮説を支持する情報ばかり</a:t>
                      </a:r>
                    </a:p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集めていなかった？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確認バイアス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最近の経験が判断に</a:t>
                      </a:r>
                    </a:p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影響していなかった？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利用可能性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どれくらい確信していた？</a:t>
                      </a:r>
                    </a:p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その根拠は？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過信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840480"/>
            <a:ext cx="54864" cy="6400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840480"/>
            <a:ext cx="81198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913632"/>
            <a:ext cx="7863840" cy="4937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Georgia"/>
              </a:defRPr>
            </a:pPr>
            <a:r>
              <a:t>パートナーにもしその診断が間違っていたら？と聞いてもらう（プレモーテム）</a:t>
            </a:r>
            <a:br/>
            <a:r>
              <a:t>推論プロセスを可視化する練習であり、正解・不正解の議論ではない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AIは味方か、新たなバイアス源か？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AI機能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バイアス増幅リスク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バイアス緩和ポテンシャル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診断候補の提示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アンカリング強化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鑑別の網羅性向上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確率推定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過信の技術的増幅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ベースレート想起の自動化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パターン認識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確認バイアスの自動化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見逃しパターンの検出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0040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20040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273551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t>自動化バイアス（Automation Bias）: AIが高い信頼度スコアを表示すると、</a:t>
            </a:r>
            <a:br/>
            <a:r>
              <a:t>System 2による独立した検討を省略しやすくなる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Cabrera-Barona et al. (2024): マルチエージェントLLM会話による認知バイアス緩和の可能性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明日の診療で試してほしいこと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731520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86868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Calibri"/>
              </a:defRPr>
            </a:pPr>
            <a:r>
              <a:t>診断タイムアウト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18872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0F4FC"/>
                </a:solidFill>
                <a:latin typeface="Calibri"/>
              </a:defRPr>
            </a:pPr>
            <a:r>
              <a:t>1日1回、診断確定前に</a:t>
            </a:r>
            <a:br/>
            <a:r>
              <a:t>他に何があり得るか？と自問する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7315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8308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Calibri"/>
              </a:defRPr>
            </a:pPr>
            <a:r>
              <a:t>バイアス日誌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0312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0F4FC"/>
                </a:solidFill>
                <a:latin typeface="Calibri"/>
              </a:defRPr>
            </a:pPr>
            <a:r>
              <a:t>今週中に1例、自分の推論プロセスを</a:t>
            </a:r>
            <a:br/>
            <a:r>
              <a:t>4つの問い（スライド8）で振り返る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731520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7315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97479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Calibri"/>
              </a:defRPr>
            </a:pPr>
            <a:r>
              <a:t>再フレーミング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1752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0F4FC"/>
                </a:solidFill>
                <a:latin typeface="Calibri"/>
              </a:defRPr>
            </a:pPr>
            <a:r>
              <a:t>バイアスは個人の失敗ではない。</a:t>
            </a:r>
            <a:br/>
            <a:r>
              <a:t>認識することがメタ認知能力の高さを示す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65760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" y="3657600"/>
            <a:ext cx="72054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730752"/>
            <a:ext cx="69494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Georgia"/>
              </a:defRPr>
            </a:pPr>
            <a:r>
              <a:t>予測可能なシステムエラーとして認知バイアスを捉えたとき、</a:t>
            </a:r>
            <a:br/>
            <a:r>
              <a:t>あなたの診療はどう変わるか？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