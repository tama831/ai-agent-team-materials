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1E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CF6F0"/>
                </a:solidFill>
                <a:latin typeface="Georgia"/>
              </a:defRPr>
            </a:pPr>
            <a:r>
              <a:rPr/>
              <a:t>デジタル時代のナラティブ・メディスン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76B8A"/>
                </a:solidFill>
                <a:latin typeface="Calibri"/>
              </a:defRPr>
            </a:pPr>
            <a:r>
              <a:rPr/>
              <a:t>物語の力 x 臨床思考 x デジタルツールの統合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468880"/>
            <a:ext cx="1828800" cy="36576"/>
          </a:xfrm>
          <a:prstGeom prst="rect">
            <a:avLst/>
          </a:prstGeom>
          <a:solidFill>
            <a:srgbClr val="C7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8A9C"/>
                </a:solidFill>
                <a:latin typeface="Calibri"/>
              </a:defRPr>
            </a:pPr>
            <a:r>
              <a:rPr/>
              <a:t>研修医・専攻医向け｜30分｜2026-03-21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1E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76B8A"/>
                </a:solidFill>
                <a:latin typeface="Calibri"/>
              </a:defRPr>
            </a:pPr>
            <a:r>
              <a:rPr/>
              <a:t>導入の問い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54864" cy="914400"/>
          </a:xfrm>
          <a:prstGeom prst="rect">
            <a:avLst/>
          </a:prstGeom>
          <a:solidFill>
            <a:srgbClr val="C7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Rectangle 3"/>
          <p:cNvSpPr/>
          <p:nvPr/>
        </p:nvSpPr>
        <p:spPr>
          <a:xfrm>
            <a:off x="841248" y="822960"/>
            <a:ext cx="7571232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84B5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960120" y="896112"/>
            <a:ext cx="73152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E1A2B"/>
                </a:solidFill>
                <a:latin typeface="Georgia"/>
              </a:defRPr>
            </a:pPr>
            <a:r>
              <a:rPr/>
              <a:t>最近診た患者さんの中で、病歴だけでは</a:t>
            </a:r>
            <a:br/>
            <a:r>
              <a:rPr/>
              <a:t>捉えきれなかった「何か」を感じた経験はありますか？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7315200" cy="37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CF6F0"/>
                </a:solidFill>
                <a:latin typeface="Calibri"/>
              </a:defRPr>
            </a:pPr>
            <a:r>
              <a:rPr/>
              <a:t>この30分の後、あなたは：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6888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FCF6F0"/>
                </a:solidFill>
                <a:latin typeface="Calibri"/>
              </a:defRPr>
              <a:buChar char="●"/>
            </a:pPr>
            <a:r>
              <a:rPr/>
              <a:t>ナラティブ・メディスンの理論的背景を説明できる（理解）</a:t>
            </a:r>
          </a:p>
          <a:p>
            <a:pPr>
              <a:defRPr sz="1400">
                <a:solidFill>
                  <a:srgbClr val="FCF6F0"/>
                </a:solidFill>
                <a:latin typeface="Calibri"/>
              </a:defRPr>
              <a:buChar char="●"/>
            </a:pPr>
            <a:r>
              <a:rPr/>
              <a:t>デジタル・ナラティブの可能性と限界を論じられる（分析）</a:t>
            </a:r>
          </a:p>
          <a:p>
            <a:pPr>
              <a:defRPr sz="1400">
                <a:solidFill>
                  <a:srgbClr val="FCF6F0"/>
                </a:solidFill>
                <a:latin typeface="Calibri"/>
              </a:defRPr>
              <a:buChar char="●"/>
            </a:pPr>
            <a:r>
              <a:rPr/>
              <a:t>臨床思考との統合アプローチを1つ導入する計画を立てられる（創造）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589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E1A2B"/>
                </a:solidFill>
                <a:latin typeface="Georgia"/>
              </a:defRPr>
            </a:pPr>
            <a:r>
              <a:rPr/>
              <a:t>ナラティブ・メディスンとは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81887"/>
            <a:ext cx="4572000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8A9C"/>
                </a:solidFill>
                <a:latin typeface="Calibri"/>
              </a:defRPr>
            </a:pPr>
            <a:r>
              <a:rPr/>
              <a:t>Rita Charon のフレームワーク（Columbia, 2001）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097280"/>
          <a:ext cx="76809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560320"/>
                <a:gridCol w="3108960"/>
              </a:tblGrid>
              <a:tr h="3657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CF6F0"/>
                          </a:solidFill>
                          <a:latin typeface="Calibri"/>
                        </a:defRPr>
                      </a:pPr>
                      <a:r>
                        <a:t>要素</a:t>
                      </a:r>
                    </a:p>
                  </a:txBody>
                  <a:tcPr>
                    <a:solidFill>
                      <a:srgbClr val="5A2D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CF6F0"/>
                          </a:solidFill>
                          <a:latin typeface="Calibri"/>
                        </a:defRPr>
                      </a:pPr>
                      <a:r>
                        <a:t>意味</a:t>
                      </a:r>
                    </a:p>
                  </a:txBody>
                  <a:tcPr>
                    <a:solidFill>
                      <a:srgbClr val="5A2D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CF6F0"/>
                          </a:solidFill>
                          <a:latin typeface="Calibri"/>
                        </a:defRPr>
                      </a:pPr>
                      <a:r>
                        <a:t>臨床での実践</a:t>
                      </a:r>
                    </a:p>
                  </a:txBody>
                  <a:tcPr>
                    <a:solidFill>
                      <a:srgbClr val="5A2D5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E1A2B"/>
                          </a:solidFill>
                          <a:latin typeface="Calibri"/>
                        </a:defRPr>
                      </a:pPr>
                      <a:r>
                        <a:t>Attention</a:t>
                      </a:r>
                    </a:p>
                  </a:txBody>
                  <a:tcPr>
                    <a:solidFill>
                      <a:srgbClr val="F5EC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E1A2B"/>
                          </a:solidFill>
                          <a:latin typeface="Calibri"/>
                        </a:defRPr>
                      </a:pPr>
                      <a:r>
                        <a:t>注意深く聴く</a:t>
                      </a:r>
                    </a:p>
                  </a:txBody>
                  <a:tcPr>
                    <a:solidFill>
                      <a:srgbClr val="F5EC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E1A2B"/>
                          </a:solidFill>
                          <a:latin typeface="Calibri"/>
                        </a:defRPr>
                      </a:pPr>
                      <a:r>
                        <a:t>患者の語りに意識を向ける</a:t>
                      </a:r>
                    </a:p>
                  </a:txBody>
                  <a:tcPr>
                    <a:solidFill>
                      <a:srgbClr val="F5ECF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E1A2B"/>
                          </a:solidFill>
                          <a:latin typeface="Calibri"/>
                        </a:defRPr>
                      </a:pPr>
                      <a:r>
                        <a:t>Representation</a:t>
                      </a:r>
                    </a:p>
                  </a:txBody>
                  <a:tcPr>
                    <a:solidFill>
                      <a:srgbClr val="FCF6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E1A2B"/>
                          </a:solidFill>
                          <a:latin typeface="Calibri"/>
                        </a:defRPr>
                      </a:pPr>
                      <a:r>
                        <a:t>物語を表現する</a:t>
                      </a:r>
                    </a:p>
                  </a:txBody>
                  <a:tcPr>
                    <a:solidFill>
                      <a:srgbClr val="FCF6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E1A2B"/>
                          </a:solidFill>
                          <a:latin typeface="Calibri"/>
                        </a:defRPr>
                      </a:pPr>
                      <a:r>
                        <a:t>聴いたことを言語化・記録する</a:t>
                      </a:r>
                    </a:p>
                  </a:txBody>
                  <a:tcPr>
                    <a:solidFill>
                      <a:srgbClr val="FCF6F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E1A2B"/>
                          </a:solidFill>
                          <a:latin typeface="Calibri"/>
                        </a:defRPr>
                      </a:pPr>
                      <a:r>
                        <a:t>Affiliation</a:t>
                      </a:r>
                    </a:p>
                  </a:txBody>
                  <a:tcPr>
                    <a:solidFill>
                      <a:srgbClr val="F5EC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E1A2B"/>
                          </a:solidFill>
                          <a:latin typeface="Calibri"/>
                        </a:defRPr>
                      </a:pPr>
                      <a:r>
                        <a:t>繋がりを形成する</a:t>
                      </a:r>
                    </a:p>
                  </a:txBody>
                  <a:tcPr>
                    <a:solidFill>
                      <a:srgbClr val="F5EC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E1A2B"/>
                          </a:solidFill>
                          <a:latin typeface="Calibri"/>
                        </a:defRPr>
                      </a:pPr>
                      <a:r>
                        <a:t>患者との治療的関係を深める</a:t>
                      </a:r>
                    </a:p>
                  </a:txBody>
                  <a:tcPr>
                    <a:solidFill>
                      <a:srgbClr val="F5ECF0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731520" y="2834640"/>
            <a:ext cx="7680960" cy="36576"/>
          </a:xfrm>
          <a:prstGeom prst="rect">
            <a:avLst/>
          </a:prstGeom>
          <a:solidFill>
            <a:srgbClr val="C7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731520" y="301752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E1A2B"/>
                </a:solidFill>
                <a:latin typeface="Georgia"/>
              </a:defRPr>
            </a:pPr>
            <a:r>
              <a:rPr/>
              <a:t>ナラティブ・メディスン = 患者の物語を医療の中核に据えるアプローチ。</a:t>
            </a:r>
            <a:br/>
            <a:r>
              <a:rPr/>
              <a:t>「聴く→表現する→繋がる」の3つのステップで、医師-患者関係を深める。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518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1A2B"/>
                </a:solidFill>
                <a:latin typeface="Georgia"/>
              </a:defRPr>
            </a:pPr>
            <a:r>
              <a:rPr/>
              <a:t>ナラティブ教育の現実 — 4つの構造的障壁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10767"/>
            <a:ext cx="4572000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8A9C"/>
                </a:solidFill>
                <a:latin typeface="Calibri"/>
              </a:defRPr>
            </a:pPr>
            <a:r>
              <a:rPr/>
              <a:t>Frontiers in Medicine, 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76809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76B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Rectangle 4"/>
          <p:cNvSpPr/>
          <p:nvPr/>
        </p:nvSpPr>
        <p:spPr>
          <a:xfrm>
            <a:off x="731520" y="1097280"/>
            <a:ext cx="54864" cy="685800"/>
          </a:xfrm>
          <a:prstGeom prst="rect">
            <a:avLst/>
          </a:prstGeom>
          <a:solidFill>
            <a:srgbClr val="C7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868680" y="1143000"/>
            <a:ext cx="2743200" cy="34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1A2B"/>
                </a:solidFill>
                <a:latin typeface="Calibri"/>
              </a:defRPr>
            </a:pPr>
            <a:r>
              <a:rPr/>
              <a:t>❌ カリキュラム過密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501648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8A9C"/>
                </a:solidFill>
                <a:latin typeface="Calibri"/>
              </a:defRPr>
            </a:pPr>
            <a:r>
              <a:rPr/>
              <a:t>ナラティブ教育の時間確保が困難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874519"/>
            <a:ext cx="76809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76B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9" name="Rectangle 8"/>
          <p:cNvSpPr/>
          <p:nvPr/>
        </p:nvSpPr>
        <p:spPr>
          <a:xfrm>
            <a:off x="731520" y="1874519"/>
            <a:ext cx="54864" cy="685800"/>
          </a:xfrm>
          <a:prstGeom prst="rect">
            <a:avLst/>
          </a:prstGeom>
          <a:solidFill>
            <a:srgbClr val="C7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68680" y="1920239"/>
            <a:ext cx="2743200" cy="34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1A2B"/>
                </a:solidFill>
                <a:latin typeface="Calibri"/>
              </a:defRPr>
            </a:pPr>
            <a:r>
              <a:rPr/>
              <a:t>❌ 教員の準備不足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78887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8A9C"/>
                </a:solidFill>
                <a:latin typeface="Calibri"/>
              </a:defRPr>
            </a:pPr>
            <a:r>
              <a:rPr/>
              <a:t>ナラティブを教えるトレーニングが未体系化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651760"/>
            <a:ext cx="76809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76B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3" name="Rectangle 12"/>
          <p:cNvSpPr/>
          <p:nvPr/>
        </p:nvSpPr>
        <p:spPr>
          <a:xfrm>
            <a:off x="731520" y="2651760"/>
            <a:ext cx="54864" cy="685800"/>
          </a:xfrm>
          <a:prstGeom prst="rect">
            <a:avLst/>
          </a:prstGeom>
          <a:solidFill>
            <a:srgbClr val="C7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68680" y="2697479"/>
            <a:ext cx="2743200" cy="34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1A2B"/>
                </a:solidFill>
                <a:latin typeface="Calibri"/>
              </a:defRPr>
            </a:pPr>
            <a:r>
              <a:rPr/>
              <a:t>❌ 評価方法の不整合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056127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8A9C"/>
                </a:solidFill>
                <a:latin typeface="Calibri"/>
              </a:defRPr>
            </a:pPr>
            <a:r>
              <a:rPr/>
              <a:t>ナラティブ能力をどう測定するか未解決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3429000"/>
            <a:ext cx="76809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76B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Rectangle 16"/>
          <p:cNvSpPr/>
          <p:nvPr/>
        </p:nvSpPr>
        <p:spPr>
          <a:xfrm>
            <a:off x="731520" y="3429000"/>
            <a:ext cx="54864" cy="685800"/>
          </a:xfrm>
          <a:prstGeom prst="rect">
            <a:avLst/>
          </a:prstGeom>
          <a:solidFill>
            <a:srgbClr val="C7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68680" y="3474720"/>
            <a:ext cx="2743200" cy="34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1A2B"/>
                </a:solidFill>
                <a:latin typeface="Calibri"/>
              </a:defRPr>
            </a:pPr>
            <a:r>
              <a:rPr/>
              <a:t>❌ 長期アウトカム研究の不足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833368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8A9C"/>
                </a:solidFill>
                <a:latin typeface="Calibri"/>
              </a:defRPr>
            </a:pPr>
            <a:r>
              <a:rPr/>
              <a:t>ケアの質・燃え尽き防止への効果が未検証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3891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76B8A"/>
                </a:solidFill>
                <a:latin typeface="Calibri"/>
              </a:defRPr>
            </a:pPr>
            <a:r>
              <a:rPr/>
              <a:t>構造的な障壁を無視すると形骸化する — システム思考で「レバレッジポイント」を見極めよう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518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1A2B"/>
                </a:solidFill>
                <a:latin typeface="Georgia"/>
              </a:defRPr>
            </a:pPr>
            <a:r>
              <a:rPr/>
              <a:t>デジタル・ナラティブ・メディスンの登場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10767"/>
            <a:ext cx="5486400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8A9C"/>
                </a:solidFill>
                <a:latin typeface="Calibri"/>
              </a:defRPr>
            </a:pPr>
            <a:r>
              <a:rPr/>
              <a:t>JMIR, 2026 — デジタルがナラティブを拡張する3つの方向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256032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76B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Rectangle 4"/>
          <p:cNvSpPr/>
          <p:nvPr/>
        </p:nvSpPr>
        <p:spPr>
          <a:xfrm>
            <a:off x="731520" y="1097280"/>
            <a:ext cx="2560320" cy="54864"/>
          </a:xfrm>
          <a:prstGeom prst="rect">
            <a:avLst/>
          </a:prstGeom>
          <a:solidFill>
            <a:srgbClr val="C7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868680" y="123444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1A2B"/>
                </a:solidFill>
                <a:latin typeface="Calibri"/>
              </a:defRPr>
            </a:pPr>
            <a:r>
              <a:rPr/>
              <a:t>患者</a:t>
            </a:r>
            <a:br/>
            <a:r>
              <a:rPr/>
              <a:t>エンパワーメント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801368"/>
            <a:ext cx="2286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E1A2B"/>
                </a:solidFill>
                <a:latin typeface="Calibri"/>
              </a:defRPr>
            </a:pPr>
            <a:r>
              <a:rPr/>
              <a:t>共同設計（co-design）</a:t>
            </a:r>
            <a:br/>
            <a:r>
              <a:rPr/>
              <a:t>患者参加型ケア</a:t>
            </a:r>
            <a:br/>
            <a:r>
              <a:rPr/>
              <a:t>アドボカシー</a:t>
            </a:r>
          </a:p>
        </p:txBody>
      </p:sp>
      <p:sp>
        <p:nvSpPr>
          <p:cNvPr id="8" name="Rectangle 7"/>
          <p:cNvSpPr/>
          <p:nvPr/>
        </p:nvSpPr>
        <p:spPr>
          <a:xfrm>
            <a:off x="3520439" y="1097280"/>
            <a:ext cx="256032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76B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9" name="Rectangle 8"/>
          <p:cNvSpPr/>
          <p:nvPr/>
        </p:nvSpPr>
        <p:spPr>
          <a:xfrm>
            <a:off x="3520439" y="1097280"/>
            <a:ext cx="2560320" cy="54864"/>
          </a:xfrm>
          <a:prstGeom prst="rect">
            <a:avLst/>
          </a:prstGeom>
          <a:solidFill>
            <a:srgbClr val="C7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3657599" y="123444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1A2B"/>
                </a:solidFill>
                <a:latin typeface="Calibri"/>
              </a:defRPr>
            </a:pPr>
            <a:r>
              <a:rPr/>
              <a:t>ケアチームの</a:t>
            </a:r>
            <a:br/>
            <a:r>
              <a:rPr/>
              <a:t>人間化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599" y="1801368"/>
            <a:ext cx="2286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E1A2B"/>
                </a:solidFill>
                <a:latin typeface="Calibri"/>
              </a:defRPr>
            </a:pPr>
            <a:r>
              <a:rPr/>
              <a:t>物語のデジタル可視化</a:t>
            </a:r>
            <a:br/>
            <a:r>
              <a:rPr/>
              <a:t>カルテを超えた記録</a:t>
            </a:r>
            <a:br/>
            <a:r>
              <a:rPr/>
              <a:t>人間化の架け橋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59" y="1097280"/>
            <a:ext cx="256032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76B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3" name="Rectangle 12"/>
          <p:cNvSpPr/>
          <p:nvPr/>
        </p:nvSpPr>
        <p:spPr>
          <a:xfrm>
            <a:off x="6309359" y="1097280"/>
            <a:ext cx="2560320" cy="54864"/>
          </a:xfrm>
          <a:prstGeom prst="rect">
            <a:avLst/>
          </a:prstGeom>
          <a:solidFill>
            <a:srgbClr val="C7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46520" y="123444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1A2B"/>
                </a:solidFill>
                <a:latin typeface="Calibri"/>
              </a:defRPr>
            </a:pPr>
            <a:r>
              <a:rPr/>
              <a:t>教育への応用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1801368"/>
            <a:ext cx="2286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E1A2B"/>
                </a:solidFill>
                <a:latin typeface="Calibri"/>
              </a:defRPr>
            </a:pPr>
            <a:r>
              <a:rPr/>
              <a:t>AI構造化分析</a:t>
            </a:r>
            <a:br/>
            <a:r>
              <a:rPr/>
              <a:t>共感教育の支援</a:t>
            </a:r>
            <a:br/>
            <a:r>
              <a:rPr/>
              <a:t>臨床推論との統合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2918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08A9C"/>
                </a:solidFill>
                <a:latin typeface="Calibri"/>
              </a:defRPr>
            </a:pPr>
            <a:r>
              <a:rPr/>
              <a:t>限界: デジタルデバイド ｜ プライバシー ｜ 構造化が物語の豊かさを損なうリスク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518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1A2B"/>
                </a:solidFill>
                <a:latin typeface="Georgia"/>
              </a:defRPr>
            </a:pPr>
            <a:r>
              <a:rPr/>
              <a:t>ナラティブ x 臨床思考の統合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10767"/>
            <a:ext cx="4572000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8A9C"/>
                </a:solidFill>
                <a:latin typeface="Calibri"/>
              </a:defRPr>
            </a:pPr>
            <a:r>
              <a:rPr/>
              <a:t>BMC Medical Education, 2025 — 神経内科での実証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097280"/>
          <a:ext cx="3840480" cy="1389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926080"/>
              </a:tblGrid>
              <a:tr h="34747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CF6F0"/>
                          </a:solidFill>
                          <a:latin typeface="Calibri"/>
                        </a:defRPr>
                      </a:pPr>
                      <a:r>
                        <a:t>項目</a:t>
                      </a:r>
                    </a:p>
                  </a:txBody>
                  <a:tcPr>
                    <a:solidFill>
                      <a:srgbClr val="5A2D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CF6F0"/>
                          </a:solidFill>
                          <a:latin typeface="Calibri"/>
                        </a:defRPr>
                      </a:pPr>
                      <a:r>
                        <a:t>内容</a:t>
                      </a:r>
                    </a:p>
                  </a:txBody>
                  <a:tcPr>
                    <a:solidFill>
                      <a:srgbClr val="5A2D5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E1A2B"/>
                          </a:solidFill>
                          <a:latin typeface="Calibri"/>
                        </a:defRPr>
                      </a:pPr>
                      <a:r>
                        <a:t>方法</a:t>
                      </a:r>
                    </a:p>
                  </a:txBody>
                  <a:tcPr>
                    <a:solidFill>
                      <a:srgbClr val="F5EC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E1A2B"/>
                          </a:solidFill>
                          <a:latin typeface="Calibri"/>
                        </a:defRPr>
                      </a:pPr>
                      <a:r>
                        <a:t>ナラティブ+臨床思考 vs 従来教育</a:t>
                      </a:r>
                    </a:p>
                  </a:txBody>
                  <a:tcPr>
                    <a:solidFill>
                      <a:srgbClr val="F5ECF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E1A2B"/>
                          </a:solidFill>
                          <a:latin typeface="Calibri"/>
                        </a:defRPr>
                      </a:pPr>
                      <a:r>
                        <a:t>結果</a:t>
                      </a:r>
                    </a:p>
                  </a:txBody>
                  <a:tcPr>
                    <a:solidFill>
                      <a:srgbClr val="FCF6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E1A2B"/>
                          </a:solidFill>
                          <a:latin typeface="Calibri"/>
                        </a:defRPr>
                      </a:pPr>
                      <a:r>
                        <a:t>統合群が有意に高い学習成果</a:t>
                      </a:r>
                    </a:p>
                  </a:txBody>
                  <a:tcPr>
                    <a:solidFill>
                      <a:srgbClr val="FCF6F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E1A2B"/>
                          </a:solidFill>
                          <a:latin typeface="Calibri"/>
                        </a:defRPr>
                      </a:pPr>
                      <a:r>
                        <a:t>意味</a:t>
                      </a:r>
                    </a:p>
                  </a:txBody>
                  <a:tcPr>
                    <a:solidFill>
                      <a:srgbClr val="F5EC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E1A2B"/>
                          </a:solidFill>
                          <a:latin typeface="Calibri"/>
                        </a:defRPr>
                      </a:pPr>
                      <a:r>
                        <a:t>ナラティブと臨床思考は相補的</a:t>
                      </a:r>
                    </a:p>
                  </a:txBody>
                  <a:tcPr>
                    <a:solidFill>
                      <a:srgbClr val="F5ECF0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937760" y="1097280"/>
            <a:ext cx="365760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84B5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074920" y="1143000"/>
            <a:ext cx="3383280" cy="287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76B8A"/>
                </a:solidFill>
                <a:latin typeface="Calibri"/>
              </a:defRPr>
            </a:pPr>
            <a:r>
              <a:rPr/>
              <a:t>統合モデル概念図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74920" y="1448308"/>
            <a:ext cx="3383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E1A2B"/>
                </a:solidFill>
                <a:latin typeface="Consolas"/>
              </a:defRPr>
            </a:pPr>
            <a:r>
              <a:rPr/>
              <a:t>患者の物語</a:t>
            </a:r>
            <a:br/>
            <a:r>
              <a:rPr/>
              <a:t>  ↓ Attention</a:t>
            </a:r>
            <a:br/>
            <a:r>
              <a:rPr/>
              <a:t>物語の構造化</a:t>
            </a:r>
            <a:br/>
            <a:r>
              <a:rPr/>
              <a:t>  ↓ 臨床思考モデル適用</a:t>
            </a:r>
            <a:br/>
            <a:r>
              <a:rPr/>
              <a:t>仮説生成 ←→ パターン認識</a:t>
            </a:r>
            <a:br/>
            <a:r>
              <a:rPr/>
              <a:t>  ↓ Affiliation</a:t>
            </a:r>
            <a:br/>
            <a:r>
              <a:rPr/>
              <a:t>統合的臨床判断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474720"/>
            <a:ext cx="2743200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76B8A"/>
                </a:solidFill>
                <a:latin typeface="Calibri"/>
              </a:defRPr>
            </a:pPr>
            <a:r>
              <a:rPr/>
              <a:t>批判的吟味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7806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2E1A2B"/>
                </a:solidFill>
                <a:latin typeface="Calibri"/>
              </a:defRPr>
              <a:buChar char="●"/>
            </a:pPr>
            <a:r>
              <a:rPr/>
              <a:t>Study Design: 単施設、サンプルサイズは？</a:t>
            </a:r>
          </a:p>
          <a:p>
            <a:pPr>
              <a:defRPr sz="1000">
                <a:solidFill>
                  <a:srgbClr val="2E1A2B"/>
                </a:solidFill>
                <a:latin typeface="Calibri"/>
              </a:defRPr>
              <a:buChar char="●"/>
            </a:pPr>
            <a:r>
              <a:rPr/>
              <a:t>「高い学習成果」の測定方法は適切か？</a:t>
            </a:r>
          </a:p>
          <a:p>
            <a:pPr>
              <a:defRPr sz="1000">
                <a:solidFill>
                  <a:srgbClr val="2E1A2B"/>
                </a:solidFill>
                <a:latin typeface="Calibri"/>
              </a:defRPr>
              <a:buChar char="●"/>
            </a:pPr>
            <a:r>
              <a:rPr/>
              <a:t>一般化可能性と教育者効果の交絡は？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1E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589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CF6F0"/>
                </a:solidFill>
                <a:latin typeface="Georgia"/>
              </a:defRPr>
            </a:pPr>
            <a:r>
              <a:rPr/>
              <a:t>ペアディスカッション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81887"/>
            <a:ext cx="2743200" cy="34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76B8A"/>
                </a:solidFill>
                <a:latin typeface="Calibri"/>
              </a:defRPr>
            </a:pPr>
            <a:r>
              <a:rPr/>
              <a:t>4分間 → 全体共有 2分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54864" cy="1005840"/>
          </a:xfrm>
          <a:prstGeom prst="rect">
            <a:avLst/>
          </a:prstGeom>
          <a:solidFill>
            <a:srgbClr val="C7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Rectangle 4"/>
          <p:cNvSpPr/>
          <p:nvPr/>
        </p:nvSpPr>
        <p:spPr>
          <a:xfrm>
            <a:off x="841248" y="1188720"/>
            <a:ext cx="7571232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84B5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960120" y="1261872"/>
            <a:ext cx="7315200" cy="859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E1A2B"/>
                </a:solidFill>
                <a:latin typeface="Georgia"/>
              </a:defRPr>
            </a:pPr>
            <a:r>
              <a:rPr/>
              <a:t>あなたの臨床現場で、ナラティブ x 臨床思考 x</a:t>
            </a:r>
            <a:br/>
            <a:r>
              <a:rPr/>
              <a:t>デジタルツールの統合を1つ実践するとしたら、</a:t>
            </a:r>
            <a:br/>
            <a:r>
              <a:rPr/>
              <a:t>何ができるか？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68880"/>
            <a:ext cx="2743200" cy="34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76B8A"/>
                </a:solidFill>
                <a:latin typeface="Calibri"/>
              </a:defRPr>
            </a:pPr>
            <a:r>
              <a:rPr/>
              <a:t>考えるヒント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827528"/>
            <a:ext cx="7680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CF6F0"/>
                </a:solidFill>
                <a:latin typeface="Calibri"/>
              </a:defRPr>
              <a:buChar char="●"/>
            </a:pPr>
            <a:r>
              <a:rPr/>
              <a:t>外来の問診にナラティブの要素を1つ追加するなら？</a:t>
            </a:r>
          </a:p>
          <a:p>
            <a:pPr>
              <a:defRPr sz="1300">
                <a:solidFill>
                  <a:srgbClr val="FCF6F0"/>
                </a:solidFill>
                <a:latin typeface="Calibri"/>
              </a:defRPr>
              <a:buChar char="●"/>
            </a:pPr>
            <a:r>
              <a:rPr/>
              <a:t>カンファレンスで「患者の物語」を構造的に共有する方法は？</a:t>
            </a:r>
          </a:p>
          <a:p>
            <a:pPr>
              <a:defRPr sz="1300">
                <a:solidFill>
                  <a:srgbClr val="FCF6F0"/>
                </a:solidFill>
                <a:latin typeface="Calibri"/>
              </a:defRPr>
              <a:buChar char="●"/>
            </a:pPr>
            <a:r>
              <a:rPr/>
              <a:t>デジタルツール（音声記録、テンプレート等）をどう使えるか？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518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1A2B"/>
                </a:solidFill>
                <a:latin typeface="Georgia"/>
              </a:defRPr>
            </a:pPr>
            <a:r>
              <a:rPr/>
              <a:t>3つの論文が示す全体像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777240"/>
          <a:ext cx="76809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560320"/>
                <a:gridCol w="3291840"/>
              </a:tblGrid>
              <a:tr h="32918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CF6F0"/>
                          </a:solidFill>
                          <a:latin typeface="Calibri"/>
                        </a:defRPr>
                      </a:pPr>
                      <a:r>
                        <a:t>論文</a:t>
                      </a:r>
                    </a:p>
                  </a:txBody>
                  <a:tcPr>
                    <a:solidFill>
                      <a:srgbClr val="5A2D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CF6F0"/>
                          </a:solidFill>
                          <a:latin typeface="Calibri"/>
                        </a:defRPr>
                      </a:pPr>
                      <a:r>
                        <a:t>視点</a:t>
                      </a:r>
                    </a:p>
                  </a:txBody>
                  <a:tcPr>
                    <a:solidFill>
                      <a:srgbClr val="5A2D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CF6F0"/>
                          </a:solidFill>
                          <a:latin typeface="Calibri"/>
                        </a:defRPr>
                      </a:pPr>
                      <a:r>
                        <a:t>あなたの臨床に</a:t>
                      </a:r>
                    </a:p>
                  </a:txBody>
                  <a:tcPr>
                    <a:solidFill>
                      <a:srgbClr val="5A2D5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E1A2B"/>
                          </a:solidFill>
                          <a:latin typeface="Calibri"/>
                        </a:defRPr>
                      </a:pPr>
                      <a:r>
                        <a:t>Frontiers</a:t>
                      </a:r>
                    </a:p>
                  </a:txBody>
                  <a:tcPr>
                    <a:solidFill>
                      <a:srgbClr val="F5EC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E1A2B"/>
                          </a:solidFill>
                          <a:latin typeface="Calibri"/>
                        </a:defRPr>
                      </a:pPr>
                      <a:r>
                        <a:t>理想と障壁</a:t>
                      </a:r>
                    </a:p>
                  </a:txBody>
                  <a:tcPr>
                    <a:solidFill>
                      <a:srgbClr val="F5EC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E1A2B"/>
                          </a:solidFill>
                          <a:latin typeface="Calibri"/>
                        </a:defRPr>
                      </a:pPr>
                      <a:r>
                        <a:t>現場の制約を知って設計</a:t>
                      </a:r>
                    </a:p>
                  </a:txBody>
                  <a:tcPr>
                    <a:solidFill>
                      <a:srgbClr val="F5EC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E1A2B"/>
                          </a:solidFill>
                          <a:latin typeface="Calibri"/>
                        </a:defRPr>
                      </a:pPr>
                      <a:r>
                        <a:t>JMIR</a:t>
                      </a:r>
                    </a:p>
                  </a:txBody>
                  <a:tcPr>
                    <a:solidFill>
                      <a:srgbClr val="FCF6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E1A2B"/>
                          </a:solidFill>
                          <a:latin typeface="Calibri"/>
                        </a:defRPr>
                      </a:pPr>
                      <a:r>
                        <a:t>デジタルの可能性</a:t>
                      </a:r>
                    </a:p>
                  </a:txBody>
                  <a:tcPr>
                    <a:solidFill>
                      <a:srgbClr val="FCF6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E1A2B"/>
                          </a:solidFill>
                          <a:latin typeface="Calibri"/>
                        </a:defRPr>
                      </a:pPr>
                      <a:r>
                        <a:t>障壁を突破するツール</a:t>
                      </a:r>
                    </a:p>
                  </a:txBody>
                  <a:tcPr>
                    <a:solidFill>
                      <a:srgbClr val="FCF6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E1A2B"/>
                          </a:solidFill>
                          <a:latin typeface="Calibri"/>
                        </a:defRPr>
                      </a:pPr>
                      <a:r>
                        <a:t>BMC</a:t>
                      </a:r>
                    </a:p>
                  </a:txBody>
                  <a:tcPr>
                    <a:solidFill>
                      <a:srgbClr val="F5EC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E1A2B"/>
                          </a:solidFill>
                          <a:latin typeface="Calibri"/>
                        </a:defRPr>
                      </a:pPr>
                      <a:r>
                        <a:t>統合の実証</a:t>
                      </a:r>
                    </a:p>
                  </a:txBody>
                  <a:tcPr>
                    <a:solidFill>
                      <a:srgbClr val="F5EC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E1A2B"/>
                          </a:solidFill>
                          <a:latin typeface="Calibri"/>
                        </a:defRPr>
                      </a:pPr>
                      <a:r>
                        <a:t>物語+構造が効くエビデンス</a:t>
                      </a:r>
                    </a:p>
                  </a:txBody>
                  <a:tcPr>
                    <a:solidFill>
                      <a:srgbClr val="F5ECF0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2194560"/>
            <a:ext cx="4572000" cy="34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76B8A"/>
                </a:solidFill>
                <a:latin typeface="Calibri"/>
              </a:defRPr>
            </a:pPr>
            <a:r>
              <a:rPr/>
              <a:t>来週までの1アクション（1つ選ぼう）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2E1A2B"/>
                </a:solidFill>
                <a:latin typeface="Calibri"/>
              </a:defRPr>
              <a:buChar char="●"/>
            </a:pPr>
            <a:r>
              <a:rPr/>
              <a:t>患者の語りに3分間、中断せず耳を傾けてみる</a:t>
            </a:r>
          </a:p>
          <a:p>
            <a:pPr>
              <a:defRPr sz="1200">
                <a:solidFill>
                  <a:srgbClr val="2E1A2B"/>
                </a:solidFill>
                <a:latin typeface="Calibri"/>
              </a:defRPr>
              <a:buChar char="●"/>
            </a:pPr>
            <a:r>
              <a:rPr/>
              <a:t>カルテ「現病歴」に患者の言葉を1文そのまま記載</a:t>
            </a:r>
          </a:p>
          <a:p>
            <a:pPr>
              <a:defRPr sz="1200">
                <a:solidFill>
                  <a:srgbClr val="2E1A2B"/>
                </a:solidFill>
                <a:latin typeface="Calibri"/>
              </a:defRPr>
              <a:buChar char="●"/>
            </a:pPr>
            <a:r>
              <a:rPr/>
              <a:t>同僚と「心に残った患者の物語」を1つ共有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611880"/>
            <a:ext cx="7680960" cy="36576"/>
          </a:xfrm>
          <a:prstGeom prst="rect">
            <a:avLst/>
          </a:prstGeom>
          <a:solidFill>
            <a:srgbClr val="C7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31520" y="3749039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E1A2B"/>
                </a:solidFill>
                <a:latin typeface="Georgia"/>
              </a:defRPr>
            </a:pPr>
            <a:r>
              <a:rPr/>
              <a:t>持ち帰りの問い: デジタルツールが「記録」を便利にする一方で、</a:t>
            </a:r>
            <a:br/>
            <a:r>
              <a:rPr/>
              <a:t>聴く力そのものはテクノロジーでは代替できない。</a:t>
            </a:r>
            <a:br/>
            <a:r>
              <a:rPr/>
              <a:t>デジタル時代に「聴く力」をどう育むか？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