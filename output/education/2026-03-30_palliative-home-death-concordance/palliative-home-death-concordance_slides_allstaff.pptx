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6B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800" b="1">
                <a:solidFill>
                  <a:srgbClr val="FFF8F0"/>
                </a:solidFill>
                <a:latin typeface="Calibri"/>
              </a:defRPr>
            </a:pPr>
            <a:r>
              <a:t>最期の場所が「希望通り」であること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600" b="0">
                <a:solidFill>
                  <a:srgbClr val="E8A84C"/>
                </a:solidFill>
                <a:latin typeface="Calibri"/>
              </a:defRPr>
            </a:pPr>
            <a:r>
              <a:t>— 患者さんとご家族にとっての意味 —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920240"/>
            <a:ext cx="3657600" cy="54864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3200400" cy="914400"/>
          </a:xfrm>
          <a:prstGeom prst="rect">
            <a:avLst/>
          </a:prstGeom>
          <a:solidFill>
            <a:srgbClr val="3D6B5E"/>
          </a:solidFill>
          <a:ln w="12700">
            <a:solidFill>
              <a:srgbClr val="E8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3017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E8A84C"/>
                </a:solidFill>
                <a:latin typeface="Calibri"/>
              </a:defRPr>
            </a:pPr>
            <a:r>
              <a:t>患者さんにとって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30175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FFF8F0"/>
                </a:solidFill>
                <a:latin typeface="Calibri"/>
              </a:defRPr>
            </a:pPr>
            <a:r>
              <a:t>「自分で選んだ場所で最期を迎えられた」</a:t>
            </a:r>
            <a:br/>
            <a:r>
              <a:t>という安心感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383280"/>
            <a:ext cx="3200400" cy="914400"/>
          </a:xfrm>
          <a:prstGeom prst="rect">
            <a:avLst/>
          </a:prstGeom>
          <a:solidFill>
            <a:srgbClr val="3D6B5E"/>
          </a:solidFill>
          <a:ln w="12700">
            <a:solidFill>
              <a:srgbClr val="E8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3017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E8A84C"/>
                </a:solidFill>
                <a:latin typeface="Calibri"/>
              </a:defRPr>
            </a:pPr>
            <a:r>
              <a:t>ご家族にとって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49040"/>
            <a:ext cx="30175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FFF8F0"/>
                </a:solidFill>
                <a:latin typeface="Calibri"/>
              </a:defRPr>
            </a:pPr>
            <a:r>
              <a:t>「約束を守れた」という心の支え。</a:t>
            </a:r>
            <a:br/>
            <a:r>
              <a:t>逆に不一致は後悔につながることも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2560320"/>
            <a:ext cx="54864" cy="914400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81728" y="2560320"/>
            <a:ext cx="400507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D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633472"/>
            <a:ext cx="3749039" cy="7680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Georgia"/>
              </a:defRPr>
            </a:pPr>
            <a:r>
              <a:t>あなたが関わった患者さん・利用者さんは、</a:t>
            </a:r>
            <a:br/>
            <a:r>
              <a:t>希望通りの場所で最期を迎えられましたか？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6634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00" b="0">
                <a:solidFill>
                  <a:srgbClr val="8A9E8C"/>
                </a:solidFill>
                <a:latin typeface="Calibri"/>
              </a:defRPr>
            </a:pPr>
            <a:r>
              <a:t>[ガニェ事象1: 注意の獲得]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Calibri"/>
              </a:defRPr>
            </a:pPr>
            <a:r>
              <a:t>今日の学習目標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914400" cy="914400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39"/>
            <a:ext cx="9144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14300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自分の職種の役割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463040"/>
            <a:ext cx="68580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場の移行（トランジション）で</a:t>
            </a:r>
            <a:br/>
            <a:r>
              <a:t>自分の職種が何をできるか説明できる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914400" cy="914400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9144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33172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家族支援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651760"/>
            <a:ext cx="68580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ご家族への支援アプローチを</a:t>
            </a:r>
            <a:br/>
            <a:r>
              <a:t>3つ挙げられる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74720"/>
            <a:ext cx="914400" cy="914400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611879"/>
            <a:ext cx="9144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520439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急変時の連携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840480"/>
            <a:ext cx="68580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急変が起きたとき、</a:t>
            </a:r>
            <a:br/>
            <a:r>
              <a:t>自分がとるべき行動を理解する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8A9E8C"/>
                </a:solidFill>
                <a:latin typeface="Calibri"/>
              </a:defRPr>
            </a:pPr>
            <a:r>
              <a:t>すべての職種に関係するテーマです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6634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00" b="0">
                <a:solidFill>
                  <a:srgbClr val="8A9E8C"/>
                </a:solidFill>
                <a:latin typeface="Calibri"/>
              </a:defRPr>
            </a:pPr>
            <a:r>
              <a:t>[ガニェ事象2: 学習目標の提示]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6B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000" b="1">
                <a:solidFill>
                  <a:srgbClr val="FFF8F0"/>
                </a:solidFill>
                <a:latin typeface="Calibri"/>
              </a:defRPr>
            </a:pPr>
            <a:r>
              <a:t>ACP（アドバンス・ケア・プランニング）とは？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54864" cy="731520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128" y="1188720"/>
            <a:ext cx="720547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7D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261872"/>
            <a:ext cx="6949440" cy="5852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Georgia"/>
              </a:defRPr>
            </a:pPr>
            <a:r>
              <a:t>「これからのことを、本人・ご家族・私たちで</a:t>
            </a:r>
            <a:br/>
            <a:r>
              <a:t> 一緒に話し合い続けること」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77724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FFF8F0"/>
                </a:solidFill>
                <a:latin typeface="Calibri"/>
              </a:defRPr>
            </a:pPr>
            <a:r>
              <a:t>  一度決めたら終わりではなく、状況が変わるたびに何度でも話し合う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77724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FFF8F0"/>
                </a:solidFill>
                <a:latin typeface="Calibri"/>
              </a:defRPr>
            </a:pPr>
            <a:r>
              <a:t>  「人生会議」という愛称でも知られている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77724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FFF8F0"/>
                </a:solidFill>
                <a:latin typeface="Calibri"/>
              </a:defRPr>
            </a:pPr>
            <a:r>
              <a:t>  紙に書くことより、対話のプロセスそのものが大切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03320"/>
            <a:ext cx="77724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FFF8F0"/>
                </a:solidFill>
                <a:latin typeface="Calibri"/>
              </a:defRPr>
            </a:pPr>
            <a:r>
              <a:t>  患者さんの気持ちは変わることがある。だからこそ「繰り返し」が重要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6634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00" b="0">
                <a:solidFill>
                  <a:srgbClr val="8A9E8C"/>
                </a:solidFill>
                <a:latin typeface="Calibri"/>
              </a:defRPr>
            </a:pPr>
            <a:r>
              <a:t>[ガニェ事象3: 前提条件の確認]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Calibri"/>
              </a:defRPr>
            </a:pPr>
            <a:r>
              <a:t>研究が教えてくれたこと — 100人の患者さんがいたら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8A9E8C"/>
                </a:solidFill>
                <a:latin typeface="Calibri"/>
              </a:defRPr>
            </a:pPr>
            <a:r>
              <a:t>緩和ケア病棟から自宅に退院した患者さん359人の遺族への調査（2018年）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931920" cy="1645920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39319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自宅で亡くなった方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393192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80人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39319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100人中、希望通り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371600"/>
            <a:ext cx="3931920" cy="1645920"/>
          </a:xfrm>
          <a:prstGeom prst="rect">
            <a:avLst/>
          </a:prstGeom>
          <a:solidFill>
            <a:srgbClr val="7DB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463040"/>
            <a:ext cx="39319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緩和ケア病棟で亡くなった方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737360"/>
            <a:ext cx="393192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82人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560320"/>
            <a:ext cx="39319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100人中、希望通り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83280"/>
            <a:ext cx="54864" cy="731520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3383280"/>
            <a:ext cx="811987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7D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56432"/>
            <a:ext cx="7863840" cy="5852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Georgia"/>
              </a:defRPr>
            </a:pPr>
            <a:r>
              <a:t>でも裏を返すと…100人のうち約20人は、希望と違う場所で亡くなっています。</a:t>
            </a:r>
            <a:br/>
            <a:r>
              <a:t>しかもこれは最も手厚い支援を受けた方たちの数字です。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6634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00" b="0">
                <a:solidFill>
                  <a:srgbClr val="8A9E8C"/>
                </a:solidFill>
                <a:latin typeface="Calibri"/>
              </a:defRPr>
            </a:pPr>
            <a:r>
              <a:t>[ガニェ事象4: 新しい内容の提示]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6B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FF8F0"/>
                </a:solidFill>
                <a:latin typeface="Calibri"/>
              </a:defRPr>
            </a:pPr>
            <a:r>
              <a:t>なぜ「希望通り」にならないのか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3D6B5E"/>
          </a:solidFill>
          <a:ln w="12700">
            <a:solidFill>
              <a:srgbClr val="E8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7772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1">
                <a:solidFill>
                  <a:srgbClr val="E8A84C"/>
                </a:solidFill>
                <a:latin typeface="Calibri"/>
              </a:defRPr>
            </a:pPr>
            <a:r>
              <a:t>痛みの管理が難しかった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7772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FF8F0"/>
                </a:solidFill>
                <a:latin typeface="Calibri"/>
              </a:defRPr>
            </a:pPr>
            <a:r>
              <a:t>在宅では24時間の対応が難しい場面がある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solidFill>
            <a:srgbClr val="3D6B5E"/>
          </a:solidFill>
          <a:ln w="12700">
            <a:solidFill>
              <a:srgbClr val="E8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48839"/>
            <a:ext cx="7772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1">
                <a:solidFill>
                  <a:srgbClr val="E8A84C"/>
                </a:solidFill>
                <a:latin typeface="Calibri"/>
              </a:defRPr>
            </a:pPr>
            <a:r>
              <a:t>在宅で対応できる医師がいなかった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79"/>
            <a:ext cx="7772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FF8F0"/>
                </a:solidFill>
                <a:latin typeface="Calibri"/>
              </a:defRPr>
            </a:pPr>
            <a:r>
              <a:t>地域によって医師の数に大きな差がある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08960"/>
            <a:ext cx="8229600" cy="822960"/>
          </a:xfrm>
          <a:prstGeom prst="rect">
            <a:avLst/>
          </a:prstGeom>
          <a:solidFill>
            <a:srgbClr val="3D6B5E"/>
          </a:solidFill>
          <a:ln w="12700">
            <a:solidFill>
              <a:srgbClr val="E8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154680"/>
            <a:ext cx="7772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1">
                <a:solidFill>
                  <a:srgbClr val="E8A84C"/>
                </a:solidFill>
                <a:latin typeface="Calibri"/>
              </a:defRPr>
            </a:pPr>
            <a:r>
              <a:t>ご家族の介護負担が限界を超えた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7772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FF8F0"/>
                </a:solidFill>
                <a:latin typeface="Calibri"/>
              </a:defRPr>
            </a:pPr>
            <a:r>
              <a:t>「見ていられない」という心理的つらさも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7DB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03320"/>
            <a:ext cx="77724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逆のケースも: 在宅医療に対応してくれる医師・看護師が見つかり、</a:t>
            </a:r>
            <a:br/>
            <a:r>
              <a:t>「病棟の予定だったけど自宅で看取れた」というポジティブな変化もある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6634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00" b="0">
                <a:solidFill>
                  <a:srgbClr val="8A9E8C"/>
                </a:solidFill>
                <a:latin typeface="Calibri"/>
              </a:defRPr>
            </a:pPr>
            <a:r>
              <a:t>[ガニェ事象4: 新しい内容の提示（続）]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Calibri"/>
              </a:defRPr>
            </a:pPr>
            <a:r>
              <a:t>あなたの職種でできること（1）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2743200" cy="2926080"/>
          </a:xfrm>
          <a:prstGeom prst="rect">
            <a:avLst/>
          </a:prstGeom>
          <a:solidFill>
            <a:srgbClr val="F0F7F2"/>
          </a:solidFill>
          <a:ln w="12700">
            <a:solidFill>
              <a:srgbClr val="E8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500" b="1">
                <a:solidFill>
                  <a:srgbClr val="E8A84C"/>
                </a:solidFill>
                <a:latin typeface="Calibri"/>
              </a:defRPr>
            </a:pPr>
            <a:r>
              <a:t>看護師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828800" cy="45720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554480"/>
            <a:ext cx="2468880" cy="2286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退院前カンファレンスでの情報引き継ぎ</a:t>
            </a:r>
            <a:br/>
            <a:r>
              <a:t>症状変化の早期発見と医師への報告</a:t>
            </a:r>
            <a:br/>
            <a:r>
              <a:t>ご家族への症状管理の教育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005840"/>
            <a:ext cx="2743200" cy="2926080"/>
          </a:xfrm>
          <a:prstGeom prst="rect">
            <a:avLst/>
          </a:prstGeom>
          <a:solidFill>
            <a:srgbClr val="F0F7F2"/>
          </a:solidFill>
          <a:ln w="12700">
            <a:solidFill>
              <a:srgbClr val="E8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051560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500" b="1">
                <a:solidFill>
                  <a:srgbClr val="E8A84C"/>
                </a:solidFill>
                <a:latin typeface="Calibri"/>
              </a:defRPr>
            </a:pPr>
            <a:r>
              <a:t>SW / 医療相談員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417320"/>
            <a:ext cx="1828800" cy="45720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554480"/>
            <a:ext cx="2468880" cy="2286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在宅サービスの調整</a:t>
            </a:r>
            <a:br/>
            <a:r>
              <a:t>ご家族の経済的・社会的不安への対応</a:t>
            </a:r>
            <a:br/>
            <a:r>
              <a:t>バックアップベッドの事前確保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005840"/>
            <a:ext cx="2743200" cy="2926080"/>
          </a:xfrm>
          <a:prstGeom prst="rect">
            <a:avLst/>
          </a:prstGeom>
          <a:solidFill>
            <a:srgbClr val="F0F7F2"/>
          </a:solidFill>
          <a:ln w="12700">
            <a:solidFill>
              <a:srgbClr val="E8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051560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500" b="1">
                <a:solidFill>
                  <a:srgbClr val="E8A84C"/>
                </a:solidFill>
                <a:latin typeface="Calibri"/>
              </a:defRPr>
            </a:pPr>
            <a:r>
              <a:t>ケアマネジャー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1417320"/>
            <a:ext cx="1828800" cy="45720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554480"/>
            <a:ext cx="2468880" cy="2286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介護サービスの迅速な調整</a:t>
            </a:r>
            <a:br/>
            <a:r>
              <a:t>ご家族のレスパイト支援の計画</a:t>
            </a:r>
            <a:br/>
            <a:r>
              <a:t>在宅チーム全体の連携の要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6634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00" b="0">
                <a:solidFill>
                  <a:srgbClr val="8A9E8C"/>
                </a:solidFill>
                <a:latin typeface="Calibri"/>
              </a:defRPr>
            </a:pPr>
            <a:r>
              <a:t>[ガニェ事象5: 学習の案内]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6B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FF8F0"/>
                </a:solidFill>
                <a:latin typeface="Calibri"/>
              </a:defRPr>
            </a:pPr>
            <a:r>
              <a:t>あなたの職種でできること（2）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4114800" cy="2286000"/>
          </a:xfrm>
          <a:prstGeom prst="rect">
            <a:avLst/>
          </a:prstGeom>
          <a:solidFill>
            <a:srgbClr val="3D6B5E"/>
          </a:solidFill>
          <a:ln w="12700">
            <a:solidFill>
              <a:srgbClr val="E8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39319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600" b="1">
                <a:solidFill>
                  <a:srgbClr val="E8A84C"/>
                </a:solidFill>
                <a:latin typeface="Calibri"/>
              </a:defRPr>
            </a:pPr>
            <a:r>
              <a:t>薬剤師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17320"/>
            <a:ext cx="3200400" cy="45720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3840480" cy="164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FF8F0"/>
                </a:solidFill>
                <a:latin typeface="Calibri"/>
              </a:defRPr>
            </a:pPr>
            <a:r>
              <a:t>レスキュー薬の事前配置と使い方の説明</a:t>
            </a:r>
            <a:br/>
            <a:r>
              <a:t>服薬管理のサポート</a:t>
            </a:r>
            <a:br/>
            <a:r>
              <a:t>医師との薬剤調整の橋渡し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005840"/>
            <a:ext cx="4114800" cy="2286000"/>
          </a:xfrm>
          <a:prstGeom prst="rect">
            <a:avLst/>
          </a:prstGeom>
          <a:solidFill>
            <a:srgbClr val="3D6B5E"/>
          </a:solidFill>
          <a:ln w="12700">
            <a:solidFill>
              <a:srgbClr val="E8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59" y="1051560"/>
            <a:ext cx="39319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600" b="1">
                <a:solidFill>
                  <a:srgbClr val="E8A84C"/>
                </a:solidFill>
                <a:latin typeface="Calibri"/>
              </a:defRPr>
            </a:pPr>
            <a:r>
              <a:t>介護職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1417320"/>
            <a:ext cx="3200400" cy="45720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1554480"/>
            <a:ext cx="3840480" cy="164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FF8F0"/>
                </a:solidFill>
                <a:latin typeface="Calibri"/>
              </a:defRPr>
            </a:pPr>
            <a:r>
              <a:t>日々のケアの中での「いつもと違う」の気づき</a:t>
            </a:r>
            <a:br/>
            <a:r>
              <a:t>1日8〜16時間一緒にいるからこそ見える変化</a:t>
            </a:r>
            <a:br/>
            <a:r>
              <a:t>あなたの「気づき」が医療チームへの大切な情報に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77724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介護職への緩和ケア教育は全国で約10%の施設でしか行われていない。</a:t>
            </a:r>
            <a:br/>
            <a:r>
              <a:t>でも、最も長い時間を患者さんと過ごすのはあなたです。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6634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00" b="0">
                <a:solidFill>
                  <a:srgbClr val="8A9E8C"/>
                </a:solidFill>
                <a:latin typeface="Calibri"/>
              </a:defRPr>
            </a:pPr>
            <a:r>
              <a:t>[ガニェ事象5: 学習の案内（続）]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Calibri"/>
              </a:defRPr>
            </a:pPr>
            <a:r>
              <a:t>ご家族への声かけ — 明日から使える3つのアプローチ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286000" cy="1097280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22860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不安を受け止める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051560"/>
            <a:ext cx="5943600" cy="1005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「夜、ひとりで見ているのは不安ですよね。</a:t>
            </a:r>
            <a:br/>
            <a:r>
              <a:t>何かあったらいつでも連絡してください」</a:t>
            </a:r>
            <a:br/>
            <a:r>
              <a:t>「がんばりすぎていませんか？あなたの体も大切です」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2286000" cy="1097280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22860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急変時に備える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331720"/>
            <a:ext cx="5943600" cy="1005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「もし急に痛みが強くなったら、まずこのお薬を使って</a:t>
            </a:r>
            <a:br/>
            <a:r>
              <a:t>ください。そのあと○○に電話してください」</a:t>
            </a:r>
            <a:br/>
            <a:r>
              <a:t>「夜間の連絡先はここに貼っておきますね」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566160"/>
            <a:ext cx="2286000" cy="1097280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794760"/>
            <a:ext cx="22860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心の準備を支える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611879"/>
            <a:ext cx="5943600" cy="1005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「ご本人の希望を、改めて確認しておきましょうか」</a:t>
            </a:r>
            <a:br/>
            <a:r>
              <a:t>「今のお気持ちを聞かせていただけますか？</a:t>
            </a:r>
            <a:br/>
            <a:r>
              <a:t>何でも大丈夫ですよ」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6634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00" b="0">
                <a:solidFill>
                  <a:srgbClr val="8A9E8C"/>
                </a:solidFill>
                <a:latin typeface="Calibri"/>
              </a:defRPr>
            </a:pPr>
            <a:r>
              <a:t>[ガニェ事象6: 練習の実施]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6B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000" b="1">
                <a:solidFill>
                  <a:srgbClr val="FFF8F0"/>
                </a:solidFill>
                <a:latin typeface="Calibri"/>
              </a:defRPr>
            </a:pPr>
            <a:r>
              <a:t>グループワーク（5分）「自分の職種でできること」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54864" cy="914400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128" y="1188720"/>
            <a:ext cx="720547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D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261872"/>
            <a:ext cx="6949440" cy="7680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Georgia"/>
              </a:defRPr>
            </a:pPr>
            <a:r>
              <a:t>緩和ケア病棟から自宅に戻った患者さんが、</a:t>
            </a:r>
            <a:br/>
            <a:r>
              <a:t>希望通りの場所で最期を迎えるために、</a:t>
            </a:r>
            <a:br/>
            <a:r>
              <a:t>あなたの職種でできることは何ですか？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E8A84C"/>
                </a:solidFill>
                <a:latin typeface="Calibri"/>
              </a:defRPr>
            </a:pPr>
            <a:r>
              <a:t>考えるヒント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34640"/>
            <a:ext cx="1920240" cy="640080"/>
          </a:xfrm>
          <a:prstGeom prst="rect">
            <a:avLst/>
          </a:prstGeom>
          <a:solidFill>
            <a:srgbClr val="3D6B5E"/>
          </a:solidFill>
          <a:ln w="12700">
            <a:solidFill>
              <a:srgbClr val="E8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926080"/>
            <a:ext cx="18288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0">
                <a:solidFill>
                  <a:srgbClr val="FFF8F0"/>
                </a:solidFill>
                <a:latin typeface="Calibri"/>
              </a:defRPr>
            </a:pPr>
            <a:r>
              <a:t>退院前にできること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2834640"/>
            <a:ext cx="1920240" cy="640080"/>
          </a:xfrm>
          <a:prstGeom prst="rect">
            <a:avLst/>
          </a:prstGeom>
          <a:solidFill>
            <a:srgbClr val="3D6B5E"/>
          </a:solidFill>
          <a:ln w="12700">
            <a:solidFill>
              <a:srgbClr val="E8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39" y="2926080"/>
            <a:ext cx="18288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0">
                <a:solidFill>
                  <a:srgbClr val="FFF8F0"/>
                </a:solidFill>
                <a:latin typeface="Calibri"/>
              </a:defRPr>
            </a:pPr>
            <a:r>
              <a:t>退院直後にできること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2834640"/>
            <a:ext cx="1920240" cy="640080"/>
          </a:xfrm>
          <a:prstGeom prst="rect">
            <a:avLst/>
          </a:prstGeom>
          <a:solidFill>
            <a:srgbClr val="3D6B5E"/>
          </a:solidFill>
          <a:ln w="12700">
            <a:solidFill>
              <a:srgbClr val="E8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2926080"/>
            <a:ext cx="18288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0">
                <a:solidFill>
                  <a:srgbClr val="FFF8F0"/>
                </a:solidFill>
                <a:latin typeface="Calibri"/>
              </a:defRPr>
            </a:pPr>
            <a:r>
              <a:t>在宅療養中にできること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59" y="2834640"/>
            <a:ext cx="1920240" cy="640080"/>
          </a:xfrm>
          <a:prstGeom prst="rect">
            <a:avLst/>
          </a:prstGeom>
          <a:solidFill>
            <a:srgbClr val="3D6B5E"/>
          </a:solidFill>
          <a:ln w="12700">
            <a:solidFill>
              <a:srgbClr val="E8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79" y="2926080"/>
            <a:ext cx="18288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0">
                <a:solidFill>
                  <a:srgbClr val="FFF8F0"/>
                </a:solidFill>
                <a:latin typeface="Calibri"/>
              </a:defRPr>
            </a:pPr>
            <a:r>
              <a:t>急変時にできること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0">
                <a:solidFill>
                  <a:srgbClr val="8A9E8C"/>
                </a:solidFill>
                <a:latin typeface="Calibri"/>
              </a:defRPr>
            </a:pPr>
            <a:r>
              <a:t>正解はありません。「自分ならこうする」を考えてみてください。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663440"/>
            <a:ext cx="4114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00" b="0">
                <a:solidFill>
                  <a:srgbClr val="8A9E8C"/>
                </a:solidFill>
                <a:latin typeface="Calibri"/>
              </a:defRPr>
            </a:pPr>
            <a:r>
              <a:t>[ガニェ事象6: 練習 / 事象7: フィードバック]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Calibri"/>
              </a:defRPr>
            </a:pPr>
            <a:r>
              <a:t>今日から始める、あなたのアクション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630936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8F0"/>
                          </a:solidFill>
                          <a:latin typeface="Calibri"/>
                        </a:defRPr>
                      </a:pPr>
                      <a:r>
                        <a:t>職種</a:t>
                      </a:r>
                    </a:p>
                  </a:txBody>
                  <a:tcPr marL="45720" marR="45720" marT="18288" marB="18288">
                    <a:solidFill>
                      <a:srgbClr val="3D6B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8F0"/>
                          </a:solidFill>
                          <a:latin typeface="Calibri"/>
                        </a:defRPr>
                      </a:pPr>
                      <a:r>
                        <a:t>明日からの1アクション</a:t>
                      </a:r>
                    </a:p>
                  </a:txBody>
                  <a:tcPr marL="45720" marR="45720" marT="18288" marB="18288">
                    <a:solidFill>
                      <a:srgbClr val="3D6B5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看護師</a:t>
                      </a:r>
                    </a:p>
                  </a:txBody>
                  <a:tcPr marL="45720" marR="45720" marT="18288" marB="18288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退院前カンファレンスで「急変時の連絡先」を必ず確認する</a:t>
                      </a:r>
                    </a:p>
                  </a:txBody>
                  <a:tcPr marL="45720" marR="45720" marT="18288" marB="18288">
                    <a:solidFill>
                      <a:srgbClr val="F0F7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介護職</a:t>
                      </a:r>
                    </a:p>
                  </a:txBody>
                  <a:tcPr marL="45720" marR="45720" marT="18288" marB="18288"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「いつもと違う」を感じたら、その日のうちに看護師に伝える</a:t>
                      </a:r>
                    </a:p>
                  </a:txBody>
                  <a:tcPr marL="45720" marR="45720" marT="18288" marB="18288">
                    <a:solidFill>
                      <a:srgbClr val="FFF8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SW / 相談員</a:t>
                      </a:r>
                    </a:p>
                  </a:txBody>
                  <a:tcPr marL="45720" marR="45720" marT="18288" marB="18288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バックアップベッドの確保状況を退院前にチェックする</a:t>
                      </a:r>
                    </a:p>
                  </a:txBody>
                  <a:tcPr marL="45720" marR="45720" marT="18288" marB="18288">
                    <a:solidFill>
                      <a:srgbClr val="F0F7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ケアマネ</a:t>
                      </a:r>
                    </a:p>
                  </a:txBody>
                  <a:tcPr marL="45720" marR="45720" marT="18288" marB="18288"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家族のレスパイトニーズを月1回は確認する</a:t>
                      </a:r>
                    </a:p>
                  </a:txBody>
                  <a:tcPr marL="45720" marR="45720" marT="18288" marB="18288">
                    <a:solidFill>
                      <a:srgbClr val="FFF8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薬剤師</a:t>
                      </a:r>
                    </a:p>
                  </a:txBody>
                  <a:tcPr marL="45720" marR="45720" marT="18288" marB="18288">
                    <a:solidFill>
                      <a:srgbClr val="F0F7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レスキュー薬の配置と使い方を家族に説明する</a:t>
                      </a:r>
                    </a:p>
                  </a:txBody>
                  <a:tcPr marL="45720" marR="45720" marT="18288" marB="18288">
                    <a:solidFill>
                      <a:srgbClr val="F0F7F2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371600" y="3840480"/>
            <a:ext cx="54864" cy="457200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81328" y="3840480"/>
            <a:ext cx="629107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7D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3913632"/>
            <a:ext cx="6035040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Georgia"/>
              </a:defRPr>
            </a:pPr>
            <a:r>
              <a:t>「自分には関係ない」→「自分にもできることがある」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4663440"/>
            <a:ext cx="4572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00" b="0">
                <a:solidFill>
                  <a:srgbClr val="8A9E8C"/>
                </a:solidFill>
                <a:latin typeface="Calibri"/>
              </a:defRPr>
            </a:pPr>
            <a:r>
              <a:t>[ガニェ事象8: 学習成果の評価 / 事象9: 保持と転移]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