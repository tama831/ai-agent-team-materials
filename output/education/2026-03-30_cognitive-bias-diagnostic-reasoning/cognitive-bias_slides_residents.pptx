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3E"/>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square" lIns="45720" rIns="45720" tIns="27432" bIns="27432">
            <a:spAutoFit/>
          </a:bodyPr>
          <a:lstStyle/>
          <a:p>
            <a:pPr algn="ctr">
              <a:defRPr sz="2800" b="1">
                <a:solidFill>
                  <a:srgbClr val="F5F0E8"/>
                </a:solidFill>
                <a:latin typeface="Calibri"/>
              </a:defRPr>
            </a:pPr>
            <a:r>
              <a:t>認知バイアスが診断推論を歪める</a:t>
            </a:r>
          </a:p>
        </p:txBody>
      </p:sp>
      <p:sp>
        <p:nvSpPr>
          <p:cNvPr id="3" name="TextBox 2"/>
          <p:cNvSpPr txBox="1"/>
          <p:nvPr/>
        </p:nvSpPr>
        <p:spPr>
          <a:xfrm>
            <a:off x="457200" y="1188720"/>
            <a:ext cx="8229600" cy="457200"/>
          </a:xfrm>
          <a:prstGeom prst="rect">
            <a:avLst/>
          </a:prstGeom>
          <a:noFill/>
        </p:spPr>
        <p:txBody>
          <a:bodyPr wrap="square" lIns="45720" rIns="45720" tIns="27432" bIns="27432">
            <a:spAutoFit/>
          </a:bodyPr>
          <a:lstStyle/>
          <a:p>
            <a:pPr algn="ctr">
              <a:defRPr sz="1600" b="0">
                <a:solidFill>
                  <a:srgbClr val="E89B3B"/>
                </a:solidFill>
                <a:latin typeface="Calibri"/>
              </a:defRPr>
            </a:pPr>
            <a:r>
              <a:t>— 行動経済学からの処方箋</a:t>
            </a:r>
          </a:p>
        </p:txBody>
      </p:sp>
      <p:sp>
        <p:nvSpPr>
          <p:cNvPr id="4" name="Rectangle 3"/>
          <p:cNvSpPr/>
          <p:nvPr/>
        </p:nvSpPr>
        <p:spPr>
          <a:xfrm>
            <a:off x="2743200" y="1828800"/>
            <a:ext cx="36576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94560"/>
            <a:ext cx="8229600" cy="274320"/>
          </a:xfrm>
          <a:prstGeom prst="rect">
            <a:avLst/>
          </a:prstGeom>
          <a:noFill/>
        </p:spPr>
        <p:txBody>
          <a:bodyPr wrap="square" lIns="45720" rIns="45720" tIns="27432" bIns="27432">
            <a:spAutoFit/>
          </a:bodyPr>
          <a:lstStyle/>
          <a:p>
            <a:pPr algn="ctr">
              <a:defRPr sz="1000" b="0">
                <a:solidFill>
                  <a:srgbClr val="7A8A9A"/>
                </a:solidFill>
                <a:latin typeface="Calibri"/>
              </a:defRPr>
            </a:pPr>
            <a:r>
              <a:t>20分 | 研修医・専攻医向け | ガニェ事象1: 注意の獲得</a:t>
            </a:r>
          </a:p>
        </p:txBody>
      </p:sp>
      <p:sp>
        <p:nvSpPr>
          <p:cNvPr id="6" name="Rectangle 5"/>
          <p:cNvSpPr/>
          <p:nvPr/>
        </p:nvSpPr>
        <p:spPr>
          <a:xfrm>
            <a:off x="914400" y="2743200"/>
            <a:ext cx="54864" cy="91440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4128" y="2743200"/>
            <a:ext cx="7205472" cy="914400"/>
          </a:xfrm>
          <a:prstGeom prst="rect">
            <a:avLst/>
          </a:prstGeom>
          <a:solidFill>
            <a:srgbClr val="FFFFFF"/>
          </a:solidFill>
          <a:ln w="12700">
            <a:solidFill>
              <a:srgbClr val="4EB8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816352"/>
            <a:ext cx="6949440" cy="768096"/>
          </a:xfrm>
          <a:prstGeom prst="rect">
            <a:avLst/>
          </a:prstGeom>
          <a:noFill/>
        </p:spPr>
        <p:txBody>
          <a:bodyPr wrap="square" lIns="45720" rIns="45720" tIns="27432" bIns="27432">
            <a:spAutoFit/>
          </a:bodyPr>
          <a:lstStyle/>
          <a:p>
            <a:pPr algn="l">
              <a:defRPr sz="1600" b="0">
                <a:solidFill>
                  <a:srgbClr val="1A1A2E"/>
                </a:solidFill>
                <a:latin typeface="Georgia"/>
              </a:defRPr>
            </a:pPr>
            <a:r>
              <a:t>「完全に確信がある」と答えた医師の</a:t>
            </a:r>
            <a:br/>
            <a:r>
              <a:t>40%が間違っていた ——ICU剖検研究</a:t>
            </a:r>
          </a:p>
        </p:txBody>
      </p:sp>
      <p:sp>
        <p:nvSpPr>
          <p:cNvPr id="9" name="TextBox 8"/>
          <p:cNvSpPr txBox="1"/>
          <p:nvPr/>
        </p:nvSpPr>
        <p:spPr>
          <a:xfrm>
            <a:off x="731520" y="3931920"/>
            <a:ext cx="7680960" cy="548640"/>
          </a:xfrm>
          <a:prstGeom prst="rect">
            <a:avLst/>
          </a:prstGeom>
          <a:noFill/>
        </p:spPr>
        <p:txBody>
          <a:bodyPr wrap="square" lIns="45720" rIns="45720" tIns="27432" bIns="27432">
            <a:spAutoFit/>
          </a:bodyPr>
          <a:lstStyle/>
          <a:p>
            <a:pPr algn="l">
              <a:defRPr sz="1200" b="0">
                <a:solidFill>
                  <a:srgbClr val="F5F0E8"/>
                </a:solidFill>
                <a:latin typeface="Calibri"/>
              </a:defRPr>
            </a:pPr>
            <a:r>
              <a:t>これは能力の問題ではない。人間の脳に構造的に組み込まれた</a:t>
            </a:r>
            <a:br/>
            <a:r>
              <a:t>「予測可能なシステムエラー」である。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2200" b="1">
                <a:solidFill>
                  <a:srgbClr val="1A1A2E"/>
                </a:solidFill>
                <a:latin typeface="Calibri"/>
              </a:defRPr>
            </a:pPr>
            <a:r>
              <a:t>学習目標</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0" y="91440"/>
            <a:ext cx="27432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[ガニェ事象2: 学習目標を知らせる]</a:t>
            </a:r>
          </a:p>
        </p:txBody>
      </p:sp>
      <p:sp>
        <p:nvSpPr>
          <p:cNvPr id="5" name="Rectangle 4"/>
          <p:cNvSpPr/>
          <p:nvPr/>
        </p:nvSpPr>
        <p:spPr>
          <a:xfrm>
            <a:off x="457200" y="1097280"/>
            <a:ext cx="914400" cy="91440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39"/>
            <a:ext cx="914400" cy="640080"/>
          </a:xfrm>
          <a:prstGeom prst="rect">
            <a:avLst/>
          </a:prstGeom>
          <a:noFill/>
        </p:spPr>
        <p:txBody>
          <a:bodyPr wrap="square" lIns="45720" rIns="45720" tIns="27432" bIns="27432">
            <a:spAutoFit/>
          </a:bodyPr>
          <a:lstStyle/>
          <a:p>
            <a:pPr algn="ctr">
              <a:defRPr sz="2600" b="1">
                <a:solidFill>
                  <a:srgbClr val="0D2B3E"/>
                </a:solidFill>
                <a:latin typeface="Calibri"/>
              </a:defRPr>
            </a:pPr>
            <a:r>
              <a:t>1</a:t>
            </a:r>
          </a:p>
        </p:txBody>
      </p:sp>
      <p:sp>
        <p:nvSpPr>
          <p:cNvPr id="7" name="TextBox 6"/>
          <p:cNvSpPr txBox="1"/>
          <p:nvPr/>
        </p:nvSpPr>
        <p:spPr>
          <a:xfrm>
            <a:off x="1554480" y="1143000"/>
            <a:ext cx="7132320" cy="365760"/>
          </a:xfrm>
          <a:prstGeom prst="rect">
            <a:avLst/>
          </a:prstGeom>
          <a:noFill/>
        </p:spPr>
        <p:txBody>
          <a:bodyPr wrap="square" lIns="45720" rIns="45720" tIns="27432" bIns="27432">
            <a:spAutoFit/>
          </a:bodyPr>
          <a:lstStyle/>
          <a:p>
            <a:pPr algn="l">
              <a:defRPr sz="1500" b="1">
                <a:solidFill>
                  <a:srgbClr val="1A1A2E"/>
                </a:solidFill>
                <a:latin typeface="Calibri"/>
              </a:defRPr>
            </a:pPr>
            <a:r>
              <a:t>認識できる</a:t>
            </a:r>
          </a:p>
        </p:txBody>
      </p:sp>
      <p:sp>
        <p:nvSpPr>
          <p:cNvPr id="8" name="TextBox 7"/>
          <p:cNvSpPr txBox="1"/>
          <p:nvPr/>
        </p:nvSpPr>
        <p:spPr>
          <a:xfrm>
            <a:off x="1554480" y="1508760"/>
            <a:ext cx="7132320" cy="457200"/>
          </a:xfrm>
          <a:prstGeom prst="rect">
            <a:avLst/>
          </a:prstGeom>
          <a:noFill/>
        </p:spPr>
        <p:txBody>
          <a:bodyPr wrap="square" lIns="45720" rIns="45720" tIns="27432" bIns="27432">
            <a:spAutoFit/>
          </a:bodyPr>
          <a:lstStyle/>
          <a:p>
            <a:pPr algn="l">
              <a:defRPr sz="1200" b="0">
                <a:solidFill>
                  <a:srgbClr val="7A8A9A"/>
                </a:solidFill>
                <a:latin typeface="Calibri"/>
              </a:defRPr>
            </a:pPr>
            <a:r>
              <a:t>4つの認知バイアス（確認・アンカリング・</a:t>
            </a:r>
            <a:br/>
            <a:r>
              <a:t>利用可能性・過信）を臨床場面で見分けられる</a:t>
            </a:r>
          </a:p>
        </p:txBody>
      </p:sp>
      <p:sp>
        <p:nvSpPr>
          <p:cNvPr id="9" name="Rectangle 8"/>
          <p:cNvSpPr/>
          <p:nvPr/>
        </p:nvSpPr>
        <p:spPr>
          <a:xfrm>
            <a:off x="457200" y="2286000"/>
            <a:ext cx="914400" cy="91440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423160"/>
            <a:ext cx="914400" cy="640080"/>
          </a:xfrm>
          <a:prstGeom prst="rect">
            <a:avLst/>
          </a:prstGeom>
          <a:noFill/>
        </p:spPr>
        <p:txBody>
          <a:bodyPr wrap="square" lIns="45720" rIns="45720" tIns="27432" bIns="27432">
            <a:spAutoFit/>
          </a:bodyPr>
          <a:lstStyle/>
          <a:p>
            <a:pPr algn="ctr">
              <a:defRPr sz="2600" b="1">
                <a:solidFill>
                  <a:srgbClr val="0D2B3E"/>
                </a:solidFill>
                <a:latin typeface="Calibri"/>
              </a:defRPr>
            </a:pPr>
            <a:r>
              <a:t>2</a:t>
            </a:r>
          </a:p>
        </p:txBody>
      </p:sp>
      <p:sp>
        <p:nvSpPr>
          <p:cNvPr id="11" name="TextBox 10"/>
          <p:cNvSpPr txBox="1"/>
          <p:nvPr/>
        </p:nvSpPr>
        <p:spPr>
          <a:xfrm>
            <a:off x="1554480" y="2331720"/>
            <a:ext cx="7132320" cy="365760"/>
          </a:xfrm>
          <a:prstGeom prst="rect">
            <a:avLst/>
          </a:prstGeom>
          <a:noFill/>
        </p:spPr>
        <p:txBody>
          <a:bodyPr wrap="square" lIns="45720" rIns="45720" tIns="27432" bIns="27432">
            <a:spAutoFit/>
          </a:bodyPr>
          <a:lstStyle/>
          <a:p>
            <a:pPr algn="l">
              <a:defRPr sz="1500" b="1">
                <a:solidFill>
                  <a:srgbClr val="1A1A2E"/>
                </a:solidFill>
                <a:latin typeface="Calibri"/>
              </a:defRPr>
            </a:pPr>
            <a:r>
              <a:t>実践できる</a:t>
            </a:r>
          </a:p>
        </p:txBody>
      </p:sp>
      <p:sp>
        <p:nvSpPr>
          <p:cNvPr id="12" name="TextBox 11"/>
          <p:cNvSpPr txBox="1"/>
          <p:nvPr/>
        </p:nvSpPr>
        <p:spPr>
          <a:xfrm>
            <a:off x="1554480" y="2697480"/>
            <a:ext cx="7132320" cy="457200"/>
          </a:xfrm>
          <a:prstGeom prst="rect">
            <a:avLst/>
          </a:prstGeom>
          <a:noFill/>
        </p:spPr>
        <p:txBody>
          <a:bodyPr wrap="square" lIns="45720" rIns="45720" tIns="27432" bIns="27432">
            <a:spAutoFit/>
          </a:bodyPr>
          <a:lstStyle/>
          <a:p>
            <a:pPr algn="l">
              <a:defRPr sz="1200" b="0">
                <a:solidFill>
                  <a:srgbClr val="7A8A9A"/>
                </a:solidFill>
                <a:latin typeface="Calibri"/>
              </a:defRPr>
            </a:pPr>
            <a:r>
              <a:t>除偏介入を3つ使える</a:t>
            </a:r>
            <a:br/>
            <a:r>
              <a:t>（診断タイムアウト・プレモーテム・構造化振り返り）</a:t>
            </a:r>
          </a:p>
        </p:txBody>
      </p:sp>
      <p:sp>
        <p:nvSpPr>
          <p:cNvPr id="13" name="Rectangle 12"/>
          <p:cNvSpPr/>
          <p:nvPr/>
        </p:nvSpPr>
        <p:spPr>
          <a:xfrm>
            <a:off x="457200" y="3474720"/>
            <a:ext cx="914400" cy="91440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611879"/>
            <a:ext cx="914400" cy="640080"/>
          </a:xfrm>
          <a:prstGeom prst="rect">
            <a:avLst/>
          </a:prstGeom>
          <a:noFill/>
        </p:spPr>
        <p:txBody>
          <a:bodyPr wrap="square" lIns="45720" rIns="45720" tIns="27432" bIns="27432">
            <a:spAutoFit/>
          </a:bodyPr>
          <a:lstStyle/>
          <a:p>
            <a:pPr algn="ctr">
              <a:defRPr sz="2600" b="1">
                <a:solidFill>
                  <a:srgbClr val="0D2B3E"/>
                </a:solidFill>
                <a:latin typeface="Calibri"/>
              </a:defRPr>
            </a:pPr>
            <a:r>
              <a:t>3</a:t>
            </a:r>
          </a:p>
        </p:txBody>
      </p:sp>
      <p:sp>
        <p:nvSpPr>
          <p:cNvPr id="15" name="TextBox 14"/>
          <p:cNvSpPr txBox="1"/>
          <p:nvPr/>
        </p:nvSpPr>
        <p:spPr>
          <a:xfrm>
            <a:off x="1554480" y="3520439"/>
            <a:ext cx="7132320" cy="365760"/>
          </a:xfrm>
          <a:prstGeom prst="rect">
            <a:avLst/>
          </a:prstGeom>
          <a:noFill/>
        </p:spPr>
        <p:txBody>
          <a:bodyPr wrap="square" lIns="45720" rIns="45720" tIns="27432" bIns="27432">
            <a:spAutoFit/>
          </a:bodyPr>
          <a:lstStyle/>
          <a:p>
            <a:pPr algn="l">
              <a:defRPr sz="1500" b="1">
                <a:solidFill>
                  <a:srgbClr val="1A1A2E"/>
                </a:solidFill>
                <a:latin typeface="Calibri"/>
              </a:defRPr>
            </a:pPr>
            <a:r>
              <a:t>振り返れる</a:t>
            </a:r>
          </a:p>
        </p:txBody>
      </p:sp>
      <p:sp>
        <p:nvSpPr>
          <p:cNvPr id="16" name="TextBox 15"/>
          <p:cNvSpPr txBox="1"/>
          <p:nvPr/>
        </p:nvSpPr>
        <p:spPr>
          <a:xfrm>
            <a:off x="1554480" y="3886200"/>
            <a:ext cx="7132320" cy="457200"/>
          </a:xfrm>
          <a:prstGeom prst="rect">
            <a:avLst/>
          </a:prstGeom>
          <a:noFill/>
        </p:spPr>
        <p:txBody>
          <a:bodyPr wrap="square" lIns="45720" rIns="45720" tIns="27432" bIns="27432">
            <a:spAutoFit/>
          </a:bodyPr>
          <a:lstStyle/>
          <a:p>
            <a:pPr algn="l">
              <a:defRPr sz="1200" b="0">
                <a:solidFill>
                  <a:srgbClr val="7A8A9A"/>
                </a:solidFill>
                <a:latin typeface="Calibri"/>
              </a:defRPr>
            </a:pPr>
            <a:r>
              <a:t>自分の推論プロセスを</a:t>
            </a:r>
            <a:br/>
            <a:r>
              <a:t>構造化して省察できる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3E"/>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2000" b="1">
                <a:solidFill>
                  <a:srgbClr val="F5F0E8"/>
                </a:solidFill>
                <a:latin typeface="Calibri"/>
              </a:defRPr>
            </a:pPr>
            <a:r>
              <a:t>二重過程理論 — System 1とSystem 2</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91440"/>
            <a:ext cx="32004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[ガニェ事象3: 前提条件を思い出させる]</a:t>
            </a:r>
          </a:p>
        </p:txBody>
      </p:sp>
      <p:sp>
        <p:nvSpPr>
          <p:cNvPr id="5" name="Rectangle 4"/>
          <p:cNvSpPr/>
          <p:nvPr/>
        </p:nvSpPr>
        <p:spPr>
          <a:xfrm>
            <a:off x="457200" y="1097280"/>
            <a:ext cx="4114800" cy="2011680"/>
          </a:xfrm>
          <a:prstGeom prst="rect">
            <a:avLst/>
          </a:prstGeom>
          <a:solidFill>
            <a:srgbClr val="0D2B3E"/>
          </a:solidFill>
          <a:ln w="12700">
            <a:solidFill>
              <a:srgbClr val="E89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3840480" cy="457200"/>
          </a:xfrm>
          <a:prstGeom prst="rect">
            <a:avLst/>
          </a:prstGeom>
          <a:noFill/>
        </p:spPr>
        <p:txBody>
          <a:bodyPr wrap="square" lIns="45720" rIns="45720" tIns="27432" bIns="27432">
            <a:spAutoFit/>
          </a:bodyPr>
          <a:lstStyle/>
          <a:p>
            <a:pPr algn="l">
              <a:defRPr sz="1600" b="1">
                <a:solidFill>
                  <a:srgbClr val="E89B3B"/>
                </a:solidFill>
                <a:latin typeface="Calibri"/>
              </a:defRPr>
            </a:pPr>
            <a:r>
              <a:t>System 1（直感）</a:t>
            </a:r>
          </a:p>
        </p:txBody>
      </p:sp>
      <p:sp>
        <p:nvSpPr>
          <p:cNvPr id="7" name="TextBox 6"/>
          <p:cNvSpPr txBox="1"/>
          <p:nvPr/>
        </p:nvSpPr>
        <p:spPr>
          <a:xfrm>
            <a:off x="594360" y="1691640"/>
            <a:ext cx="3840480" cy="1280160"/>
          </a:xfrm>
          <a:prstGeom prst="rect">
            <a:avLst/>
          </a:prstGeom>
          <a:noFill/>
        </p:spPr>
        <p:txBody>
          <a:bodyPr wrap="square" lIns="45720" rIns="45720" tIns="27432" bIns="27432">
            <a:spAutoFit/>
          </a:bodyPr>
          <a:lstStyle/>
          <a:p>
            <a:pPr algn="l">
              <a:defRPr sz="1200" b="0">
                <a:solidFill>
                  <a:srgbClr val="F5F0E8"/>
                </a:solidFill>
                <a:latin typeface="Calibri"/>
              </a:defRPr>
            </a:pPr>
            <a:r>
              <a:t>高速・自動的・省エネ</a:t>
            </a:r>
            <a:br/>
            <a:r>
              <a:t>パターン認識で即座に診断仮説を生成</a:t>
            </a:r>
            <a:br/>
            <a:r>
              <a:t>強み: 経験に基づく効率的判断</a:t>
            </a:r>
            <a:br/>
            <a:r>
              <a:t>弱み: 認知バイアスの温床</a:t>
            </a:r>
          </a:p>
        </p:txBody>
      </p:sp>
      <p:sp>
        <p:nvSpPr>
          <p:cNvPr id="8" name="Rectangle 7"/>
          <p:cNvSpPr/>
          <p:nvPr/>
        </p:nvSpPr>
        <p:spPr>
          <a:xfrm>
            <a:off x="4846320" y="1097280"/>
            <a:ext cx="4114800" cy="2011680"/>
          </a:xfrm>
          <a:prstGeom prst="rect">
            <a:avLst/>
          </a:prstGeom>
          <a:solidFill>
            <a:srgbClr val="0D2B3E"/>
          </a:solidFill>
          <a:ln w="12700">
            <a:solidFill>
              <a:srgbClr val="E89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83480" y="1188720"/>
            <a:ext cx="3840480" cy="457200"/>
          </a:xfrm>
          <a:prstGeom prst="rect">
            <a:avLst/>
          </a:prstGeom>
          <a:noFill/>
        </p:spPr>
        <p:txBody>
          <a:bodyPr wrap="square" lIns="45720" rIns="45720" tIns="27432" bIns="27432">
            <a:spAutoFit/>
          </a:bodyPr>
          <a:lstStyle/>
          <a:p>
            <a:pPr algn="l">
              <a:defRPr sz="1600" b="1">
                <a:solidFill>
                  <a:srgbClr val="E89B3B"/>
                </a:solidFill>
                <a:latin typeface="Calibri"/>
              </a:defRPr>
            </a:pPr>
            <a:r>
              <a:t>System 2（分析）</a:t>
            </a:r>
          </a:p>
        </p:txBody>
      </p:sp>
      <p:sp>
        <p:nvSpPr>
          <p:cNvPr id="10" name="TextBox 9"/>
          <p:cNvSpPr txBox="1"/>
          <p:nvPr/>
        </p:nvSpPr>
        <p:spPr>
          <a:xfrm>
            <a:off x="4983480" y="1691640"/>
            <a:ext cx="3840480" cy="1280160"/>
          </a:xfrm>
          <a:prstGeom prst="rect">
            <a:avLst/>
          </a:prstGeom>
          <a:noFill/>
        </p:spPr>
        <p:txBody>
          <a:bodyPr wrap="square" lIns="45720" rIns="45720" tIns="27432" bIns="27432">
            <a:spAutoFit/>
          </a:bodyPr>
          <a:lstStyle/>
          <a:p>
            <a:pPr algn="l">
              <a:defRPr sz="1200" b="0">
                <a:solidFill>
                  <a:srgbClr val="F5F0E8"/>
                </a:solidFill>
                <a:latin typeface="Calibri"/>
              </a:defRPr>
            </a:pPr>
            <a:r>
              <a:t>低速・意識的・高負荷</a:t>
            </a:r>
            <a:br/>
            <a:r>
              <a:t>鑑別診断リストの体系的検討</a:t>
            </a:r>
            <a:br/>
            <a:r>
              <a:t>強み: 論理的・確率的推論</a:t>
            </a:r>
            <a:br/>
            <a:r>
              <a:t>弱み: 疲労で機能低下</a:t>
            </a:r>
          </a:p>
        </p:txBody>
      </p:sp>
      <p:sp>
        <p:nvSpPr>
          <p:cNvPr id="11" name="TextBox 10"/>
          <p:cNvSpPr txBox="1"/>
          <p:nvPr/>
        </p:nvSpPr>
        <p:spPr>
          <a:xfrm>
            <a:off x="457200" y="3383280"/>
            <a:ext cx="8229600" cy="365760"/>
          </a:xfrm>
          <a:prstGeom prst="rect">
            <a:avLst/>
          </a:prstGeom>
          <a:noFill/>
        </p:spPr>
        <p:txBody>
          <a:bodyPr wrap="square" lIns="45720" rIns="45720" tIns="27432" bIns="27432">
            <a:spAutoFit/>
          </a:bodyPr>
          <a:lstStyle/>
          <a:p>
            <a:pPr algn="l">
              <a:defRPr sz="1100" b="0">
                <a:solidFill>
                  <a:srgbClr val="F5F0E8"/>
                </a:solidFill>
                <a:latin typeface="Calibri"/>
              </a:defRPr>
            </a:pPr>
            <a:r>
              <a:t>2,500以上の論文がこのモデルを医療に適用</a:t>
            </a:r>
          </a:p>
        </p:txBody>
      </p:sp>
      <p:sp>
        <p:nvSpPr>
          <p:cNvPr id="12" name="Rectangle 11"/>
          <p:cNvSpPr/>
          <p:nvPr/>
        </p:nvSpPr>
        <p:spPr>
          <a:xfrm>
            <a:off x="731520" y="3931920"/>
            <a:ext cx="54864" cy="45720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1248" y="3931920"/>
            <a:ext cx="7571232" cy="457200"/>
          </a:xfrm>
          <a:prstGeom prst="rect">
            <a:avLst/>
          </a:prstGeom>
          <a:solidFill>
            <a:srgbClr val="FFFFFF"/>
          </a:solidFill>
          <a:ln w="12700">
            <a:solidFill>
              <a:srgbClr val="4EB8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05072"/>
            <a:ext cx="7315200" cy="310896"/>
          </a:xfrm>
          <a:prstGeom prst="rect">
            <a:avLst/>
          </a:prstGeom>
          <a:noFill/>
        </p:spPr>
        <p:txBody>
          <a:bodyPr wrap="square" lIns="45720" rIns="45720" tIns="27432" bIns="27432">
            <a:spAutoFit/>
          </a:bodyPr>
          <a:lstStyle/>
          <a:p>
            <a:pPr algn="l">
              <a:defRPr sz="1100" b="0">
                <a:solidFill>
                  <a:srgbClr val="1A1A2E"/>
                </a:solidFill>
                <a:latin typeface="Georgia"/>
              </a:defRPr>
            </a:pPr>
            <a:r>
              <a:t>Enke (2023): 命がかかっている場面でもバイアスは縮小するが完全には消えない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1800" b="1">
                <a:solidFill>
                  <a:srgbClr val="1A1A2E"/>
                </a:solidFill>
                <a:latin typeface="Calibri"/>
              </a:defRPr>
            </a:pPr>
            <a:r>
              <a:t>確認バイアス — 自分の仮説を裏づける情報ばかり集める</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91440"/>
            <a:ext cx="32004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[ガニェ事象4: 新しい内容を提示する]</a:t>
            </a:r>
          </a:p>
        </p:txBody>
      </p:sp>
      <p:sp>
        <p:nvSpPr>
          <p:cNvPr id="5" name="Rectangle 4"/>
          <p:cNvSpPr/>
          <p:nvPr/>
        </p:nvSpPr>
        <p:spPr>
          <a:xfrm>
            <a:off x="457200" y="1097280"/>
            <a:ext cx="8229600" cy="2560320"/>
          </a:xfrm>
          <a:prstGeom prst="rect">
            <a:avLst/>
          </a:prstGeom>
          <a:solidFill>
            <a:srgbClr val="E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7863840" cy="365760"/>
          </a:xfrm>
          <a:prstGeom prst="rect">
            <a:avLst/>
          </a:prstGeom>
          <a:noFill/>
        </p:spPr>
        <p:txBody>
          <a:bodyPr wrap="square" lIns="45720" rIns="45720" tIns="27432" bIns="27432">
            <a:spAutoFit/>
          </a:bodyPr>
          <a:lstStyle/>
          <a:p>
            <a:pPr algn="l">
              <a:defRPr sz="1400" b="1">
                <a:solidFill>
                  <a:srgbClr val="E89B3B"/>
                </a:solidFill>
                <a:latin typeface="Calibri"/>
              </a:defRPr>
            </a:pPr>
            <a:r>
              <a:t>臨床ケース: 不安障害既往の胸痛</a:t>
            </a:r>
          </a:p>
        </p:txBody>
      </p:sp>
      <p:sp>
        <p:nvSpPr>
          <p:cNvPr id="7" name="TextBox 6"/>
          <p:cNvSpPr txBox="1"/>
          <p:nvPr/>
        </p:nvSpPr>
        <p:spPr>
          <a:xfrm>
            <a:off x="640080" y="1554480"/>
            <a:ext cx="7863840" cy="274320"/>
          </a:xfrm>
          <a:prstGeom prst="rect">
            <a:avLst/>
          </a:prstGeom>
          <a:noFill/>
        </p:spPr>
        <p:txBody>
          <a:bodyPr wrap="square" lIns="45720" rIns="45720" tIns="27432" bIns="27432">
            <a:spAutoFit/>
          </a:bodyPr>
          <a:lstStyle/>
          <a:p>
            <a:pPr algn="l">
              <a:defRPr sz="1200" b="0">
                <a:solidFill>
                  <a:srgbClr val="1A1A2E"/>
                </a:solidFill>
                <a:latin typeface="Calibri"/>
              </a:defRPr>
            </a:pPr>
            <a:r>
              <a:t>32歳女性。不安障害の既往あり。胸痛を主訴に来院。</a:t>
            </a:r>
          </a:p>
        </p:txBody>
      </p:sp>
      <p:sp>
        <p:nvSpPr>
          <p:cNvPr id="8" name="TextBox 7"/>
          <p:cNvSpPr txBox="1"/>
          <p:nvPr/>
        </p:nvSpPr>
        <p:spPr>
          <a:xfrm>
            <a:off x="640080" y="192024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1. バイアス発動: 「不安障害の既往」→ System 1が「パニック発作」を生成</a:t>
            </a:r>
          </a:p>
        </p:txBody>
      </p:sp>
      <p:sp>
        <p:nvSpPr>
          <p:cNvPr id="9" name="TextBox 8"/>
          <p:cNvSpPr txBox="1"/>
          <p:nvPr/>
        </p:nvSpPr>
        <p:spPr>
          <a:xfrm>
            <a:off x="640080" y="228600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2. 確認的情報収集: 「ストレスは？」「動悸は？」— 支持する質問が優先</a:t>
            </a:r>
          </a:p>
        </p:txBody>
      </p:sp>
      <p:sp>
        <p:nvSpPr>
          <p:cNvPr id="10" name="TextBox 9"/>
          <p:cNvSpPr txBox="1"/>
          <p:nvPr/>
        </p:nvSpPr>
        <p:spPr>
          <a:xfrm>
            <a:off x="640080" y="265176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3. 矛盾情報の軽視: 軽度の頻脈、SpO2 96%を「不安による」と解釈</a:t>
            </a:r>
          </a:p>
        </p:txBody>
      </p:sp>
      <p:sp>
        <p:nvSpPr>
          <p:cNvPr id="11" name="TextBox 10"/>
          <p:cNvSpPr txBox="1"/>
          <p:nvPr/>
        </p:nvSpPr>
        <p:spPr>
          <a:xfrm>
            <a:off x="640080" y="301752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4. 結果: 肺塞栓症の見逃し</a:t>
            </a:r>
          </a:p>
        </p:txBody>
      </p:sp>
      <p:sp>
        <p:nvSpPr>
          <p:cNvPr id="12" name="TextBox 11"/>
          <p:cNvSpPr txBox="1"/>
          <p:nvPr/>
        </p:nvSpPr>
        <p:spPr>
          <a:xfrm>
            <a:off x="640080" y="3474720"/>
            <a:ext cx="7863840" cy="274320"/>
          </a:xfrm>
          <a:prstGeom prst="rect">
            <a:avLst/>
          </a:prstGeom>
          <a:noFill/>
        </p:spPr>
        <p:txBody>
          <a:bodyPr wrap="square" lIns="45720" rIns="45720" tIns="27432" bIns="27432">
            <a:spAutoFit/>
          </a:bodyPr>
          <a:lstStyle/>
          <a:p>
            <a:pPr algn="l">
              <a:defRPr sz="1100" b="1">
                <a:solidFill>
                  <a:srgbClr val="E89B3B"/>
                </a:solidFill>
                <a:latin typeface="Calibri"/>
              </a:defRPr>
            </a:pPr>
            <a:r>
              <a:t>エラーの構造: 既往歴がアンカーとなり、確認バイアスが強化する複合パターン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2B3E"/>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1800" b="1">
                <a:solidFill>
                  <a:srgbClr val="F5F0E8"/>
                </a:solidFill>
                <a:latin typeface="Calibri"/>
              </a:defRPr>
            </a:pPr>
            <a:r>
              <a:t>アンカリング — 最初の情報に引きずられる</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0" y="91440"/>
            <a:ext cx="36576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[ガニェ事象4: 新しい内容を提示する（続き）]</a:t>
            </a:r>
          </a:p>
        </p:txBody>
      </p:sp>
      <p:sp>
        <p:nvSpPr>
          <p:cNvPr id="5" name="Rectangle 4"/>
          <p:cNvSpPr/>
          <p:nvPr/>
        </p:nvSpPr>
        <p:spPr>
          <a:xfrm>
            <a:off x="457200" y="1097280"/>
            <a:ext cx="8229600" cy="2286000"/>
          </a:xfrm>
          <a:prstGeom prst="rect">
            <a:avLst/>
          </a:prstGeom>
          <a:solidFill>
            <a:srgbClr val="0D2B3E"/>
          </a:solidFill>
          <a:ln w="12700">
            <a:solidFill>
              <a:srgbClr val="E89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7863840" cy="365760"/>
          </a:xfrm>
          <a:prstGeom prst="rect">
            <a:avLst/>
          </a:prstGeom>
          <a:noFill/>
        </p:spPr>
        <p:txBody>
          <a:bodyPr wrap="square" lIns="45720" rIns="45720" tIns="27432" bIns="27432">
            <a:spAutoFit/>
          </a:bodyPr>
          <a:lstStyle/>
          <a:p>
            <a:pPr algn="l">
              <a:defRPr sz="1400" b="1">
                <a:solidFill>
                  <a:srgbClr val="E89B3B"/>
                </a:solidFill>
                <a:latin typeface="Calibri"/>
              </a:defRPr>
            </a:pPr>
            <a:r>
              <a:t>臨床ケース: 紹介状バイアス</a:t>
            </a:r>
          </a:p>
        </p:txBody>
      </p:sp>
      <p:sp>
        <p:nvSpPr>
          <p:cNvPr id="7" name="TextBox 6"/>
          <p:cNvSpPr txBox="1"/>
          <p:nvPr/>
        </p:nvSpPr>
        <p:spPr>
          <a:xfrm>
            <a:off x="640080" y="1554480"/>
            <a:ext cx="7863840" cy="274320"/>
          </a:xfrm>
          <a:prstGeom prst="rect">
            <a:avLst/>
          </a:prstGeom>
          <a:noFill/>
        </p:spPr>
        <p:txBody>
          <a:bodyPr wrap="square" lIns="45720" rIns="45720" tIns="27432" bIns="27432">
            <a:spAutoFit/>
          </a:bodyPr>
          <a:lstStyle/>
          <a:p>
            <a:pPr algn="l">
              <a:defRPr sz="1200" b="0">
                <a:solidFill>
                  <a:srgbClr val="F5F0E8"/>
                </a:solidFill>
                <a:latin typeface="Calibri"/>
              </a:defRPr>
            </a:pPr>
            <a:r>
              <a:t>58歳男性。紹介状に「逆流性食道炎の増悪疑い」と記載。</a:t>
            </a:r>
          </a:p>
        </p:txBody>
      </p:sp>
      <p:sp>
        <p:nvSpPr>
          <p:cNvPr id="8" name="TextBox 7"/>
          <p:cNvSpPr txBox="1"/>
          <p:nvPr/>
        </p:nvSpPr>
        <p:spPr>
          <a:xfrm>
            <a:off x="640080" y="1920240"/>
            <a:ext cx="7863840" cy="365760"/>
          </a:xfrm>
          <a:prstGeom prst="rect">
            <a:avLst/>
          </a:prstGeom>
          <a:noFill/>
        </p:spPr>
        <p:txBody>
          <a:bodyPr wrap="square" lIns="45720" rIns="45720" tIns="27432" bIns="27432">
            <a:spAutoFit/>
          </a:bodyPr>
          <a:lstStyle/>
          <a:p>
            <a:pPr algn="l">
              <a:defRPr sz="1100" b="0">
                <a:solidFill>
                  <a:srgbClr val="F5F0E8"/>
                </a:solidFill>
                <a:latin typeface="Calibri"/>
              </a:defRPr>
            </a:pPr>
            <a:r>
              <a:t>  1. アンカー設定: 紹介状の診断名がSystem 1に即座に取り込まれる</a:t>
            </a:r>
          </a:p>
        </p:txBody>
      </p:sp>
      <p:sp>
        <p:nvSpPr>
          <p:cNvPr id="9" name="TextBox 8"/>
          <p:cNvSpPr txBox="1"/>
          <p:nvPr/>
        </p:nvSpPr>
        <p:spPr>
          <a:xfrm>
            <a:off x="640080" y="2331720"/>
            <a:ext cx="7863840" cy="365760"/>
          </a:xfrm>
          <a:prstGeom prst="rect">
            <a:avLst/>
          </a:prstGeom>
          <a:noFill/>
        </p:spPr>
        <p:txBody>
          <a:bodyPr wrap="square" lIns="45720" rIns="45720" tIns="27432" bIns="27432">
            <a:spAutoFit/>
          </a:bodyPr>
          <a:lstStyle/>
          <a:p>
            <a:pPr algn="l">
              <a:defRPr sz="1100" b="0">
                <a:solidFill>
                  <a:srgbClr val="F5F0E8"/>
                </a:solidFill>
                <a:latin typeface="Calibri"/>
              </a:defRPr>
            </a:pPr>
            <a:r>
              <a:t>  2. 不十分な調整: 労作時増悪、冷汗 — GERDに一致しない点に注意が向きにくい</a:t>
            </a:r>
          </a:p>
        </p:txBody>
      </p:sp>
      <p:sp>
        <p:nvSpPr>
          <p:cNvPr id="10" name="TextBox 9"/>
          <p:cNvSpPr txBox="1"/>
          <p:nvPr/>
        </p:nvSpPr>
        <p:spPr>
          <a:xfrm>
            <a:off x="640080" y="2743200"/>
            <a:ext cx="7863840" cy="365760"/>
          </a:xfrm>
          <a:prstGeom prst="rect">
            <a:avLst/>
          </a:prstGeom>
          <a:noFill/>
        </p:spPr>
        <p:txBody>
          <a:bodyPr wrap="square" lIns="45720" rIns="45720" tIns="27432" bIns="27432">
            <a:spAutoFit/>
          </a:bodyPr>
          <a:lstStyle/>
          <a:p>
            <a:pPr algn="l">
              <a:defRPr sz="1100" b="0">
                <a:solidFill>
                  <a:srgbClr val="F5F0E8"/>
                </a:solidFill>
                <a:latin typeface="Calibri"/>
              </a:defRPr>
            </a:pPr>
            <a:r>
              <a:t>  3. 結果: 急性冠症候群の診断遅延</a:t>
            </a:r>
          </a:p>
        </p:txBody>
      </p:sp>
      <p:sp>
        <p:nvSpPr>
          <p:cNvPr id="11" name="TextBox 10"/>
          <p:cNvSpPr txBox="1"/>
          <p:nvPr/>
        </p:nvSpPr>
        <p:spPr>
          <a:xfrm>
            <a:off x="640080" y="3200400"/>
            <a:ext cx="7863840" cy="274320"/>
          </a:xfrm>
          <a:prstGeom prst="rect">
            <a:avLst/>
          </a:prstGeom>
          <a:noFill/>
        </p:spPr>
        <p:txBody>
          <a:bodyPr wrap="square" lIns="45720" rIns="45720" tIns="27432" bIns="27432">
            <a:spAutoFit/>
          </a:bodyPr>
          <a:lstStyle/>
          <a:p>
            <a:pPr algn="l">
              <a:defRPr sz="1100" b="1">
                <a:solidFill>
                  <a:srgbClr val="E89B3B"/>
                </a:solidFill>
                <a:latin typeface="Calibri"/>
              </a:defRPr>
            </a:pPr>
            <a:r>
              <a:t>「権威ある情報源」がアンカーの強度を増幅</a:t>
            </a:r>
          </a:p>
        </p:txBody>
      </p:sp>
      <p:sp>
        <p:nvSpPr>
          <p:cNvPr id="12" name="TextBox 11"/>
          <p:cNvSpPr txBox="1"/>
          <p:nvPr/>
        </p:nvSpPr>
        <p:spPr>
          <a:xfrm>
            <a:off x="640080" y="3840480"/>
            <a:ext cx="7863840" cy="274320"/>
          </a:xfrm>
          <a:prstGeom prst="rect">
            <a:avLst/>
          </a:prstGeom>
          <a:noFill/>
        </p:spPr>
        <p:txBody>
          <a:bodyPr wrap="square" lIns="45720" rIns="45720" tIns="27432" bIns="27432">
            <a:spAutoFit/>
          </a:bodyPr>
          <a:lstStyle/>
          <a:p>
            <a:pPr algn="l">
              <a:defRPr sz="1000" b="0">
                <a:solidFill>
                  <a:srgbClr val="7A8A9A"/>
                </a:solidFill>
                <a:latin typeface="Calibri"/>
              </a:defRPr>
            </a:pPr>
            <a:r>
              <a:t>年間約27,000件の入院と150,000件以上の患者被害が診断エラーに起因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1800" b="1">
                <a:solidFill>
                  <a:srgbClr val="1A1A2E"/>
                </a:solidFill>
                <a:latin typeface="Calibri"/>
              </a:defRPr>
            </a:pPr>
            <a:r>
              <a:t>利用可能性ヒューリスティック — 思い出しやすい＝よくある？</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0" y="91440"/>
            <a:ext cx="36576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[ガニェ事象4: 新しい内容を提示する（続き）]</a:t>
            </a:r>
          </a:p>
        </p:txBody>
      </p:sp>
      <p:sp>
        <p:nvSpPr>
          <p:cNvPr id="5" name="Rectangle 4"/>
          <p:cNvSpPr/>
          <p:nvPr/>
        </p:nvSpPr>
        <p:spPr>
          <a:xfrm>
            <a:off x="457200" y="1097280"/>
            <a:ext cx="8229600" cy="2286000"/>
          </a:xfrm>
          <a:prstGeom prst="rect">
            <a:avLst/>
          </a:prstGeom>
          <a:solidFill>
            <a:srgbClr val="E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7863840" cy="365760"/>
          </a:xfrm>
          <a:prstGeom prst="rect">
            <a:avLst/>
          </a:prstGeom>
          <a:noFill/>
        </p:spPr>
        <p:txBody>
          <a:bodyPr wrap="square" lIns="45720" rIns="45720" tIns="27432" bIns="27432">
            <a:spAutoFit/>
          </a:bodyPr>
          <a:lstStyle/>
          <a:p>
            <a:pPr algn="l">
              <a:defRPr sz="1400" b="1">
                <a:solidFill>
                  <a:srgbClr val="E89B3B"/>
                </a:solidFill>
                <a:latin typeface="Calibri"/>
              </a:defRPr>
            </a:pPr>
            <a:r>
              <a:t>臨床ケース: 直近の経験が判断を歪める</a:t>
            </a:r>
          </a:p>
        </p:txBody>
      </p:sp>
      <p:sp>
        <p:nvSpPr>
          <p:cNvPr id="7" name="TextBox 6"/>
          <p:cNvSpPr txBox="1"/>
          <p:nvPr/>
        </p:nvSpPr>
        <p:spPr>
          <a:xfrm>
            <a:off x="640080" y="1554480"/>
            <a:ext cx="7863840" cy="274320"/>
          </a:xfrm>
          <a:prstGeom prst="rect">
            <a:avLst/>
          </a:prstGeom>
          <a:noFill/>
        </p:spPr>
        <p:txBody>
          <a:bodyPr wrap="square" lIns="45720" rIns="45720" tIns="27432" bIns="27432">
            <a:spAutoFit/>
          </a:bodyPr>
          <a:lstStyle/>
          <a:p>
            <a:pPr algn="l">
              <a:defRPr sz="1200" b="0">
                <a:solidFill>
                  <a:srgbClr val="1A1A2E"/>
                </a:solidFill>
                <a:latin typeface="Calibri"/>
              </a:defRPr>
            </a:pPr>
            <a:r>
              <a:t>先週、肺炎を見逃して急変させた研修医が翌週の外来で——</a:t>
            </a:r>
          </a:p>
        </p:txBody>
      </p:sp>
      <p:sp>
        <p:nvSpPr>
          <p:cNvPr id="8" name="TextBox 7"/>
          <p:cNvSpPr txBox="1"/>
          <p:nvPr/>
        </p:nvSpPr>
        <p:spPr>
          <a:xfrm>
            <a:off x="640080" y="192024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1. 利用可能性の増大: 「肺炎を見逃した」記憶が鮮烈に残る</a:t>
            </a:r>
          </a:p>
        </p:txBody>
      </p:sp>
      <p:sp>
        <p:nvSpPr>
          <p:cNvPr id="9" name="TextBox 8"/>
          <p:cNvSpPr txBox="1"/>
          <p:nvPr/>
        </p:nvSpPr>
        <p:spPr>
          <a:xfrm>
            <a:off x="640080" y="228600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2. 確率推定の歪み: 咳嗽・発熱の患者で肺炎の事前確率を過大評価</a:t>
            </a:r>
          </a:p>
        </p:txBody>
      </p:sp>
      <p:sp>
        <p:nvSpPr>
          <p:cNvPr id="10" name="TextBox 9"/>
          <p:cNvSpPr txBox="1"/>
          <p:nvPr/>
        </p:nvSpPr>
        <p:spPr>
          <a:xfrm>
            <a:off x="640080" y="265176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3. 過剰検査: 臨床的に不要なCTオーダーの増加</a:t>
            </a:r>
          </a:p>
        </p:txBody>
      </p:sp>
      <p:sp>
        <p:nvSpPr>
          <p:cNvPr id="11" name="TextBox 10"/>
          <p:cNvSpPr txBox="1"/>
          <p:nvPr/>
        </p:nvSpPr>
        <p:spPr>
          <a:xfrm>
            <a:off x="640080" y="3017520"/>
            <a:ext cx="7863840" cy="365760"/>
          </a:xfrm>
          <a:prstGeom prst="rect">
            <a:avLst/>
          </a:prstGeom>
          <a:noFill/>
        </p:spPr>
        <p:txBody>
          <a:bodyPr wrap="square" lIns="45720" rIns="45720" tIns="27432" bIns="27432">
            <a:spAutoFit/>
          </a:bodyPr>
          <a:lstStyle/>
          <a:p>
            <a:pPr algn="l">
              <a:defRPr sz="1100" b="0">
                <a:solidFill>
                  <a:srgbClr val="1A1A2E"/>
                </a:solidFill>
                <a:latin typeface="Calibri"/>
              </a:defRPr>
            </a:pPr>
            <a:r>
              <a:t>  4. 逆方向のリスク: 肺炎に注意が集中し、心不全や喘息発作を見落とす</a:t>
            </a:r>
          </a:p>
        </p:txBody>
      </p:sp>
      <p:sp>
        <p:nvSpPr>
          <p:cNvPr id="12" name="TextBox 11"/>
          <p:cNvSpPr txBox="1"/>
          <p:nvPr/>
        </p:nvSpPr>
        <p:spPr>
          <a:xfrm>
            <a:off x="640080" y="3566160"/>
            <a:ext cx="7863840" cy="274320"/>
          </a:xfrm>
          <a:prstGeom prst="rect">
            <a:avLst/>
          </a:prstGeom>
          <a:noFill/>
        </p:spPr>
        <p:txBody>
          <a:bodyPr wrap="square" lIns="45720" rIns="45720" tIns="27432" bIns="27432">
            <a:spAutoFit/>
          </a:bodyPr>
          <a:lstStyle/>
          <a:p>
            <a:pPr algn="l">
              <a:defRPr sz="1000" b="0">
                <a:solidFill>
                  <a:srgbClr val="7A8A9A"/>
                </a:solidFill>
                <a:latin typeface="Calibri"/>
              </a:defRPr>
            </a:pPr>
            <a:r>
              <a:t>1,015名調査: 利用可能性ヒューリスティックが診断推論に系統的影響を実証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2B3E"/>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1800" b="1">
                <a:solidFill>
                  <a:srgbClr val="F5F0E8"/>
                </a:solidFill>
                <a:latin typeface="Calibri"/>
              </a:defRPr>
            </a:pPr>
            <a:r>
              <a:t>過信 — 自分の判断を過大評価する</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0" y="91440"/>
            <a:ext cx="36576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[ガニェ事象4: 新しい内容を提示する（続き）]</a:t>
            </a:r>
          </a:p>
        </p:txBody>
      </p:sp>
      <p:sp>
        <p:nvSpPr>
          <p:cNvPr id="5" name="Rectangle 4"/>
          <p:cNvSpPr/>
          <p:nvPr/>
        </p:nvSpPr>
        <p:spPr>
          <a:xfrm>
            <a:off x="457200" y="1097280"/>
            <a:ext cx="2743200" cy="1188720"/>
          </a:xfrm>
          <a:prstGeom prst="rect">
            <a:avLst/>
          </a:prstGeom>
          <a:solidFill>
            <a:srgbClr val="0D2B3E"/>
          </a:solidFill>
          <a:ln w="12700">
            <a:solidFill>
              <a:srgbClr val="E89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2560320" cy="365760"/>
          </a:xfrm>
          <a:prstGeom prst="rect">
            <a:avLst/>
          </a:prstGeom>
          <a:noFill/>
        </p:spPr>
        <p:txBody>
          <a:bodyPr wrap="square" lIns="45720" rIns="45720" tIns="27432" bIns="27432">
            <a:spAutoFit/>
          </a:bodyPr>
          <a:lstStyle/>
          <a:p>
            <a:pPr algn="l">
              <a:defRPr sz="1400" b="1">
                <a:solidFill>
                  <a:srgbClr val="E89B3B"/>
                </a:solidFill>
                <a:latin typeface="Calibri"/>
              </a:defRPr>
            </a:pPr>
            <a:r>
              <a:t>過精度</a:t>
            </a:r>
          </a:p>
        </p:txBody>
      </p:sp>
      <p:sp>
        <p:nvSpPr>
          <p:cNvPr id="7" name="TextBox 6"/>
          <p:cNvSpPr txBox="1"/>
          <p:nvPr/>
        </p:nvSpPr>
        <p:spPr>
          <a:xfrm>
            <a:off x="548640" y="1554480"/>
            <a:ext cx="2560320" cy="640080"/>
          </a:xfrm>
          <a:prstGeom prst="rect">
            <a:avLst/>
          </a:prstGeom>
          <a:noFill/>
        </p:spPr>
        <p:txBody>
          <a:bodyPr wrap="square" lIns="45720" rIns="45720" tIns="27432" bIns="27432">
            <a:spAutoFit/>
          </a:bodyPr>
          <a:lstStyle/>
          <a:p>
            <a:pPr algn="l">
              <a:defRPr sz="1100" b="0">
                <a:solidFill>
                  <a:srgbClr val="F5F0E8"/>
                </a:solidFill>
                <a:latin typeface="Calibri"/>
              </a:defRPr>
            </a:pPr>
            <a:r>
              <a:t>信頼区間が狭すぎる</a:t>
            </a:r>
            <a:br/>
            <a:r>
              <a:t>「90%確実」が実際は60%</a:t>
            </a:r>
          </a:p>
        </p:txBody>
      </p:sp>
      <p:sp>
        <p:nvSpPr>
          <p:cNvPr id="8" name="Rectangle 7"/>
          <p:cNvSpPr/>
          <p:nvPr/>
        </p:nvSpPr>
        <p:spPr>
          <a:xfrm>
            <a:off x="3383280" y="1097280"/>
            <a:ext cx="2743200" cy="1188720"/>
          </a:xfrm>
          <a:prstGeom prst="rect">
            <a:avLst/>
          </a:prstGeom>
          <a:solidFill>
            <a:srgbClr val="0D2B3E"/>
          </a:solidFill>
          <a:ln w="12700">
            <a:solidFill>
              <a:srgbClr val="E89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188720"/>
            <a:ext cx="2560320" cy="365760"/>
          </a:xfrm>
          <a:prstGeom prst="rect">
            <a:avLst/>
          </a:prstGeom>
          <a:noFill/>
        </p:spPr>
        <p:txBody>
          <a:bodyPr wrap="square" lIns="45720" rIns="45720" tIns="27432" bIns="27432">
            <a:spAutoFit/>
          </a:bodyPr>
          <a:lstStyle/>
          <a:p>
            <a:pPr algn="l">
              <a:defRPr sz="1400" b="1">
                <a:solidFill>
                  <a:srgbClr val="E89B3B"/>
                </a:solidFill>
                <a:latin typeface="Calibri"/>
              </a:defRPr>
            </a:pPr>
            <a:r>
              <a:t>過大評価</a:t>
            </a:r>
          </a:p>
        </p:txBody>
      </p:sp>
      <p:sp>
        <p:nvSpPr>
          <p:cNvPr id="10" name="TextBox 9"/>
          <p:cNvSpPr txBox="1"/>
          <p:nvPr/>
        </p:nvSpPr>
        <p:spPr>
          <a:xfrm>
            <a:off x="3474720" y="1554480"/>
            <a:ext cx="2560320" cy="640080"/>
          </a:xfrm>
          <a:prstGeom prst="rect">
            <a:avLst/>
          </a:prstGeom>
          <a:noFill/>
        </p:spPr>
        <p:txBody>
          <a:bodyPr wrap="square" lIns="45720" rIns="45720" tIns="27432" bIns="27432">
            <a:spAutoFit/>
          </a:bodyPr>
          <a:lstStyle/>
          <a:p>
            <a:pPr algn="l">
              <a:defRPr sz="1100" b="0">
                <a:solidFill>
                  <a:srgbClr val="F5F0E8"/>
                </a:solidFill>
                <a:latin typeface="Calibri"/>
              </a:defRPr>
            </a:pPr>
            <a:r>
              <a:t>自分の能力を</a:t>
            </a:r>
            <a:br/>
            <a:r>
              <a:t>実際以上に見積もる</a:t>
            </a:r>
          </a:p>
        </p:txBody>
      </p:sp>
      <p:sp>
        <p:nvSpPr>
          <p:cNvPr id="11" name="Rectangle 10"/>
          <p:cNvSpPr/>
          <p:nvPr/>
        </p:nvSpPr>
        <p:spPr>
          <a:xfrm>
            <a:off x="6309360" y="1097280"/>
            <a:ext cx="2743200" cy="1188720"/>
          </a:xfrm>
          <a:prstGeom prst="rect">
            <a:avLst/>
          </a:prstGeom>
          <a:solidFill>
            <a:srgbClr val="0D2B3E"/>
          </a:solidFill>
          <a:ln w="12700">
            <a:solidFill>
              <a:srgbClr val="E89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188720"/>
            <a:ext cx="2560320" cy="365760"/>
          </a:xfrm>
          <a:prstGeom prst="rect">
            <a:avLst/>
          </a:prstGeom>
          <a:noFill/>
        </p:spPr>
        <p:txBody>
          <a:bodyPr wrap="square" lIns="45720" rIns="45720" tIns="27432" bIns="27432">
            <a:spAutoFit/>
          </a:bodyPr>
          <a:lstStyle/>
          <a:p>
            <a:pPr algn="l">
              <a:defRPr sz="1400" b="1">
                <a:solidFill>
                  <a:srgbClr val="E89B3B"/>
                </a:solidFill>
                <a:latin typeface="Calibri"/>
              </a:defRPr>
            </a:pPr>
            <a:r>
              <a:t>過配置</a:t>
            </a:r>
          </a:p>
        </p:txBody>
      </p:sp>
      <p:sp>
        <p:nvSpPr>
          <p:cNvPr id="13" name="TextBox 12"/>
          <p:cNvSpPr txBox="1"/>
          <p:nvPr/>
        </p:nvSpPr>
        <p:spPr>
          <a:xfrm>
            <a:off x="6400800" y="1554480"/>
            <a:ext cx="2560320" cy="640080"/>
          </a:xfrm>
          <a:prstGeom prst="rect">
            <a:avLst/>
          </a:prstGeom>
          <a:noFill/>
        </p:spPr>
        <p:txBody>
          <a:bodyPr wrap="square" lIns="45720" rIns="45720" tIns="27432" bIns="27432">
            <a:spAutoFit/>
          </a:bodyPr>
          <a:lstStyle/>
          <a:p>
            <a:pPr algn="l">
              <a:defRPr sz="1100" b="0">
                <a:solidFill>
                  <a:srgbClr val="F5F0E8"/>
                </a:solidFill>
                <a:latin typeface="Calibri"/>
              </a:defRPr>
            </a:pPr>
            <a:r>
              <a:t>自分が平均以上</a:t>
            </a:r>
            <a:br/>
            <a:r>
              <a:t>だと信じる</a:t>
            </a:r>
          </a:p>
        </p:txBody>
      </p:sp>
      <p:graphicFrame>
        <p:nvGraphicFramePr>
          <p:cNvPr id="14" name="Table 13"/>
          <p:cNvGraphicFramePr>
            <a:graphicFrameLocks noGrp="1"/>
          </p:cNvGraphicFramePr>
          <p:nvPr/>
        </p:nvGraphicFramePr>
        <p:xfrm>
          <a:off x="457200" y="2560320"/>
          <a:ext cx="8229600" cy="1645920"/>
        </p:xfrm>
        <a:graphic>
          <a:graphicData uri="http://schemas.openxmlformats.org/drawingml/2006/table">
            <a:tbl>
              <a:tblPr firstRow="1" bandRow="1">
                <a:tableStyleId>{5C22544A-7EE6-4342-B048-85BDC9FD1C3A}</a:tableStyleId>
              </a:tblPr>
              <a:tblGrid>
                <a:gridCol w="1828800"/>
                <a:gridCol w="1371600"/>
                <a:gridCol w="1371600"/>
                <a:gridCol w="3657600"/>
              </a:tblGrid>
              <a:tr h="411480">
                <a:tc>
                  <a:txBody>
                    <a:bodyPr/>
                    <a:lstStyle/>
                    <a:p>
                      <a:pPr>
                        <a:defRPr sz="1000" b="1">
                          <a:solidFill>
                            <a:srgbClr val="F5F0E8"/>
                          </a:solidFill>
                          <a:latin typeface="Calibri"/>
                        </a:defRPr>
                      </a:pPr>
                      <a:r>
                        <a:t>時期</a:t>
                      </a:r>
                    </a:p>
                  </a:txBody>
                  <a:tcPr marL="45720" marR="45720" marT="18288" marB="18288">
                    <a:solidFill>
                      <a:srgbClr val="0D2B3E"/>
                    </a:solidFill>
                  </a:tcPr>
                </a:tc>
                <a:tc>
                  <a:txBody>
                    <a:bodyPr/>
                    <a:lstStyle/>
                    <a:p>
                      <a:pPr>
                        <a:defRPr sz="1000" b="1">
                          <a:solidFill>
                            <a:srgbClr val="F5F0E8"/>
                          </a:solidFill>
                          <a:latin typeface="Calibri"/>
                        </a:defRPr>
                      </a:pPr>
                      <a:r>
                        <a:t>自信</a:t>
                      </a:r>
                    </a:p>
                  </a:txBody>
                  <a:tcPr marL="45720" marR="45720" marT="18288" marB="18288">
                    <a:solidFill>
                      <a:srgbClr val="0D2B3E"/>
                    </a:solidFill>
                  </a:tcPr>
                </a:tc>
                <a:tc>
                  <a:txBody>
                    <a:bodyPr/>
                    <a:lstStyle/>
                    <a:p>
                      <a:pPr>
                        <a:defRPr sz="1000" b="1">
                          <a:solidFill>
                            <a:srgbClr val="F5F0E8"/>
                          </a:solidFill>
                          <a:latin typeface="Calibri"/>
                        </a:defRPr>
                      </a:pPr>
                      <a:r>
                        <a:t>正確性</a:t>
                      </a:r>
                    </a:p>
                  </a:txBody>
                  <a:tcPr marL="45720" marR="45720" marT="18288" marB="18288">
                    <a:solidFill>
                      <a:srgbClr val="0D2B3E"/>
                    </a:solidFill>
                  </a:tcPr>
                </a:tc>
                <a:tc>
                  <a:txBody>
                    <a:bodyPr/>
                    <a:lstStyle/>
                    <a:p>
                      <a:pPr>
                        <a:defRPr sz="1000" b="1">
                          <a:solidFill>
                            <a:srgbClr val="F5F0E8"/>
                          </a:solidFill>
                          <a:latin typeface="Calibri"/>
                        </a:defRPr>
                      </a:pPr>
                      <a:r>
                        <a:t>状態</a:t>
                      </a:r>
                    </a:p>
                  </a:txBody>
                  <a:tcPr marL="45720" marR="45720" marT="18288" marB="18288">
                    <a:solidFill>
                      <a:srgbClr val="0D2B3E"/>
                    </a:solidFill>
                  </a:tcPr>
                </a:tc>
              </a:tr>
              <a:tr h="411480">
                <a:tc>
                  <a:txBody>
                    <a:bodyPr/>
                    <a:lstStyle/>
                    <a:p>
                      <a:pPr>
                        <a:defRPr sz="1000">
                          <a:solidFill>
                            <a:srgbClr val="1A1A2E"/>
                          </a:solidFill>
                          <a:latin typeface="Calibri"/>
                        </a:defRPr>
                      </a:pPr>
                      <a:r>
                        <a:t>研修初期</a:t>
                      </a:r>
                    </a:p>
                  </a:txBody>
                  <a:tcPr marL="45720" marR="45720" marT="18288" marB="18288">
                    <a:solidFill>
                      <a:srgbClr val="E8F0F0"/>
                    </a:solidFill>
                  </a:tcPr>
                </a:tc>
                <a:tc>
                  <a:txBody>
                    <a:bodyPr/>
                    <a:lstStyle/>
                    <a:p>
                      <a:pPr>
                        <a:defRPr sz="1000">
                          <a:solidFill>
                            <a:srgbClr val="1A1A2E"/>
                          </a:solidFill>
                          <a:latin typeface="Calibri"/>
                        </a:defRPr>
                      </a:pPr>
                      <a:r>
                        <a:t>高い</a:t>
                      </a:r>
                    </a:p>
                  </a:txBody>
                  <a:tcPr marL="45720" marR="45720" marT="18288" marB="18288">
                    <a:solidFill>
                      <a:srgbClr val="E8F0F0"/>
                    </a:solidFill>
                  </a:tcPr>
                </a:tc>
                <a:tc>
                  <a:txBody>
                    <a:bodyPr/>
                    <a:lstStyle/>
                    <a:p>
                      <a:pPr>
                        <a:defRPr sz="1000">
                          <a:solidFill>
                            <a:srgbClr val="1A1A2E"/>
                          </a:solidFill>
                          <a:latin typeface="Calibri"/>
                        </a:defRPr>
                      </a:pPr>
                      <a:r>
                        <a:t>低い</a:t>
                      </a:r>
                    </a:p>
                  </a:txBody>
                  <a:tcPr marL="45720" marR="45720" marT="18288" marB="18288">
                    <a:solidFill>
                      <a:srgbClr val="E8F0F0"/>
                    </a:solidFill>
                  </a:tcPr>
                </a:tc>
                <a:tc>
                  <a:txBody>
                    <a:bodyPr/>
                    <a:lstStyle/>
                    <a:p>
                      <a:pPr>
                        <a:defRPr sz="1000">
                          <a:solidFill>
                            <a:srgbClr val="1A1A2E"/>
                          </a:solidFill>
                          <a:latin typeface="Calibri"/>
                        </a:defRPr>
                      </a:pPr>
                      <a:r>
                        <a:t>「知らないことを知らない」</a:t>
                      </a:r>
                    </a:p>
                  </a:txBody>
                  <a:tcPr marL="45720" marR="45720" marT="18288" marB="18288">
                    <a:solidFill>
                      <a:srgbClr val="E8F0F0"/>
                    </a:solidFill>
                  </a:tcPr>
                </a:tc>
              </a:tr>
              <a:tr h="411480">
                <a:tc>
                  <a:txBody>
                    <a:bodyPr/>
                    <a:lstStyle/>
                    <a:p>
                      <a:pPr>
                        <a:defRPr sz="1000">
                          <a:solidFill>
                            <a:srgbClr val="1A1A2E"/>
                          </a:solidFill>
                          <a:latin typeface="Calibri"/>
                        </a:defRPr>
                      </a:pPr>
                      <a:r>
                        <a:t>中間期</a:t>
                      </a:r>
                    </a:p>
                  </a:txBody>
                  <a:tcPr marL="45720" marR="45720" marT="18288" marB="18288">
                    <a:solidFill>
                      <a:srgbClr val="F5F0E8"/>
                    </a:solidFill>
                  </a:tcPr>
                </a:tc>
                <a:tc>
                  <a:txBody>
                    <a:bodyPr/>
                    <a:lstStyle/>
                    <a:p>
                      <a:pPr>
                        <a:defRPr sz="1000">
                          <a:solidFill>
                            <a:srgbClr val="1A1A2E"/>
                          </a:solidFill>
                          <a:latin typeface="Calibri"/>
                        </a:defRPr>
                      </a:pPr>
                      <a:r>
                        <a:t>急落</a:t>
                      </a:r>
                    </a:p>
                  </a:txBody>
                  <a:tcPr marL="45720" marR="45720" marT="18288" marB="18288">
                    <a:solidFill>
                      <a:srgbClr val="F5F0E8"/>
                    </a:solidFill>
                  </a:tcPr>
                </a:tc>
                <a:tc>
                  <a:txBody>
                    <a:bodyPr/>
                    <a:lstStyle/>
                    <a:p>
                      <a:pPr>
                        <a:defRPr sz="1000">
                          <a:solidFill>
                            <a:srgbClr val="1A1A2E"/>
                          </a:solidFill>
                          <a:latin typeface="Calibri"/>
                        </a:defRPr>
                      </a:pPr>
                      <a:r>
                        <a:t>上昇中</a:t>
                      </a:r>
                    </a:p>
                  </a:txBody>
                  <a:tcPr marL="45720" marR="45720" marT="18288" marB="18288">
                    <a:solidFill>
                      <a:srgbClr val="F5F0E8"/>
                    </a:solidFill>
                  </a:tcPr>
                </a:tc>
                <a:tc>
                  <a:txBody>
                    <a:bodyPr/>
                    <a:lstStyle/>
                    <a:p>
                      <a:pPr>
                        <a:defRPr sz="1000">
                          <a:solidFill>
                            <a:srgbClr val="1A1A2E"/>
                          </a:solidFill>
                          <a:latin typeface="Calibri"/>
                        </a:defRPr>
                      </a:pPr>
                      <a:r>
                        <a:t>複雑さに気づく</a:t>
                      </a:r>
                    </a:p>
                  </a:txBody>
                  <a:tcPr marL="45720" marR="45720" marT="18288" marB="18288">
                    <a:solidFill>
                      <a:srgbClr val="F5F0E8"/>
                    </a:solidFill>
                  </a:tcPr>
                </a:tc>
              </a:tr>
              <a:tr h="411480">
                <a:tc>
                  <a:txBody>
                    <a:bodyPr/>
                    <a:lstStyle/>
                    <a:p>
                      <a:pPr>
                        <a:defRPr sz="1000">
                          <a:solidFill>
                            <a:srgbClr val="1A1A2E"/>
                          </a:solidFill>
                          <a:latin typeface="Calibri"/>
                        </a:defRPr>
                      </a:pPr>
                      <a:r>
                        <a:t>熟達期</a:t>
                      </a:r>
                    </a:p>
                  </a:txBody>
                  <a:tcPr marL="45720" marR="45720" marT="18288" marB="18288">
                    <a:solidFill>
                      <a:srgbClr val="E8F0F0"/>
                    </a:solidFill>
                  </a:tcPr>
                </a:tc>
                <a:tc>
                  <a:txBody>
                    <a:bodyPr/>
                    <a:lstStyle/>
                    <a:p>
                      <a:pPr>
                        <a:defRPr sz="1000">
                          <a:solidFill>
                            <a:srgbClr val="1A1A2E"/>
                          </a:solidFill>
                          <a:latin typeface="Calibri"/>
                        </a:defRPr>
                      </a:pPr>
                      <a:r>
                        <a:t>適切</a:t>
                      </a:r>
                    </a:p>
                  </a:txBody>
                  <a:tcPr marL="45720" marR="45720" marT="18288" marB="18288">
                    <a:solidFill>
                      <a:srgbClr val="E8F0F0"/>
                    </a:solidFill>
                  </a:tcPr>
                </a:tc>
                <a:tc>
                  <a:txBody>
                    <a:bodyPr/>
                    <a:lstStyle/>
                    <a:p>
                      <a:pPr>
                        <a:defRPr sz="1000">
                          <a:solidFill>
                            <a:srgbClr val="1A1A2E"/>
                          </a:solidFill>
                          <a:latin typeface="Calibri"/>
                        </a:defRPr>
                      </a:pPr>
                      <a:r>
                        <a:t>高い</a:t>
                      </a:r>
                    </a:p>
                  </a:txBody>
                  <a:tcPr marL="45720" marR="45720" marT="18288" marB="18288">
                    <a:solidFill>
                      <a:srgbClr val="E8F0F0"/>
                    </a:solidFill>
                  </a:tcPr>
                </a:tc>
                <a:tc>
                  <a:txBody>
                    <a:bodyPr/>
                    <a:lstStyle/>
                    <a:p>
                      <a:pPr>
                        <a:defRPr sz="1000">
                          <a:solidFill>
                            <a:srgbClr val="1A1A2E"/>
                          </a:solidFill>
                          <a:latin typeface="Calibri"/>
                        </a:defRPr>
                      </a:pPr>
                      <a:r>
                        <a:t>自信と謙虚さのバランス</a:t>
                      </a:r>
                    </a:p>
                  </a:txBody>
                  <a:tcPr marL="45720" marR="45720" marT="18288" marB="18288">
                    <a:solidFill>
                      <a:srgbClr val="E8F0F0"/>
                    </a:solidFill>
                  </a:tcPr>
                </a:tc>
              </a:tr>
            </a:tbl>
          </a:graphicData>
        </a:graphic>
      </p:graphicFrame>
      <p:sp>
        <p:nvSpPr>
          <p:cNvPr id="15" name="TextBox 14"/>
          <p:cNvSpPr txBox="1"/>
          <p:nvPr/>
        </p:nvSpPr>
        <p:spPr>
          <a:xfrm>
            <a:off x="457200" y="4114800"/>
            <a:ext cx="8229600" cy="274320"/>
          </a:xfrm>
          <a:prstGeom prst="rect">
            <a:avLst/>
          </a:prstGeom>
          <a:noFill/>
        </p:spPr>
        <p:txBody>
          <a:bodyPr wrap="square" lIns="45720" rIns="45720" tIns="27432" bIns="27432">
            <a:spAutoFit/>
          </a:bodyPr>
          <a:lstStyle/>
          <a:p>
            <a:pPr algn="l">
              <a:defRPr sz="1100" b="1">
                <a:solidFill>
                  <a:srgbClr val="E89B3B"/>
                </a:solidFill>
                <a:latin typeface="Calibri"/>
              </a:defRPr>
            </a:pPr>
            <a:r>
              <a:t>逆転現象: レジデントは指導医より自信が高いのに正確性は低い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1800" b="1">
                <a:solidFill>
                  <a:srgbClr val="1A1A2E"/>
                </a:solidFill>
                <a:latin typeface="Calibri"/>
              </a:defRPr>
            </a:pPr>
            <a:r>
              <a:t>除偏介入の実践 — あなたの脳を守る3つの武器</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0" y="91440"/>
            <a:ext cx="36576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[ガニェ事象5-6: 学習の指針＋練習の機会]</a:t>
            </a:r>
          </a:p>
        </p:txBody>
      </p:sp>
      <p:sp>
        <p:nvSpPr>
          <p:cNvPr id="5" name="Rectangle 4"/>
          <p:cNvSpPr/>
          <p:nvPr/>
        </p:nvSpPr>
        <p:spPr>
          <a:xfrm>
            <a:off x="457200" y="1005840"/>
            <a:ext cx="2743200" cy="100584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2560320" cy="640080"/>
          </a:xfrm>
          <a:prstGeom prst="rect">
            <a:avLst/>
          </a:prstGeom>
          <a:noFill/>
        </p:spPr>
        <p:txBody>
          <a:bodyPr wrap="square" lIns="45720" rIns="45720" tIns="27432" bIns="27432">
            <a:spAutoFit/>
          </a:bodyPr>
          <a:lstStyle/>
          <a:p>
            <a:pPr algn="ctr">
              <a:defRPr sz="1300" b="1">
                <a:solidFill>
                  <a:srgbClr val="0D2B3E"/>
                </a:solidFill>
                <a:latin typeface="Calibri"/>
              </a:defRPr>
            </a:pPr>
            <a:r>
              <a:t>1. 診断タイムアウト</a:t>
            </a:r>
          </a:p>
        </p:txBody>
      </p:sp>
      <p:sp>
        <p:nvSpPr>
          <p:cNvPr id="7" name="TextBox 6"/>
          <p:cNvSpPr txBox="1"/>
          <p:nvPr/>
        </p:nvSpPr>
        <p:spPr>
          <a:xfrm>
            <a:off x="3383280" y="1051560"/>
            <a:ext cx="5486400" cy="914400"/>
          </a:xfrm>
          <a:prstGeom prst="rect">
            <a:avLst/>
          </a:prstGeom>
          <a:noFill/>
        </p:spPr>
        <p:txBody>
          <a:bodyPr wrap="square" lIns="45720" rIns="45720" tIns="27432" bIns="27432">
            <a:spAutoFit/>
          </a:bodyPr>
          <a:lstStyle/>
          <a:p>
            <a:pPr algn="l">
              <a:defRPr sz="1100" b="0">
                <a:solidFill>
                  <a:srgbClr val="1A1A2E"/>
                </a:solidFill>
                <a:latin typeface="Calibri"/>
              </a:defRPr>
            </a:pPr>
            <a:r>
              <a:t>意図的に立ち止まり</a:t>
            </a:r>
            <a:br/>
            <a:r>
              <a:t>「他に何があり得るか？」と自問</a:t>
            </a:r>
            <a:br/>
            <a:r>
              <a:t>Croskerry (2003) 認知的強制戦略</a:t>
            </a:r>
          </a:p>
        </p:txBody>
      </p:sp>
      <p:sp>
        <p:nvSpPr>
          <p:cNvPr id="8" name="Rectangle 7"/>
          <p:cNvSpPr/>
          <p:nvPr/>
        </p:nvSpPr>
        <p:spPr>
          <a:xfrm>
            <a:off x="457200" y="2194560"/>
            <a:ext cx="2743200" cy="100584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77440"/>
            <a:ext cx="2560320" cy="640080"/>
          </a:xfrm>
          <a:prstGeom prst="rect">
            <a:avLst/>
          </a:prstGeom>
          <a:noFill/>
        </p:spPr>
        <p:txBody>
          <a:bodyPr wrap="square" lIns="45720" rIns="45720" tIns="27432" bIns="27432">
            <a:spAutoFit/>
          </a:bodyPr>
          <a:lstStyle/>
          <a:p>
            <a:pPr algn="ctr">
              <a:defRPr sz="1300" b="1">
                <a:solidFill>
                  <a:srgbClr val="0D2B3E"/>
                </a:solidFill>
                <a:latin typeface="Calibri"/>
              </a:defRPr>
            </a:pPr>
            <a:r>
              <a:t>2. プレモーテム分析</a:t>
            </a:r>
          </a:p>
        </p:txBody>
      </p:sp>
      <p:sp>
        <p:nvSpPr>
          <p:cNvPr id="10" name="TextBox 9"/>
          <p:cNvSpPr txBox="1"/>
          <p:nvPr/>
        </p:nvSpPr>
        <p:spPr>
          <a:xfrm>
            <a:off x="3383280" y="2240280"/>
            <a:ext cx="5486400" cy="914400"/>
          </a:xfrm>
          <a:prstGeom prst="rect">
            <a:avLst/>
          </a:prstGeom>
          <a:noFill/>
        </p:spPr>
        <p:txBody>
          <a:bodyPr wrap="square" lIns="45720" rIns="45720" tIns="27432" bIns="27432">
            <a:spAutoFit/>
          </a:bodyPr>
          <a:lstStyle/>
          <a:p>
            <a:pPr algn="l">
              <a:defRPr sz="1100" b="0">
                <a:solidFill>
                  <a:srgbClr val="1A1A2E"/>
                </a:solidFill>
                <a:latin typeface="Calibri"/>
              </a:defRPr>
            </a:pPr>
            <a:r>
              <a:t>「もしこの診断が間違っていたら</a:t>
            </a:r>
            <a:br/>
            <a:r>
              <a:t>最も可能性の高い理由は？」</a:t>
            </a:r>
            <a:br/>
            <a:r>
              <a:t>Gary Klein提唱</a:t>
            </a:r>
          </a:p>
        </p:txBody>
      </p:sp>
      <p:sp>
        <p:nvSpPr>
          <p:cNvPr id="11" name="Rectangle 10"/>
          <p:cNvSpPr/>
          <p:nvPr/>
        </p:nvSpPr>
        <p:spPr>
          <a:xfrm>
            <a:off x="457200" y="3383280"/>
            <a:ext cx="2743200" cy="100584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566160"/>
            <a:ext cx="2560320" cy="640080"/>
          </a:xfrm>
          <a:prstGeom prst="rect">
            <a:avLst/>
          </a:prstGeom>
          <a:noFill/>
        </p:spPr>
        <p:txBody>
          <a:bodyPr wrap="square" lIns="45720" rIns="45720" tIns="27432" bIns="27432">
            <a:spAutoFit/>
          </a:bodyPr>
          <a:lstStyle/>
          <a:p>
            <a:pPr algn="ctr">
              <a:defRPr sz="1300" b="1">
                <a:solidFill>
                  <a:srgbClr val="0D2B3E"/>
                </a:solidFill>
                <a:latin typeface="Calibri"/>
              </a:defRPr>
            </a:pPr>
            <a:r>
              <a:t>3. 構造化振り返り</a:t>
            </a:r>
          </a:p>
        </p:txBody>
      </p:sp>
      <p:sp>
        <p:nvSpPr>
          <p:cNvPr id="13" name="TextBox 12"/>
          <p:cNvSpPr txBox="1"/>
          <p:nvPr/>
        </p:nvSpPr>
        <p:spPr>
          <a:xfrm>
            <a:off x="3383280" y="3429000"/>
            <a:ext cx="5486400" cy="914400"/>
          </a:xfrm>
          <a:prstGeom prst="rect">
            <a:avLst/>
          </a:prstGeom>
          <a:noFill/>
        </p:spPr>
        <p:txBody>
          <a:bodyPr wrap="square" lIns="45720" rIns="45720" tIns="27432" bIns="27432">
            <a:spAutoFit/>
          </a:bodyPr>
          <a:lstStyle/>
          <a:p>
            <a:pPr algn="l">
              <a:defRPr sz="1100" b="0">
                <a:solidFill>
                  <a:srgbClr val="1A1A2E"/>
                </a:solidFill>
                <a:latin typeface="Calibri"/>
              </a:defRPr>
            </a:pPr>
            <a:r>
              <a:t>自分の推論プロセスを検討する</a:t>
            </a:r>
            <a:br/>
            <a:r>
              <a:t>「認知的剖検（Cognitive Autopsy）」</a:t>
            </a:r>
            <a:br/>
            <a:r>
              <a:t>唯一成功が確認された介入</a:t>
            </a:r>
          </a:p>
        </p:txBody>
      </p:sp>
      <p:sp>
        <p:nvSpPr>
          <p:cNvPr id="14" name="TextBox 13"/>
          <p:cNvSpPr txBox="1"/>
          <p:nvPr/>
        </p:nvSpPr>
        <p:spPr>
          <a:xfrm>
            <a:off x="457200" y="4114800"/>
            <a:ext cx="8229600" cy="274320"/>
          </a:xfrm>
          <a:prstGeom prst="rect">
            <a:avLst/>
          </a:prstGeom>
          <a:noFill/>
        </p:spPr>
        <p:txBody>
          <a:bodyPr wrap="square" lIns="45720" rIns="45720" tIns="27432" bIns="27432">
            <a:spAutoFit/>
          </a:bodyPr>
          <a:lstStyle/>
          <a:p>
            <a:pPr algn="l">
              <a:defRPr sz="1000" b="0">
                <a:solidFill>
                  <a:srgbClr val="7A8A9A"/>
                </a:solidFill>
                <a:latin typeface="Calibri"/>
              </a:defRPr>
            </a:pPr>
            <a:r>
              <a:t>テクノロジー介入87.9%成功 vs 認知的戦略50.0% (Ludolph &amp; Schulz 2018)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2B3E"/>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1800" b="1">
                <a:solidFill>
                  <a:srgbClr val="F5F0E8"/>
                </a:solidFill>
                <a:latin typeface="Calibri"/>
              </a:defRPr>
            </a:pPr>
            <a:r>
              <a:t>ペアワーク — 構造化振り返りをやってみよう（5分）</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91440"/>
            <a:ext cx="32004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[ガニェ事象7: フィードバックを提供する]</a:t>
            </a:r>
          </a:p>
        </p:txBody>
      </p:sp>
      <p:sp>
        <p:nvSpPr>
          <p:cNvPr id="5" name="TextBox 4"/>
          <p:cNvSpPr txBox="1"/>
          <p:nvPr/>
        </p:nvSpPr>
        <p:spPr>
          <a:xfrm>
            <a:off x="457200" y="1005840"/>
            <a:ext cx="8229600" cy="365760"/>
          </a:xfrm>
          <a:prstGeom prst="rect">
            <a:avLst/>
          </a:prstGeom>
          <a:noFill/>
        </p:spPr>
        <p:txBody>
          <a:bodyPr wrap="square" lIns="45720" rIns="45720" tIns="27432" bIns="27432">
            <a:spAutoFit/>
          </a:bodyPr>
          <a:lstStyle/>
          <a:p>
            <a:pPr algn="l">
              <a:defRPr sz="1300" b="0">
                <a:solidFill>
                  <a:srgbClr val="F5F0E8"/>
                </a:solidFill>
                <a:latin typeface="Calibri"/>
              </a:defRPr>
            </a:pPr>
            <a:r>
              <a:t>最近の診療で診断に迷った症例を1つ思い出し、以下の4つの問いに答える:</a:t>
            </a:r>
          </a:p>
        </p:txBody>
      </p:sp>
      <p:graphicFrame>
        <p:nvGraphicFramePr>
          <p:cNvPr id="6" name="Table 5"/>
          <p:cNvGraphicFramePr>
            <a:graphicFrameLocks noGrp="1"/>
          </p:cNvGraphicFramePr>
          <p:nvPr/>
        </p:nvGraphicFramePr>
        <p:xfrm>
          <a:off x="457200" y="1463040"/>
          <a:ext cx="8229600" cy="2057400"/>
        </p:xfrm>
        <a:graphic>
          <a:graphicData uri="http://schemas.openxmlformats.org/drawingml/2006/table">
            <a:tbl>
              <a:tblPr firstRow="1" bandRow="1">
                <a:tableStyleId>{5C22544A-7EE6-4342-B048-85BDC9FD1C3A}</a:tableStyleId>
              </a:tblPr>
              <a:tblGrid>
                <a:gridCol w="457200"/>
                <a:gridCol w="5029200"/>
                <a:gridCol w="2743200"/>
              </a:tblGrid>
              <a:tr h="411480">
                <a:tc>
                  <a:txBody>
                    <a:bodyPr/>
                    <a:lstStyle/>
                    <a:p>
                      <a:pPr>
                        <a:defRPr sz="1100" b="1">
                          <a:solidFill>
                            <a:srgbClr val="F5F0E8"/>
                          </a:solidFill>
                          <a:latin typeface="Calibri"/>
                        </a:defRPr>
                      </a:pPr>
                      <a:r>
                        <a:t>#</a:t>
                      </a:r>
                    </a:p>
                  </a:txBody>
                  <a:tcPr marL="45720" marR="45720" marT="18288" marB="18288">
                    <a:solidFill>
                      <a:srgbClr val="0D2B3E"/>
                    </a:solidFill>
                  </a:tcPr>
                </a:tc>
                <a:tc>
                  <a:txBody>
                    <a:bodyPr/>
                    <a:lstStyle/>
                    <a:p>
                      <a:pPr>
                        <a:defRPr sz="1100" b="1">
                          <a:solidFill>
                            <a:srgbClr val="F5F0E8"/>
                          </a:solidFill>
                          <a:latin typeface="Calibri"/>
                        </a:defRPr>
                      </a:pPr>
                      <a:r>
                        <a:t>問い</a:t>
                      </a:r>
                    </a:p>
                  </a:txBody>
                  <a:tcPr marL="45720" marR="45720" marT="18288" marB="18288">
                    <a:solidFill>
                      <a:srgbClr val="0D2B3E"/>
                    </a:solidFill>
                  </a:tcPr>
                </a:tc>
                <a:tc>
                  <a:txBody>
                    <a:bodyPr/>
                    <a:lstStyle/>
                    <a:p>
                      <a:pPr>
                        <a:defRPr sz="1100" b="1">
                          <a:solidFill>
                            <a:srgbClr val="F5F0E8"/>
                          </a:solidFill>
                          <a:latin typeface="Calibri"/>
                        </a:defRPr>
                      </a:pPr>
                      <a:r>
                        <a:t>対応バイアス</a:t>
                      </a:r>
                    </a:p>
                  </a:txBody>
                  <a:tcPr marL="45720" marR="45720" marT="18288" marB="18288">
                    <a:solidFill>
                      <a:srgbClr val="0D2B3E"/>
                    </a:solidFill>
                  </a:tcPr>
                </a:tc>
              </a:tr>
              <a:tr h="411480">
                <a:tc>
                  <a:txBody>
                    <a:bodyPr/>
                    <a:lstStyle/>
                    <a:p>
                      <a:pPr>
                        <a:defRPr sz="1100">
                          <a:solidFill>
                            <a:srgbClr val="1A1A2E"/>
                          </a:solidFill>
                          <a:latin typeface="Calibri"/>
                        </a:defRPr>
                      </a:pPr>
                      <a:r>
                        <a:t>1</a:t>
                      </a:r>
                    </a:p>
                  </a:txBody>
                  <a:tcPr marL="45720" marR="45720" marT="18288" marB="18288">
                    <a:solidFill>
                      <a:srgbClr val="E8F0F0"/>
                    </a:solidFill>
                  </a:tcPr>
                </a:tc>
                <a:tc>
                  <a:txBody>
                    <a:bodyPr/>
                    <a:lstStyle/>
                    <a:p>
                      <a:pPr>
                        <a:defRPr sz="1100">
                          <a:solidFill>
                            <a:srgbClr val="1A1A2E"/>
                          </a:solidFill>
                          <a:latin typeface="Calibri"/>
                        </a:defRPr>
                      </a:pPr>
                      <a:r>
                        <a:t>最初の診断仮説は何？いつ形成された？</a:t>
                      </a:r>
                    </a:p>
                  </a:txBody>
                  <a:tcPr marL="45720" marR="45720" marT="18288" marB="18288">
                    <a:solidFill>
                      <a:srgbClr val="E8F0F0"/>
                    </a:solidFill>
                  </a:tcPr>
                </a:tc>
                <a:tc>
                  <a:txBody>
                    <a:bodyPr/>
                    <a:lstStyle/>
                    <a:p>
                      <a:pPr>
                        <a:defRPr sz="1100">
                          <a:solidFill>
                            <a:srgbClr val="1A1A2E"/>
                          </a:solidFill>
                          <a:latin typeface="Calibri"/>
                        </a:defRPr>
                      </a:pPr>
                      <a:r>
                        <a:t>アンカリング</a:t>
                      </a:r>
                    </a:p>
                  </a:txBody>
                  <a:tcPr marL="45720" marR="45720" marT="18288" marB="18288">
                    <a:solidFill>
                      <a:srgbClr val="E8F0F0"/>
                    </a:solidFill>
                  </a:tcPr>
                </a:tc>
              </a:tr>
              <a:tr h="411480">
                <a:tc>
                  <a:txBody>
                    <a:bodyPr/>
                    <a:lstStyle/>
                    <a:p>
                      <a:pPr>
                        <a:defRPr sz="1100">
                          <a:solidFill>
                            <a:srgbClr val="1A1A2E"/>
                          </a:solidFill>
                          <a:latin typeface="Calibri"/>
                        </a:defRPr>
                      </a:pPr>
                      <a:r>
                        <a:t>2</a:t>
                      </a:r>
                    </a:p>
                  </a:txBody>
                  <a:tcPr marL="45720" marR="45720" marT="18288" marB="18288">
                    <a:solidFill>
                      <a:srgbClr val="F5F0E8"/>
                    </a:solidFill>
                  </a:tcPr>
                </a:tc>
                <a:tc>
                  <a:txBody>
                    <a:bodyPr/>
                    <a:lstStyle/>
                    <a:p>
                      <a:pPr>
                        <a:defRPr sz="1100">
                          <a:solidFill>
                            <a:srgbClr val="1A1A2E"/>
                          </a:solidFill>
                          <a:latin typeface="Calibri"/>
                        </a:defRPr>
                      </a:pPr>
                      <a:r>
                        <a:t>仮説を支持する情報ばかり集めていなかった？</a:t>
                      </a:r>
                    </a:p>
                  </a:txBody>
                  <a:tcPr marL="45720" marR="45720" marT="18288" marB="18288">
                    <a:solidFill>
                      <a:srgbClr val="F5F0E8"/>
                    </a:solidFill>
                  </a:tcPr>
                </a:tc>
                <a:tc>
                  <a:txBody>
                    <a:bodyPr/>
                    <a:lstStyle/>
                    <a:p>
                      <a:pPr>
                        <a:defRPr sz="1100">
                          <a:solidFill>
                            <a:srgbClr val="1A1A2E"/>
                          </a:solidFill>
                          <a:latin typeface="Calibri"/>
                        </a:defRPr>
                      </a:pPr>
                      <a:r>
                        <a:t>確認バイアス</a:t>
                      </a:r>
                    </a:p>
                  </a:txBody>
                  <a:tcPr marL="45720" marR="45720" marT="18288" marB="18288">
                    <a:solidFill>
                      <a:srgbClr val="F5F0E8"/>
                    </a:solidFill>
                  </a:tcPr>
                </a:tc>
              </a:tr>
              <a:tr h="411480">
                <a:tc>
                  <a:txBody>
                    <a:bodyPr/>
                    <a:lstStyle/>
                    <a:p>
                      <a:pPr>
                        <a:defRPr sz="1100">
                          <a:solidFill>
                            <a:srgbClr val="1A1A2E"/>
                          </a:solidFill>
                          <a:latin typeface="Calibri"/>
                        </a:defRPr>
                      </a:pPr>
                      <a:r>
                        <a:t>3</a:t>
                      </a:r>
                    </a:p>
                  </a:txBody>
                  <a:tcPr marL="45720" marR="45720" marT="18288" marB="18288">
                    <a:solidFill>
                      <a:srgbClr val="E8F0F0"/>
                    </a:solidFill>
                  </a:tcPr>
                </a:tc>
                <a:tc>
                  <a:txBody>
                    <a:bodyPr/>
                    <a:lstStyle/>
                    <a:p>
                      <a:pPr>
                        <a:defRPr sz="1100">
                          <a:solidFill>
                            <a:srgbClr val="1A1A2E"/>
                          </a:solidFill>
                          <a:latin typeface="Calibri"/>
                        </a:defRPr>
                      </a:pPr>
                      <a:r>
                        <a:t>最近の経験が判断に影響していなかった？</a:t>
                      </a:r>
                    </a:p>
                  </a:txBody>
                  <a:tcPr marL="45720" marR="45720" marT="18288" marB="18288">
                    <a:solidFill>
                      <a:srgbClr val="E8F0F0"/>
                    </a:solidFill>
                  </a:tcPr>
                </a:tc>
                <a:tc>
                  <a:txBody>
                    <a:bodyPr/>
                    <a:lstStyle/>
                    <a:p>
                      <a:pPr>
                        <a:defRPr sz="1100">
                          <a:solidFill>
                            <a:srgbClr val="1A1A2E"/>
                          </a:solidFill>
                          <a:latin typeface="Calibri"/>
                        </a:defRPr>
                      </a:pPr>
                      <a:r>
                        <a:t>利用可能性</a:t>
                      </a:r>
                    </a:p>
                  </a:txBody>
                  <a:tcPr marL="45720" marR="45720" marT="18288" marB="18288">
                    <a:solidFill>
                      <a:srgbClr val="E8F0F0"/>
                    </a:solidFill>
                  </a:tcPr>
                </a:tc>
              </a:tr>
              <a:tr h="411480">
                <a:tc>
                  <a:txBody>
                    <a:bodyPr/>
                    <a:lstStyle/>
                    <a:p>
                      <a:pPr>
                        <a:defRPr sz="1100">
                          <a:solidFill>
                            <a:srgbClr val="1A1A2E"/>
                          </a:solidFill>
                          <a:latin typeface="Calibri"/>
                        </a:defRPr>
                      </a:pPr>
                      <a:r>
                        <a:t>4</a:t>
                      </a:r>
                    </a:p>
                  </a:txBody>
                  <a:tcPr marL="45720" marR="45720" marT="18288" marB="18288">
                    <a:solidFill>
                      <a:srgbClr val="F5F0E8"/>
                    </a:solidFill>
                  </a:tcPr>
                </a:tc>
                <a:tc>
                  <a:txBody>
                    <a:bodyPr/>
                    <a:lstStyle/>
                    <a:p>
                      <a:pPr>
                        <a:defRPr sz="1100">
                          <a:solidFill>
                            <a:srgbClr val="1A1A2E"/>
                          </a:solidFill>
                          <a:latin typeface="Calibri"/>
                        </a:defRPr>
                      </a:pPr>
                      <a:r>
                        <a:t>どれくらい確信していた？その根拠は？</a:t>
                      </a:r>
                    </a:p>
                  </a:txBody>
                  <a:tcPr marL="45720" marR="45720" marT="18288" marB="18288">
                    <a:solidFill>
                      <a:srgbClr val="F5F0E8"/>
                    </a:solidFill>
                  </a:tcPr>
                </a:tc>
                <a:tc>
                  <a:txBody>
                    <a:bodyPr/>
                    <a:lstStyle/>
                    <a:p>
                      <a:pPr>
                        <a:defRPr sz="1100">
                          <a:solidFill>
                            <a:srgbClr val="1A1A2E"/>
                          </a:solidFill>
                          <a:latin typeface="Calibri"/>
                        </a:defRPr>
                      </a:pPr>
                      <a:r>
                        <a:t>過信</a:t>
                      </a:r>
                    </a:p>
                  </a:txBody>
                  <a:tcPr marL="45720" marR="45720" marT="18288" marB="18288">
                    <a:solidFill>
                      <a:srgbClr val="F5F0E8"/>
                    </a:solidFill>
                  </a:tcPr>
                </a:tc>
              </a:tr>
            </a:tbl>
          </a:graphicData>
        </a:graphic>
      </p:graphicFrame>
      <p:sp>
        <p:nvSpPr>
          <p:cNvPr id="7" name="Rectangle 6"/>
          <p:cNvSpPr/>
          <p:nvPr/>
        </p:nvSpPr>
        <p:spPr>
          <a:xfrm>
            <a:off x="914400" y="3657600"/>
            <a:ext cx="54864" cy="73152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4128" y="3657600"/>
            <a:ext cx="7205472" cy="731520"/>
          </a:xfrm>
          <a:prstGeom prst="rect">
            <a:avLst/>
          </a:prstGeom>
          <a:solidFill>
            <a:srgbClr val="FFFFFF"/>
          </a:solidFill>
          <a:ln w="12700">
            <a:solidFill>
              <a:srgbClr val="4EB8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730752"/>
            <a:ext cx="6949440" cy="585216"/>
          </a:xfrm>
          <a:prstGeom prst="rect">
            <a:avLst/>
          </a:prstGeom>
          <a:noFill/>
        </p:spPr>
        <p:txBody>
          <a:bodyPr wrap="square" lIns="45720" rIns="45720" tIns="27432" bIns="27432">
            <a:spAutoFit/>
          </a:bodyPr>
          <a:lstStyle/>
          <a:p>
            <a:pPr algn="l">
              <a:defRPr sz="1300" b="0">
                <a:solidFill>
                  <a:srgbClr val="1A1A2E"/>
                </a:solidFill>
                <a:latin typeface="Georgia"/>
              </a:defRPr>
            </a:pPr>
            <a:r>
              <a:t>パートナーに「もしその診断が間違っていたら？」</a:t>
            </a:r>
            <a:br/>
            <a:r>
              <a:t>と聞いてもらう（プレモーテム分析の実践）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45720" rIns="45720" tIns="27432" bIns="27432">
            <a:spAutoFit/>
          </a:bodyPr>
          <a:lstStyle/>
          <a:p>
            <a:pPr algn="l">
              <a:defRPr sz="1800" b="1">
                <a:solidFill>
                  <a:srgbClr val="1A1A2E"/>
                </a:solidFill>
                <a:latin typeface="Calibri"/>
              </a:defRPr>
            </a:pPr>
            <a:r>
              <a:t>AI×バイアス + 持ち帰りの問い</a:t>
            </a:r>
          </a:p>
        </p:txBody>
      </p:sp>
      <p:sp>
        <p:nvSpPr>
          <p:cNvPr id="3" name="Rectangle 2"/>
          <p:cNvSpPr/>
          <p:nvPr/>
        </p:nvSpPr>
        <p:spPr>
          <a:xfrm>
            <a:off x="457200" y="777240"/>
            <a:ext cx="1828800" cy="54864"/>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91440"/>
            <a:ext cx="3200400" cy="274320"/>
          </a:xfrm>
          <a:prstGeom prst="rect">
            <a:avLst/>
          </a:prstGeom>
          <a:noFill/>
        </p:spPr>
        <p:txBody>
          <a:bodyPr wrap="square" lIns="45720" rIns="45720" tIns="27432" bIns="27432">
            <a:spAutoFit/>
          </a:bodyPr>
          <a:lstStyle/>
          <a:p>
            <a:pPr algn="l">
              <a:defRPr sz="800" b="0">
                <a:solidFill>
                  <a:srgbClr val="7A8A9A"/>
                </a:solidFill>
                <a:latin typeface="Calibri"/>
              </a:defRPr>
            </a:pPr>
            <a:r>
              <a:t>[ガニェ事象8-9: 評価＋保持と転移]</a:t>
            </a:r>
          </a:p>
        </p:txBody>
      </p:sp>
      <p:graphicFrame>
        <p:nvGraphicFramePr>
          <p:cNvPr id="5" name="Table 4"/>
          <p:cNvGraphicFramePr>
            <a:graphicFrameLocks noGrp="1"/>
          </p:cNvGraphicFramePr>
          <p:nvPr/>
        </p:nvGraphicFramePr>
        <p:xfrm>
          <a:off x="457200" y="1005840"/>
          <a:ext cx="8229600" cy="1645920"/>
        </p:xfrm>
        <a:graphic>
          <a:graphicData uri="http://schemas.openxmlformats.org/drawingml/2006/table">
            <a:tbl>
              <a:tblPr firstRow="1" bandRow="1">
                <a:tableStyleId>{5C22544A-7EE6-4342-B048-85BDC9FD1C3A}</a:tableStyleId>
              </a:tblPr>
              <a:tblGrid>
                <a:gridCol w="2743200"/>
                <a:gridCol w="2743200"/>
                <a:gridCol w="2743200"/>
              </a:tblGrid>
              <a:tr h="411480">
                <a:tc>
                  <a:txBody>
                    <a:bodyPr/>
                    <a:lstStyle/>
                    <a:p>
                      <a:pPr>
                        <a:defRPr sz="1100" b="1">
                          <a:solidFill>
                            <a:srgbClr val="F5F0E8"/>
                          </a:solidFill>
                          <a:latin typeface="Calibri"/>
                        </a:defRPr>
                      </a:pPr>
                      <a:r>
                        <a:t>AI機能</a:t>
                      </a:r>
                    </a:p>
                  </a:txBody>
                  <a:tcPr marL="45720" marR="45720" marT="18288" marB="18288">
                    <a:solidFill>
                      <a:srgbClr val="0D2B3E"/>
                    </a:solidFill>
                  </a:tcPr>
                </a:tc>
                <a:tc>
                  <a:txBody>
                    <a:bodyPr/>
                    <a:lstStyle/>
                    <a:p>
                      <a:pPr>
                        <a:defRPr sz="1100" b="1">
                          <a:solidFill>
                            <a:srgbClr val="F5F0E8"/>
                          </a:solidFill>
                          <a:latin typeface="Calibri"/>
                        </a:defRPr>
                      </a:pPr>
                      <a:r>
                        <a:t>バイアス増幅リスク</a:t>
                      </a:r>
                    </a:p>
                  </a:txBody>
                  <a:tcPr marL="45720" marR="45720" marT="18288" marB="18288">
                    <a:solidFill>
                      <a:srgbClr val="0D2B3E"/>
                    </a:solidFill>
                  </a:tcPr>
                </a:tc>
                <a:tc>
                  <a:txBody>
                    <a:bodyPr/>
                    <a:lstStyle/>
                    <a:p>
                      <a:pPr>
                        <a:defRPr sz="1100" b="1">
                          <a:solidFill>
                            <a:srgbClr val="F5F0E8"/>
                          </a:solidFill>
                          <a:latin typeface="Calibri"/>
                        </a:defRPr>
                      </a:pPr>
                      <a:r>
                        <a:t>緩和ポテンシャル</a:t>
                      </a:r>
                    </a:p>
                  </a:txBody>
                  <a:tcPr marL="45720" marR="45720" marT="18288" marB="18288">
                    <a:solidFill>
                      <a:srgbClr val="0D2B3E"/>
                    </a:solidFill>
                  </a:tcPr>
                </a:tc>
              </a:tr>
              <a:tr h="411480">
                <a:tc>
                  <a:txBody>
                    <a:bodyPr/>
                    <a:lstStyle/>
                    <a:p>
                      <a:pPr>
                        <a:defRPr sz="1100">
                          <a:solidFill>
                            <a:srgbClr val="1A1A2E"/>
                          </a:solidFill>
                          <a:latin typeface="Calibri"/>
                        </a:defRPr>
                      </a:pPr>
                      <a:r>
                        <a:t>診断候補の提示</a:t>
                      </a:r>
                    </a:p>
                  </a:txBody>
                  <a:tcPr marL="45720" marR="45720" marT="18288" marB="18288">
                    <a:solidFill>
                      <a:srgbClr val="E8F0F0"/>
                    </a:solidFill>
                  </a:tcPr>
                </a:tc>
                <a:tc>
                  <a:txBody>
                    <a:bodyPr/>
                    <a:lstStyle/>
                    <a:p>
                      <a:pPr>
                        <a:defRPr sz="1100">
                          <a:solidFill>
                            <a:srgbClr val="1A1A2E"/>
                          </a:solidFill>
                          <a:latin typeface="Calibri"/>
                        </a:defRPr>
                      </a:pPr>
                      <a:r>
                        <a:t>アンカリング強化</a:t>
                      </a:r>
                    </a:p>
                  </a:txBody>
                  <a:tcPr marL="45720" marR="45720" marT="18288" marB="18288">
                    <a:solidFill>
                      <a:srgbClr val="E8F0F0"/>
                    </a:solidFill>
                  </a:tcPr>
                </a:tc>
                <a:tc>
                  <a:txBody>
                    <a:bodyPr/>
                    <a:lstStyle/>
                    <a:p>
                      <a:pPr>
                        <a:defRPr sz="1100">
                          <a:solidFill>
                            <a:srgbClr val="1A1A2E"/>
                          </a:solidFill>
                          <a:latin typeface="Calibri"/>
                        </a:defRPr>
                      </a:pPr>
                      <a:r>
                        <a:t>鑑別の網羅性向上</a:t>
                      </a:r>
                    </a:p>
                  </a:txBody>
                  <a:tcPr marL="45720" marR="45720" marT="18288" marB="18288">
                    <a:solidFill>
                      <a:srgbClr val="E8F0F0"/>
                    </a:solidFill>
                  </a:tcPr>
                </a:tc>
              </a:tr>
              <a:tr h="411480">
                <a:tc>
                  <a:txBody>
                    <a:bodyPr/>
                    <a:lstStyle/>
                    <a:p>
                      <a:pPr>
                        <a:defRPr sz="1100">
                          <a:solidFill>
                            <a:srgbClr val="1A1A2E"/>
                          </a:solidFill>
                          <a:latin typeface="Calibri"/>
                        </a:defRPr>
                      </a:pPr>
                      <a:r>
                        <a:t>確率推定</a:t>
                      </a:r>
                    </a:p>
                  </a:txBody>
                  <a:tcPr marL="45720" marR="45720" marT="18288" marB="18288">
                    <a:solidFill>
                      <a:srgbClr val="F5F0E8"/>
                    </a:solidFill>
                  </a:tcPr>
                </a:tc>
                <a:tc>
                  <a:txBody>
                    <a:bodyPr/>
                    <a:lstStyle/>
                    <a:p>
                      <a:pPr>
                        <a:defRPr sz="1100">
                          <a:solidFill>
                            <a:srgbClr val="1A1A2E"/>
                          </a:solidFill>
                          <a:latin typeface="Calibri"/>
                        </a:defRPr>
                      </a:pPr>
                      <a:r>
                        <a:t>過信の技術的増幅</a:t>
                      </a:r>
                    </a:p>
                  </a:txBody>
                  <a:tcPr marL="45720" marR="45720" marT="18288" marB="18288">
                    <a:solidFill>
                      <a:srgbClr val="F5F0E8"/>
                    </a:solidFill>
                  </a:tcPr>
                </a:tc>
                <a:tc>
                  <a:txBody>
                    <a:bodyPr/>
                    <a:lstStyle/>
                    <a:p>
                      <a:pPr>
                        <a:defRPr sz="1100">
                          <a:solidFill>
                            <a:srgbClr val="1A1A2E"/>
                          </a:solidFill>
                          <a:latin typeface="Calibri"/>
                        </a:defRPr>
                      </a:pPr>
                      <a:r>
                        <a:t>ベースレート想起の自動化</a:t>
                      </a:r>
                    </a:p>
                  </a:txBody>
                  <a:tcPr marL="45720" marR="45720" marT="18288" marB="18288">
                    <a:solidFill>
                      <a:srgbClr val="F5F0E8"/>
                    </a:solidFill>
                  </a:tcPr>
                </a:tc>
              </a:tr>
              <a:tr h="411480">
                <a:tc>
                  <a:txBody>
                    <a:bodyPr/>
                    <a:lstStyle/>
                    <a:p>
                      <a:pPr>
                        <a:defRPr sz="1100">
                          <a:solidFill>
                            <a:srgbClr val="1A1A2E"/>
                          </a:solidFill>
                          <a:latin typeface="Calibri"/>
                        </a:defRPr>
                      </a:pPr>
                      <a:r>
                        <a:t>パターン認識</a:t>
                      </a:r>
                    </a:p>
                  </a:txBody>
                  <a:tcPr marL="45720" marR="45720" marT="18288" marB="18288">
                    <a:solidFill>
                      <a:srgbClr val="E8F0F0"/>
                    </a:solidFill>
                  </a:tcPr>
                </a:tc>
                <a:tc>
                  <a:txBody>
                    <a:bodyPr/>
                    <a:lstStyle/>
                    <a:p>
                      <a:pPr>
                        <a:defRPr sz="1100">
                          <a:solidFill>
                            <a:srgbClr val="1A1A2E"/>
                          </a:solidFill>
                          <a:latin typeface="Calibri"/>
                        </a:defRPr>
                      </a:pPr>
                      <a:r>
                        <a:t>確認バイアスの自動化</a:t>
                      </a:r>
                    </a:p>
                  </a:txBody>
                  <a:tcPr marL="45720" marR="45720" marT="18288" marB="18288">
                    <a:solidFill>
                      <a:srgbClr val="E8F0F0"/>
                    </a:solidFill>
                  </a:tcPr>
                </a:tc>
                <a:tc>
                  <a:txBody>
                    <a:bodyPr/>
                    <a:lstStyle/>
                    <a:p>
                      <a:pPr>
                        <a:defRPr sz="1100">
                          <a:solidFill>
                            <a:srgbClr val="1A1A2E"/>
                          </a:solidFill>
                          <a:latin typeface="Calibri"/>
                        </a:defRPr>
                      </a:pPr>
                      <a:r>
                        <a:t>見逃しパターンの検出</a:t>
                      </a:r>
                    </a:p>
                  </a:txBody>
                  <a:tcPr marL="45720" marR="45720" marT="18288" marB="18288">
                    <a:solidFill>
                      <a:srgbClr val="E8F0F0"/>
                    </a:solidFill>
                  </a:tcPr>
                </a:tc>
              </a:tr>
            </a:tbl>
          </a:graphicData>
        </a:graphic>
      </p:graphicFrame>
      <p:sp>
        <p:nvSpPr>
          <p:cNvPr id="6" name="TextBox 5"/>
          <p:cNvSpPr txBox="1"/>
          <p:nvPr/>
        </p:nvSpPr>
        <p:spPr>
          <a:xfrm>
            <a:off x="457200" y="2743200"/>
            <a:ext cx="8229600" cy="274320"/>
          </a:xfrm>
          <a:prstGeom prst="rect">
            <a:avLst/>
          </a:prstGeom>
          <a:noFill/>
        </p:spPr>
        <p:txBody>
          <a:bodyPr wrap="square" lIns="45720" rIns="45720" tIns="27432" bIns="27432">
            <a:spAutoFit/>
          </a:bodyPr>
          <a:lstStyle/>
          <a:p>
            <a:pPr algn="l">
              <a:defRPr sz="1400" b="1">
                <a:solidFill>
                  <a:srgbClr val="E89B3B"/>
                </a:solidFill>
                <a:latin typeface="Calibri"/>
              </a:defRPr>
            </a:pPr>
            <a:r>
              <a:t>明日の診療で試してほしいこと:</a:t>
            </a:r>
          </a:p>
        </p:txBody>
      </p:sp>
      <p:sp>
        <p:nvSpPr>
          <p:cNvPr id="7" name="TextBox 6"/>
          <p:cNvSpPr txBox="1"/>
          <p:nvPr/>
        </p:nvSpPr>
        <p:spPr>
          <a:xfrm>
            <a:off x="640080" y="3108960"/>
            <a:ext cx="7863840" cy="365760"/>
          </a:xfrm>
          <a:prstGeom prst="rect">
            <a:avLst/>
          </a:prstGeom>
          <a:noFill/>
        </p:spPr>
        <p:txBody>
          <a:bodyPr wrap="square" lIns="45720" rIns="45720" tIns="27432" bIns="27432">
            <a:spAutoFit/>
          </a:bodyPr>
          <a:lstStyle/>
          <a:p>
            <a:pPr algn="l">
              <a:defRPr sz="1200" b="0">
                <a:solidFill>
                  <a:srgbClr val="1A1A2E"/>
                </a:solidFill>
                <a:latin typeface="Calibri"/>
              </a:defRPr>
            </a:pPr>
            <a:r>
              <a:t>  1. 診断タイムアウト: 1日1回「他に何があり得るか？」と自問する</a:t>
            </a:r>
          </a:p>
        </p:txBody>
      </p:sp>
      <p:sp>
        <p:nvSpPr>
          <p:cNvPr id="8" name="TextBox 7"/>
          <p:cNvSpPr txBox="1"/>
          <p:nvPr/>
        </p:nvSpPr>
        <p:spPr>
          <a:xfrm>
            <a:off x="640080" y="3474720"/>
            <a:ext cx="7863840" cy="365760"/>
          </a:xfrm>
          <a:prstGeom prst="rect">
            <a:avLst/>
          </a:prstGeom>
          <a:noFill/>
        </p:spPr>
        <p:txBody>
          <a:bodyPr wrap="square" lIns="45720" rIns="45720" tIns="27432" bIns="27432">
            <a:spAutoFit/>
          </a:bodyPr>
          <a:lstStyle/>
          <a:p>
            <a:pPr algn="l">
              <a:defRPr sz="1200" b="0">
                <a:solidFill>
                  <a:srgbClr val="1A1A2E"/>
                </a:solidFill>
                <a:latin typeface="Calibri"/>
              </a:defRPr>
            </a:pPr>
            <a:r>
              <a:t>  2. バイアス日誌: 今週1例、4つの問いで推論を振り返る</a:t>
            </a:r>
          </a:p>
        </p:txBody>
      </p:sp>
      <p:sp>
        <p:nvSpPr>
          <p:cNvPr id="9" name="Rectangle 8"/>
          <p:cNvSpPr/>
          <p:nvPr/>
        </p:nvSpPr>
        <p:spPr>
          <a:xfrm>
            <a:off x="914400" y="4023360"/>
            <a:ext cx="54864" cy="457200"/>
          </a:xfrm>
          <a:prstGeom prst="rect">
            <a:avLst/>
          </a:prstGeom>
          <a:solidFill>
            <a:srgbClr val="E89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24128" y="4023360"/>
            <a:ext cx="7205472" cy="457200"/>
          </a:xfrm>
          <a:prstGeom prst="rect">
            <a:avLst/>
          </a:prstGeom>
          <a:solidFill>
            <a:srgbClr val="FFFFFF"/>
          </a:solidFill>
          <a:ln w="12700">
            <a:solidFill>
              <a:srgbClr val="4EB8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096512"/>
            <a:ext cx="6949440" cy="310896"/>
          </a:xfrm>
          <a:prstGeom prst="rect">
            <a:avLst/>
          </a:prstGeom>
          <a:noFill/>
        </p:spPr>
        <p:txBody>
          <a:bodyPr wrap="square" lIns="45720" rIns="45720" tIns="27432" bIns="27432">
            <a:spAutoFit/>
          </a:bodyPr>
          <a:lstStyle/>
          <a:p>
            <a:pPr algn="l">
              <a:defRPr sz="1200" b="0">
                <a:solidFill>
                  <a:srgbClr val="1A1A2E"/>
                </a:solidFill>
                <a:latin typeface="Georgia"/>
              </a:defRPr>
            </a:pPr>
            <a:r>
              <a:t>バイアスは個人の失敗ではない。認識することがメタ認知能力の高さを示す。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