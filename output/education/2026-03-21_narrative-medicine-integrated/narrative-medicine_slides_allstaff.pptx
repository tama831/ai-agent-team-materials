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DF5EB"/>
                </a:solidFill>
                <a:latin typeface="Georgia"/>
              </a:defRPr>
            </a:pPr>
            <a:r>
              <a:rPr/>
              <a:t>患者さんの「物語」をケアに活かす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9B6D"/>
                </a:solidFill>
                <a:latin typeface="Calibri"/>
              </a:defRPr>
            </a:pPr>
            <a:r>
              <a:rPr/>
              <a:t>デジタル時代のナラティブ・ケア入門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36576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E94"/>
                </a:solidFill>
                <a:latin typeface="Calibri"/>
              </a:defRPr>
            </a:pPr>
            <a:r>
              <a:rPr/>
              <a:t>全スタッフ向け｜15分｜2026-03-21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3A3A"/>
                </a:solidFill>
                <a:latin typeface="Georgia"/>
              </a:defRPr>
            </a:pPr>
            <a:r>
              <a:rPr/>
              <a:t>ある日の退院時に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914400"/>
            <a:ext cx="6400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" name="Rectangle 3"/>
          <p:cNvSpPr/>
          <p:nvPr/>
        </p:nvSpPr>
        <p:spPr>
          <a:xfrm>
            <a:off x="1371600" y="914400"/>
            <a:ext cx="54864" cy="164592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645920" y="100584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A3A"/>
                </a:solidFill>
                <a:latin typeface="Georgia"/>
              </a:defRPr>
            </a:pPr>
            <a:r>
              <a:rPr/>
              <a:t>「先生の治療も嬉しかったけど、</a:t>
            </a:r>
            <a:br/>
            <a:r>
              <a:rPr/>
              <a:t> あの看護師さんが毎朝</a:t>
            </a:r>
            <a:br/>
            <a:r>
              <a:rPr/>
              <a:t> "今日はどんな夢を見ましたか？"</a:t>
            </a:r>
            <a:br/>
            <a:r>
              <a:rPr/>
              <a:t> って聞いてくれたのが</a:t>
            </a:r>
            <a:br/>
            <a:r>
              <a:rPr/>
              <a:t> 一番の薬だったよ。」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743200" cy="37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9B6D"/>
                </a:solidFill>
                <a:latin typeface="Calibri"/>
              </a:defRPr>
            </a:pPr>
            <a:r>
              <a:rPr/>
              <a:t>今日のゴール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11727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3A3A"/>
                </a:solidFill>
                <a:latin typeface="Calibri"/>
              </a:defRPr>
              <a:buChar char="●"/>
            </a:pPr>
            <a:r>
              <a:rPr/>
              <a:t>「ナラティブ・ケア」の考え方がわかる</a:t>
            </a:r>
          </a:p>
          <a:p>
            <a:pPr>
              <a:defRPr sz="1400">
                <a:solidFill>
                  <a:srgbClr val="3A3A3A"/>
                </a:solidFill>
                <a:latin typeface="Calibri"/>
              </a:defRPr>
              <a:buChar char="●"/>
            </a:pPr>
            <a:r>
              <a:rPr/>
              <a:t>自分の業務で患者さんの物語を活かす方法を1つ挙げられる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A3A3A"/>
                </a:solidFill>
                <a:latin typeface="Georgia"/>
              </a:defRPr>
            </a:pPr>
            <a:r>
              <a:rPr/>
              <a:t>ナラティブ・ケアって何？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1887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Calibri"/>
              </a:defRPr>
            </a:pPr>
            <a:r>
              <a:rPr/>
              <a:t>ナラティブ = 物語。患者さんの物語に耳を傾け、ケアに活かすこと。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7680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48056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病歴（データ）</a:t>
                      </a:r>
                    </a:p>
                  </a:txBody>
                  <a:tcPr>
                    <a:solidFill>
                      <a:srgbClr val="4A7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物語（ナラティブ）</a:t>
                      </a:r>
                    </a:p>
                  </a:txBody>
                  <a:tcPr>
                    <a:solidFill>
                      <a:srgbClr val="4A76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2型糖尿病, HbA1c 8.2%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「妻が作る煮物が甘くて…でもそれが楽しみ」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左大腿骨頸部骨折</a:t>
                      </a:r>
                    </a:p>
                  </a:txBody>
                  <a:tcPr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「孫の運動会を見に行きたかった…」</a:t>
                      </a:r>
                    </a:p>
                  </a:txBody>
                  <a:tcPr>
                    <a:solidFill>
                      <a:srgbClr val="FD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不眠症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「夫を亡くしてから、隣が空いてるのが怖い」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A3A3A"/>
                </a:solidFill>
                <a:latin typeface="Georgia"/>
              </a:defRPr>
            </a:pPr>
            <a:r>
              <a:rPr/>
              <a:t>左が「何の病気か」。右が「どんな人生か」。</a:t>
            </a:r>
            <a:br/>
            <a:r>
              <a:rPr/>
              <a:t>両方わかると、もっと良いケアができる。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3A3A"/>
                </a:solidFill>
                <a:latin typeface="Georgia"/>
              </a:defRPr>
            </a:pPr>
            <a:r>
              <a:rPr/>
              <a:t>物語を聴くと、何が変わる？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10767"/>
            <a:ext cx="4572000" cy="3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E94"/>
                </a:solidFill>
                <a:latin typeface="Calibri"/>
              </a:defRPr>
            </a:pPr>
            <a:r>
              <a:rPr/>
              <a:t>最新の研究でわかったこと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4864" cy="73152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7315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libri"/>
              </a:defRPr>
            </a:pPr>
            <a:r>
              <a:rPr/>
              <a:t>✨ 患者さんのストレスが軽減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16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E94"/>
                </a:solidFill>
                <a:latin typeface="Calibri"/>
              </a:defRPr>
            </a:pPr>
            <a:r>
              <a:rPr/>
              <a:t>物語を聴いてもらえた患者は不安や孤立感が減る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54864" cy="73152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68680" y="2011679"/>
            <a:ext cx="7315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libri"/>
              </a:defRPr>
            </a:pPr>
            <a:r>
              <a:rPr/>
              <a:t>✨ 医療者の判断の質が向上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0327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E94"/>
                </a:solidFill>
                <a:latin typeface="Calibri"/>
              </a:defRPr>
            </a:pPr>
            <a:r>
              <a:rPr/>
              <a:t>患者の背景を知ると、より適切な治療選択ができる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39"/>
            <a:ext cx="7680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Rectangle 12"/>
          <p:cNvSpPr/>
          <p:nvPr/>
        </p:nvSpPr>
        <p:spPr>
          <a:xfrm>
            <a:off x="731520" y="2834639"/>
            <a:ext cx="54864" cy="73152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59"/>
            <a:ext cx="7315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libri"/>
              </a:defRPr>
            </a:pPr>
            <a:r>
              <a:rPr/>
              <a:t>✨ チームケアが深まる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39007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E94"/>
                </a:solidFill>
                <a:latin typeface="Calibri"/>
              </a:defRPr>
            </a:pPr>
            <a:r>
              <a:rPr/>
              <a:t>物語の共有で多職種の連携が改善する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7680960" cy="36576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3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9B6D"/>
                </a:solidFill>
                <a:latin typeface="Calibri"/>
              </a:defRPr>
            </a:pPr>
            <a:r>
              <a:rPr/>
              <a:t>ただの「優しさ」ではなく、ケアの質を上げるスキル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3A3A"/>
                </a:solidFill>
                <a:latin typeface="Georgia"/>
              </a:defRPr>
            </a:pPr>
            <a:r>
              <a:rPr/>
              <a:t>あなたの職種だからこそ</a:t>
            </a:r>
            <a:br/>
            <a:r>
              <a:rPr/>
              <a:t>聴ける物語がある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05840"/>
          <a:ext cx="76809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347472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職種</a:t>
                      </a:r>
                    </a:p>
                  </a:txBody>
                  <a:tcPr>
                    <a:solidFill>
                      <a:srgbClr val="4A7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いつ聴ける？</a:t>
                      </a:r>
                    </a:p>
                  </a:txBody>
                  <a:tcPr>
                    <a:solidFill>
                      <a:srgbClr val="4A7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どんな物語？</a:t>
                      </a:r>
                    </a:p>
                  </a:txBody>
                  <a:tcPr>
                    <a:solidFill>
                      <a:srgbClr val="4A76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🏥 看護師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バイタル測定中、ケア中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日常の不安、希望、家族のこと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🤝 介護士</a:t>
                      </a:r>
                    </a:p>
                  </a:txBody>
                  <a:tcPr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入浴介助、食事介助中</a:t>
                      </a:r>
                    </a:p>
                  </a:txBody>
                  <a:tcPr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生活歴、こだわり、好きなもの</a:t>
                      </a:r>
                    </a:p>
                  </a:txBody>
                  <a:tcPr>
                    <a:solidFill>
                      <a:srgbClr val="FD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📋 事務職員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受付、会計時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通院の困りごと、第一印象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💊 薬剤師</a:t>
                      </a:r>
                    </a:p>
                  </a:txBody>
                  <a:tcPr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服薬指導中</a:t>
                      </a:r>
                    </a:p>
                  </a:txBody>
                  <a:tcPr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薬への不安、生活リズム</a:t>
                      </a:r>
                    </a:p>
                  </a:txBody>
                  <a:tcPr>
                    <a:solidFill>
                      <a:srgbClr val="FDF5E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9B6D"/>
                </a:solidFill>
                <a:latin typeface="Calibri"/>
              </a:defRPr>
            </a:pPr>
            <a:r>
              <a:rPr/>
              <a:t>どの職種も、患者さんにとって大切な「聴いてくれる人」になれます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6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89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DF5EB"/>
                </a:solidFill>
                <a:latin typeface="Georgia"/>
              </a:defRPr>
            </a:pPr>
            <a:r>
              <a:rPr/>
              <a:t>みんなで考えよう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81887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9B6D"/>
                </a:solidFill>
                <a:latin typeface="Calibri"/>
              </a:defRPr>
            </a:pPr>
            <a:r>
              <a:rPr/>
              <a:t>グループワーク｜3分間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1188720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ectangle 4"/>
          <p:cNvSpPr/>
          <p:nvPr/>
        </p:nvSpPr>
        <p:spPr>
          <a:xfrm>
            <a:off x="841248" y="1188720"/>
            <a:ext cx="75712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4B5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261872"/>
            <a:ext cx="731520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A3A"/>
                </a:solidFill>
                <a:latin typeface="Georgia"/>
              </a:defRPr>
            </a:pPr>
            <a:r>
              <a:rPr/>
              <a:t>最近、患者さんから聴いた</a:t>
            </a:r>
            <a:br/>
            <a:r>
              <a:rPr/>
              <a:t>「心に残った一言」はありますか？</a:t>
            </a:r>
            <a:br/>
            <a:r>
              <a:rPr/>
              <a:t>それをチームにどう共有したら、</a:t>
            </a:r>
            <a:br/>
            <a:r>
              <a:rPr/>
              <a:t>ケアが良くなると思いますか？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743200" cy="34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9B6D"/>
                </a:solidFill>
                <a:latin typeface="Calibri"/>
              </a:defRPr>
            </a:pPr>
            <a:r>
              <a:rPr/>
              <a:t>話すヒント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64688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DF5EB"/>
                </a:solidFill>
                <a:latin typeface="Calibri"/>
              </a:defRPr>
              <a:buChar char="●"/>
            </a:pPr>
            <a:r>
              <a:rPr/>
              <a:t>大きなエピソードじゃなくてOK</a:t>
            </a:r>
          </a:p>
          <a:p>
            <a:pPr>
              <a:defRPr sz="1300">
                <a:solidFill>
                  <a:srgbClr val="FDF5EB"/>
                </a:solidFill>
                <a:latin typeface="Calibri"/>
              </a:defRPr>
              <a:buChar char="●"/>
            </a:pPr>
            <a:r>
              <a:rPr/>
              <a:t>「もっと聴きたかったけど時間がなかった」でもOK</a:t>
            </a:r>
          </a:p>
          <a:p>
            <a:pPr>
              <a:defRPr sz="1300">
                <a:solidFill>
                  <a:srgbClr val="FDF5EB"/>
                </a:solidFill>
                <a:latin typeface="Calibri"/>
              </a:defRPr>
              <a:buChar char="●"/>
            </a:pPr>
            <a:r>
              <a:rPr/>
              <a:t>守秘義務の範囲で（個人が特定されない形で）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51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3A3A"/>
                </a:solidFill>
                <a:latin typeface="Georgia"/>
              </a:defRPr>
            </a:pPr>
            <a:r>
              <a:rPr/>
              <a:t>明日からできる「1日1聴」チャレンジ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822960"/>
          <a:ext cx="7680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03504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職種</a:t>
                      </a:r>
                    </a:p>
                  </a:txBody>
                  <a:tcPr>
                    <a:solidFill>
                      <a:srgbClr val="4A7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F5EB"/>
                          </a:solidFill>
                          <a:latin typeface="Calibri"/>
                        </a:defRPr>
                      </a:pPr>
                      <a:r>
                        <a:t>1日1聴アクション</a:t>
                      </a:r>
                    </a:p>
                  </a:txBody>
                  <a:tcPr>
                    <a:solidFill>
                      <a:srgbClr val="4A76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看護師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バイタル測定のとき「今日の気分はどうですか？」と聴く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介護士</a:t>
                      </a:r>
                    </a:p>
                  </a:txBody>
                  <a:tcPr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食事介助のとき「好きな食べ物の思い出」を1つ聴く</a:t>
                      </a:r>
                    </a:p>
                  </a:txBody>
                  <a:tcPr>
                    <a:solidFill>
                      <a:srgbClr val="FDF5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事務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受付で「今日はどうやって来られましたか？」と声をかける</a:t>
                      </a:r>
                    </a:p>
                  </a:txBody>
                  <a:tcPr>
                    <a:solidFill>
                      <a:srgbClr val="F0F7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全員</a:t>
                      </a:r>
                    </a:p>
                  </a:txBody>
                  <a:tcPr>
                    <a:solidFill>
                      <a:srgbClr val="FDF5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聴いた一言を、申し送りノートに1行だけ書く</a:t>
                      </a:r>
                    </a:p>
                  </a:txBody>
                  <a:tcPr>
                    <a:solidFill>
                      <a:srgbClr val="FDF5EB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2926080"/>
            <a:ext cx="7680960" cy="36576"/>
          </a:xfrm>
          <a:prstGeom prst="rect">
            <a:avLst/>
          </a:prstGeom>
          <a:solidFill>
            <a:srgbClr val="E89B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A3A3A"/>
                </a:solidFill>
                <a:latin typeface="Georgia"/>
              </a:defRPr>
            </a:pPr>
            <a:r>
              <a:rPr/>
              <a:t>「聴く」ことは、特別なスキルではなく、</a:t>
            </a:r>
            <a:br/>
            <a:r>
              <a:rPr/>
              <a:t>あなたがすでに毎日やっていることの延長線上にあります。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3657600" cy="287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E94"/>
                </a:solidFill>
                <a:latin typeface="Calibri"/>
              </a:defRPr>
            </a:pPr>
            <a:r>
              <a:rPr/>
              <a:t>📎 参考文献リスト（別紙配布）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