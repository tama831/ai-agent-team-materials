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F5F0E8"/>
                </a:solidFill>
                <a:latin typeface="Calibri"/>
              </a:defRPr>
            </a:pPr>
            <a:r>
              <a:t>5人に1人は、</a:t>
            </a:r>
            <a:br/>
            <a:r>
              <a:t>希望と違う場所で亡くなっている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737360"/>
            <a:ext cx="36576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011680"/>
            <a:ext cx="274320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6000" b="1">
                <a:solidFill>
                  <a:srgbClr val="E89B3B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0">
                <a:solidFill>
                  <a:srgbClr val="7A8A9A"/>
                </a:solidFill>
                <a:latin typeface="Calibri"/>
              </a:defRPr>
            </a:pPr>
            <a:r>
              <a:t>緩和ケア病棟を経由した患者 — 最も手厚い支援を受けた集団においてさえ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54864" cy="54864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3840480"/>
            <a:ext cx="72054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13632"/>
            <a:ext cx="694944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Georgia"/>
              </a:defRPr>
            </a:pPr>
            <a:r>
              <a:t>あなたが担当した患者さんは、希望通りの場所で最期を迎えられましたか？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7A8A9A"/>
                </a:solidFill>
                <a:latin typeface="Calibri"/>
              </a:defRPr>
            </a:pPr>
            <a:r>
              <a:t>[ガニェ事象1: 注意の獲得]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今日の学習目標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011680" cy="9144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39"/>
            <a:ext cx="20116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解釈（理解）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188720"/>
            <a:ext cx="5943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ACPの看取り場所一致率データを</a:t>
            </a:r>
            <a:br/>
            <a:r>
              <a:t>国際比較の中で解釈できる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011680" cy="9144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77440"/>
            <a:ext cx="5943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不一致が生じる構造的要因を3つ以上挙げ、</a:t>
            </a:r>
            <a:br/>
            <a:r>
              <a:t>因果関係を分析できる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2011680" cy="9144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611879"/>
            <a:ext cx="20116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創造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566160"/>
            <a:ext cx="5943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在宅看取りの意思決定支援計画を</a:t>
            </a:r>
            <a:br/>
            <a:r>
              <a:t>自分の臨床に合わせて立案できる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t>ブルーム分類: 理解 → 分析 → 創造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7A8A9A"/>
                </a:solidFill>
                <a:latin typeface="Calibri"/>
              </a:defRPr>
            </a:pPr>
            <a:r>
              <a:t>[ガニェ事象2: 学習目標の提示]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F5F0E8"/>
                </a:solidFill>
                <a:latin typeface="Calibri"/>
              </a:defRPr>
            </a:pPr>
            <a:r>
              <a:t>ACP（アドバンス・ケア・プランニング）の基本概念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201168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概念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定義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ポイント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ACP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本人を中心に繰り返し話し合い、</a:t>
                      </a:r>
                    </a:p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意思決定を支援するプロセス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紙ではなくプロセス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AD（事前指示書）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意思決定能力喪失時の法的文書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ACPの一部であってACPそのものではない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一致率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事前合意と実際の死亡場所が</a:t>
                      </a:r>
                    </a:p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一致した割合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place-of-death congruence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474720"/>
            <a:ext cx="54864" cy="73152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47472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54787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Georgia"/>
              </a:defRPr>
            </a:pPr>
            <a:r>
              <a:t>ACPは「紙に書くこと」ではなく「対話のプロセス」——2018年「人生会議」啓発以降、認知は向上したが実践の質にばらつきあり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7A8A9A"/>
                </a:solidFill>
                <a:latin typeface="Calibri"/>
              </a:defRPr>
            </a:pPr>
            <a:r>
              <a:t>[ガニェ事象3: 前提条件の確認]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本研究のデザインと対象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30936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項目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内容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著者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佐藤桃香ほか（東北大学大学院 緩和ケア看護学分野）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デザイン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多施設遺族調査（後ろ向き横断研究）の付帯研究、2018年実施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対象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ホスピス・緩和ケア病棟から自宅退院→その後死亡した終末期がん患者の遺族359名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自宅死亡群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遺族 202名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病棟死亡群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遺族 157名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測定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看取り方針（事前合意）vs 実際の看取り場所の一致・不一致 + 不一致理由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t>メソドロジーの限界: 想起バイアス・生存者バイアス・選択バイアスに留意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7A8A9A"/>
                </a:solidFill>
                <a:latin typeface="Calibri"/>
              </a:defRPr>
            </a:pPr>
            <a:r>
              <a:t>[ガニェ事象4: 新しい内容の提示]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5F0E8"/>
                </a:solidFill>
                <a:latin typeface="Calibri"/>
              </a:defRPr>
            </a:pPr>
            <a:r>
              <a:t>一致率 80-82% — この数字をどう読むか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657600" cy="164592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E89B3B"/>
                </a:solidFill>
                <a:latin typeface="Calibri"/>
              </a:defRPr>
            </a:pPr>
            <a:r>
              <a:t>自宅死亡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657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800" b="1">
                <a:solidFill>
                  <a:srgbClr val="F5F0E8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7A8A9A"/>
                </a:solidFill>
                <a:latin typeface="Calibri"/>
              </a:defRPr>
            </a:pPr>
            <a:r>
              <a:t>n=202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188720"/>
            <a:ext cx="3657600" cy="164592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28016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E89B3B"/>
                </a:solidFill>
                <a:latin typeface="Calibri"/>
              </a:defRPr>
            </a:pPr>
            <a:r>
              <a:t>緩和ケア病棟死亡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3657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800" b="1">
                <a:solidFill>
                  <a:srgbClr val="F5F0E8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7A8A9A"/>
                </a:solidFill>
                <a:latin typeface="Calibri"/>
              </a:defRPr>
            </a:pPr>
            <a:r>
              <a:t>n=157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54864" cy="9144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200400"/>
            <a:ext cx="81198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73552"/>
            <a:ext cx="7863840" cy="7680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Georgia"/>
              </a:defRPr>
            </a:pPr>
            <a:r>
              <a:t>「ACPは概ね機能する」——しかし5人に1人は希望と異なる場所で死を迎えている。</a:t>
            </a:r>
            <a:br/>
            <a:r>
              <a:t>最も手厚い支援を受けた集団での数値であることに注目。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7A8A9A"/>
                </a:solidFill>
                <a:latin typeface="Calibri"/>
              </a:defRPr>
            </a:pPr>
            <a:r>
              <a:t>[ガニェ事象4: 新しい内容の提示（続）]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国際メタアナリシスとの比較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3566160"/>
              </a:tblGrid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地域 / 対象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一致率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出典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メタアナリシス統合値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約51%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Billari et al., 2022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南アフリカ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48%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95%CI: 41-55%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マレーシア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95%CI: 88-95%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本研究（自宅死亡）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佐藤ほか, 2026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本研究（病棟死亡）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82%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佐藤ほか, 2026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657600"/>
            <a:ext cx="54864" cy="73152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65760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73075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Georgia"/>
              </a:defRPr>
            </a:pPr>
            <a:r>
              <a:t>上位の理由: 緩和ケア病棟を経由 → 専門的ACPの実施率が高い母集団。</a:t>
            </a:r>
            <a:br/>
            <a:r>
              <a:t>一般的な在宅療養患者ではさらに高い不一致率が想定される。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7A8A9A"/>
                </a:solidFill>
                <a:latin typeface="Calibri"/>
              </a:defRPr>
            </a:pPr>
            <a:r>
              <a:t>[ガニェ事象4: 新しい内容の提示（続）]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F5F0E8"/>
                </a:solidFill>
                <a:latin typeface="Calibri"/>
              </a:defRPr>
            </a:pPr>
            <a:r>
              <a:t>なぜ不一致が起きるのか — 構造的要因の分析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14800" cy="1280160"/>
          </a:xfrm>
          <a:prstGeom prst="rect">
            <a:avLst/>
          </a:prstGeom>
          <a:solidFill>
            <a:srgbClr val="0D2B3E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3749039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4EB8A9"/>
                </a:solidFill>
                <a:latin typeface="Calibri"/>
              </a:defRPr>
            </a:pPr>
            <a:r>
              <a:t>病棟方針 → 自宅看取り（22例）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749039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5F0E8"/>
                </a:solidFill>
                <a:latin typeface="Calibri"/>
              </a:defRPr>
            </a:pPr>
            <a:r>
              <a:t>ポジティブな変更</a:t>
            </a:r>
            <a:br/>
            <a:r>
              <a:t>在宅対応の医師・看護師が見つかり、</a:t>
            </a:r>
            <a:br/>
            <a:r>
              <a:t>より本人の希望に近い方向へ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914400"/>
            <a:ext cx="4114800" cy="128016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960120"/>
            <a:ext cx="3749039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E89B3B"/>
                </a:solidFill>
                <a:latin typeface="Calibri"/>
              </a:defRPr>
            </a:pPr>
            <a:r>
              <a:t>自宅方針 → 病棟看取り（11例）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234440"/>
            <a:ext cx="3749039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5F0E8"/>
                </a:solidFill>
                <a:latin typeface="Calibri"/>
              </a:defRPr>
            </a:pPr>
            <a:r>
              <a:t>ネガティブな変更</a:t>
            </a:r>
            <a:br/>
            <a:r>
              <a:t>自宅での痛み管理が不十分で、</a:t>
            </a:r>
            <a:br/>
            <a:r>
              <a:t>在宅医療の質的限界が原因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68880"/>
            <a:ext cx="2743200" cy="192024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14600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E89B3B"/>
                </a:solidFill>
                <a:latin typeface="Calibri"/>
              </a:defRPr>
            </a:pPr>
            <a:r>
              <a:t>医師偏在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80360"/>
            <a:ext cx="256032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F5F0E8"/>
                </a:solidFill>
                <a:latin typeface="Calibri"/>
              </a:defRPr>
            </a:pPr>
            <a:r>
              <a:t>2040年に約170自治体で</a:t>
            </a:r>
            <a:br/>
            <a:r>
              <a:t>内科診療所ゼロの推計</a:t>
            </a:r>
            <a:br/>
            <a:r>
              <a:t>24時間対応の物理的困難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468880"/>
            <a:ext cx="2743200" cy="192024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514600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E89B3B"/>
                </a:solidFill>
                <a:latin typeface="Calibri"/>
              </a:defRPr>
            </a:pPr>
            <a:r>
              <a:t>痛み管理格差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80360"/>
            <a:ext cx="256032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F5F0E8"/>
                </a:solidFill>
                <a:latin typeface="Calibri"/>
              </a:defRPr>
            </a:pPr>
            <a:r>
              <a:t>在宅ではオピオイド持続皮下注等</a:t>
            </a:r>
            <a:br/>
            <a:r>
              <a:t>の専門スキル不足</a:t>
            </a:r>
            <a:br/>
            <a:r>
              <a:t>家族の介護負担の限界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468880"/>
            <a:ext cx="2743200" cy="192024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514600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E89B3B"/>
                </a:solidFill>
                <a:latin typeface="Calibri"/>
              </a:defRPr>
            </a:pPr>
            <a:r>
              <a:t>教育格差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80360"/>
            <a:ext cx="256032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F5F0E8"/>
                </a:solidFill>
                <a:latin typeface="Calibri"/>
              </a:defRPr>
            </a:pPr>
            <a:r>
              <a:t>介護職向け緩和ケア教育</a:t>
            </a:r>
            <a:br/>
            <a:r>
              <a:t>は約10%のみ</a:t>
            </a:r>
            <a:br/>
            <a:r>
              <a:t>アウトリーチ活動9.3%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7A8A9A"/>
                </a:solidFill>
                <a:latin typeface="Calibri"/>
              </a:defRPr>
            </a:pPr>
            <a:r>
              <a:t>[ガニェ事象5: 学習の案内]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ケース:「自宅で最期まで」が叶わなかったAさん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E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70代男性、進行膵がん。緩和ケア病棟で症状安定後、ACPで「自宅で最期を」と合意し退院。</a:t>
            </a:r>
            <a:br/>
            <a:r>
              <a:t>退院2週間後、夜間の突然の激しい腹痛。妻がパニックで119番通報。</a:t>
            </a:r>
            <a:br/>
            <a:r>
              <a:t>救急搬送 → 緩和ケア病棟に再入院 → 5日後に病棟で死亡。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9B3B"/>
                </a:solidFill>
                <a:latin typeface="Calibri"/>
              </a:defRPr>
            </a:pPr>
            <a:r>
              <a:t>ディスカッション（ペアまたは3人グループ、3分）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1. このケースで不一致を防げたポイントはどこか？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2. 退院前に、どのような「仕組み」があればよかったか？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3. 家族（妻）にどのような事前準備ができたか？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66344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7A8A9A"/>
                </a:solidFill>
                <a:latin typeface="Calibri"/>
              </a:defRPr>
            </a:pPr>
            <a:r>
              <a:t>[ガニェ事象6: 練習の実施 / 事象7: フィードバック]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F5F0E8"/>
                </a:solidFill>
                <a:latin typeface="Calibri"/>
              </a:defRPr>
            </a:pPr>
            <a:r>
              <a:t>Phase 1-4のトランジション設計で何ができたか？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539496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タイミング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Aさんのケースでの具体策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入院後72時間以内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ACP開始、在宅資源アセスメント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在宅準備期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家族への疼痛管理教育、レスキュー薬の事前配置、24時間連絡先の確認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退院後48時間以内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訪問診療医初回訪問、家族の不安への対応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在宅療養期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定期的な方針再確認（ACPの反復）、バックアップベッドの確保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657600"/>
            <a:ext cx="54864" cy="64008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657600"/>
            <a:ext cx="81198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730752"/>
            <a:ext cx="7863840" cy="4937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Georgia"/>
              </a:defRPr>
            </a:pPr>
            <a:r>
              <a:t>ACPは「一度やれば終わり」ではなく、トランジションごとに再確認・再調整するプロセス。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7A8A9A"/>
                </a:solidFill>
                <a:latin typeface="Calibri"/>
              </a:defRPr>
            </a:pPr>
            <a:r>
              <a:t>[ガニェ事象6: 練習の実施（続）]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5F0E8"/>
                </a:solidFill>
                <a:latin typeface="Calibri"/>
              </a:defRPr>
            </a:pPr>
            <a:r>
              <a:t>振り返りと、明日からの臨床への問い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731520" cy="73152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315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868680"/>
            <a:ext cx="71323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t>一致率80-82%は国際的に上位だが、</a:t>
            </a:r>
            <a:br/>
            <a:r>
              <a:t>「5人に1人」の不一致は構造的課題が原因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315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83080"/>
            <a:ext cx="71323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t>不一致は「医師偏在」「痛み管理格差」</a:t>
            </a:r>
            <a:br/>
            <a:r>
              <a:t>「教育格差」の3層で生じている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731520" cy="73152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315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97479"/>
            <a:ext cx="71323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t>ACPは「紙の文書」ではなく</a:t>
            </a:r>
            <a:br/>
            <a:r>
              <a:t>「繰り返しの対話プロセス」として機能させる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9B3B"/>
                </a:solidFill>
                <a:latin typeface="Calibri"/>
              </a:defRPr>
            </a:pPr>
            <a:r>
              <a:t>持ち帰りの問い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7772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t>「あなたの診療圏で、在宅看取りを阻んでいる最大の構造的障壁は何ですか？」</a:t>
            </a:r>
            <a:br/>
            <a:r>
              <a:t>「次に看取りに関わるとき、ACPの再確認をどのタイミングで行いますか？」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66344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7A8A9A"/>
                </a:solidFill>
                <a:latin typeface="Calibri"/>
              </a:defRPr>
            </a:pPr>
            <a:r>
              <a:t>[ガニェ事象8: 学習成果の評価 / 事象9: 保持と転移]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