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Noto Sans CJK JP"/>
              </a:defRPr>
            </a:pPr>
            <a:r>
              <a:t>私たちのケアが寿命を支えている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CB85C"/>
                </a:solidFill>
                <a:latin typeface="Noto Sans CJK JP"/>
              </a:defRPr>
            </a:pPr>
            <a:r>
              <a:t>-- 日本とスウェーデンの比較研究から --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Noto Sans CJK JP"/>
              </a:defRPr>
            </a:pPr>
            <a:r>
              <a:t>全スタッフ向け  |  10分  |  2026-03-29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9B3E"/>
                </a:solidFill>
                <a:latin typeface="Noto Sans CJK JP"/>
              </a:defRPr>
            </a:pPr>
            <a:r>
              <a:t>クイズ: 日本人が長生きな理由は?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Noto Sans CJK JP"/>
              </a:defRPr>
            </a:pPr>
            <a:r>
              <a:t>A. 和食が健康的だから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Noto Sans CJK JP"/>
              </a:defRPr>
            </a:pPr>
            <a:r>
              <a:t>B. 医療技術が高いから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Noto Sans CJK JP"/>
              </a:defRPr>
            </a:pPr>
            <a:r>
              <a:t>C. 介護やケアの力が強いから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Noto Sans CJK JP"/>
              </a:defRPr>
            </a:pPr>
            <a:r>
              <a:t>D. 遺伝的に丈夫だから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EA8DE"/>
                </a:solidFill>
                <a:latin typeface="Noto Sans CJK JP"/>
              </a:defRPr>
            </a:pPr>
            <a:r>
              <a:t>正解は... この10分で一緒に考えましょう!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CB85C"/>
                </a:solidFill>
                <a:latin typeface="Noto Sans CJK JP"/>
              </a:defRPr>
            </a:pPr>
            <a:r>
              <a:t>今日のゴール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Noto Sans CJK JP"/>
              </a:defRPr>
            </a:pPr>
            <a:r>
              <a:t>この10分の後、あなたは: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t>1. 日本の長寿の「本当の理由」をざっくり説明できる (理解)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t>2. 自分の仕事がどう長寿に貢献しているかを言葉にできる (適用)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t>3. 明日からのケアを少し違った目で見られる (評価)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Noto Sans CJK JP"/>
              </a:defRPr>
            </a:pPr>
            <a:r>
              <a:t>最新の研究結果 (2026年3月)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t>カロリンスカ研究所 (スウェーデン) の大規模調査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Noto Sans CJK JP"/>
              </a:defRPr>
            </a:pPr>
            <a:r>
              <a:t>スウェーデンと日本の 75歳以上の全データ を比較しました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E89B3E"/>
                </a:solidFill>
                <a:latin typeface="Noto Sans CJK JP"/>
              </a:defRPr>
            </a:pPr>
            <a:r>
              <a:t>「日本人が長生きなのは、国民が健康だからではないかもしれない」</a:t>
            </a:r>
            <a:br/>
            <a:r>
              <a:t>-- 研究責任者 Karin Modig 教授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9B3E"/>
                </a:solidFill>
                <a:latin typeface="Noto Sans CJK JP"/>
              </a:defRPr>
            </a:pPr>
            <a:r>
              <a:t>驚きのデータ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CJK JP"/>
              </a:defRPr>
            </a:pPr>
            <a:r>
              <a:t>「健康に暮らせる年数」は日本もスウェーデンもほぼ同じ!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56032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</a:p>
                  </a:txBody>
                  <a:tcPr>
                    <a:solidFill>
                      <a:srgbClr val="5CB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日本</a:t>
                      </a:r>
                    </a:p>
                  </a:txBody>
                  <a:tcPr>
                    <a:solidFill>
                      <a:srgbClr val="5CB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スウェーデン</a:t>
                      </a:r>
                    </a:p>
                  </a:txBody>
                  <a:tcPr>
                    <a:solidFill>
                      <a:srgbClr val="5CB85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健康に暮らせる年数 (男性)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9.8年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9.6年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健康に暮らせる年数 (女性)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10.4年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9.9年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4EA8DE"/>
                </a:solidFill>
                <a:latin typeface="Noto Sans CJK JP"/>
              </a:defRPr>
            </a:pPr>
            <a:r>
              <a:t>ほとんど差がないですよね?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Noto Sans CJK JP"/>
              </a:defRPr>
            </a:pPr>
            <a:r>
              <a:t>では、なぜ日本人は長生き?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CB85C"/>
                </a:solidFill>
                <a:latin typeface="Noto Sans CJK JP"/>
              </a:defRPr>
            </a:pPr>
            <a:r>
              <a:t>答え: 介護を受けている人の死亡率が低い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56032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</a:p>
                  </a:txBody>
                  <a:tcPr>
                    <a:solidFill>
                      <a:srgbClr val="E89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日本女性</a:t>
                      </a:r>
                    </a:p>
                  </a:txBody>
                  <a:tcPr>
                    <a:solidFill>
                      <a:srgbClr val="E89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スウェーデン女性</a:t>
                      </a:r>
                    </a:p>
                  </a:txBody>
                  <a:tcPr>
                    <a:solidFill>
                      <a:srgbClr val="E89B3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介護を受けている期間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5.1年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3.8年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75歳からの余命 (合計)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15.5年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13.7年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JP"/>
              </a:defRPr>
            </a:pPr>
            <a:r>
              <a:t>日本の介護を受けている高齢者は、スウェーデンより長く生きている</a:t>
            </a:r>
            <a:br/>
            <a:r>
              <a:t>これが日本の長寿の大きな理由です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9B3E"/>
                </a:solidFill>
                <a:latin typeface="Noto Sans CJK JP"/>
              </a:defRPr>
            </a:pPr>
            <a:r>
              <a:t>つまり、こういうことです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CCCCCC"/>
                </a:solidFill>
                <a:latin typeface="Noto Sans CJK JP"/>
              </a:defRPr>
            </a:pPr>
            <a:r>
              <a:t>【通説】 日本人は健康だから -&gt; 長生き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Noto Sans CJK JP"/>
              </a:defRPr>
            </a:pPr>
            <a:r>
              <a:t>【研究結果】 健康な期間はほぼ同じ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Noto Sans CJK JP"/>
              </a:defRPr>
            </a:pPr>
            <a:r>
              <a:t>  日本の長寿 = 介護を受けている人が長く生きている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Noto Sans CJK JP"/>
              </a:defRPr>
            </a:pPr>
            <a:r>
              <a:t>              = ケアの力が寿命を支えている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5CB85C"/>
                </a:solidFill>
                <a:latin typeface="Noto Sans CJK JP"/>
              </a:defRPr>
            </a:pPr>
            <a:r>
              <a:t>皆さんの日々のケアが、日本の長寿を支えているということです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CB85C"/>
                </a:solidFill>
                <a:latin typeface="Noto Sans CJK JP"/>
              </a:defRPr>
            </a:pPr>
            <a:r>
              <a:t>あなたの仕事の力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Noto Sans CJK JP"/>
              </a:defRPr>
            </a:pPr>
            <a:r>
              <a:t>なぜ日本の介護を受けている方は長く生きられるのか?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t>訪問診療・訪問看護で早めに異変に気づける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t>介護士さんの丁寧なケアで生活の質が保たれる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t>ケアマネジャーがチームをつないでくれる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t>家族と専門職が一緒にケアする文化がある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Noto Sans CJK JP"/>
              </a:defRPr>
            </a:pPr>
            <a:r>
              <a:t>介護保険制度で必要なサービスが届く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4EA8DE"/>
                </a:solidFill>
                <a:latin typeface="Noto Sans CJK JP"/>
              </a:defRPr>
            </a:pPr>
            <a:r>
              <a:t>一人ひとりの仕事が、この「チームの力」を作っています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9B3E"/>
                </a:solidFill>
                <a:latin typeface="Noto Sans CJK JP"/>
              </a:defRPr>
            </a:pPr>
            <a:r>
              <a:t>ちょっと考えてみましょう (2分)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Noto Sans CJK JP"/>
              </a:defRPr>
            </a:pPr>
            <a:r>
              <a:t>隣の人と話してみてください:</a:t>
            </a:r>
            <a:br/>
            <a:r>
              <a:t>「自分の仕事のどんな場面が、利用者さん・患者さんの</a:t>
            </a:r>
            <a:br/>
            <a:r>
              <a:t> 『長く生きる力』を支えていると思いますか?」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Noto Sans CJK JP"/>
              </a:defRPr>
            </a:pPr>
            <a:r>
              <a:t>看護師さん: バイタルチェックで異変の早期発見?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Noto Sans CJK JP"/>
              </a:defRPr>
            </a:pPr>
            <a:r>
              <a:t>介護士さん: 食事・入浴・排泄の丁寧なサポート?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Noto Sans CJK JP"/>
              </a:defRPr>
            </a:pPr>
            <a:r>
              <a:t>リハビリスタッフさん: 動ける体を維持するサポート?</a:t>
            </a:r>
          </a:p>
          <a:p>
            <a:pPr>
              <a:spcAft>
                <a:spcPts val="600"/>
              </a:spcAft>
              <a:defRPr sz="1800">
                <a:solidFill>
                  <a:srgbClr val="CCCCCC"/>
                </a:solidFill>
                <a:latin typeface="Noto Sans CJK JP"/>
              </a:defRPr>
            </a:pPr>
            <a:r>
              <a:t>事務スタッフさん: 制度をつなぐ縁の下の力?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A8DE"/>
                </a:solidFill>
                <a:latin typeface="Noto Sans CJK JP"/>
              </a:defRPr>
            </a:pPr>
            <a:r>
              <a:t>職種別 -- 明日からできること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職種</a:t>
                      </a:r>
                    </a:p>
                  </a:txBody>
                  <a:tcPr>
                    <a:solidFill>
                      <a:srgbClr val="5CB8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アクション</a:t>
                      </a:r>
                    </a:p>
                  </a:txBody>
                  <a:tcPr>
                    <a:solidFill>
                      <a:srgbClr val="5CB8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看護師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「このケアが寿命を支えている」と意識して記録をつける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介護士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利用者さんの小さな変化に気づいたら、すぐチームに共有する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リハビリ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「動ける」を維持する目標設定を、本人・家族と一緒に考える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ケアマネ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多職種の「つなぎ役」としての自分の価値を再認識する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事務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介護保険制度が「命を支えるインフラ」であることを誇りに思う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CB85C"/>
                </a:solidFill>
                <a:latin typeface="Noto Sans CJK JP"/>
              </a:defRPr>
            </a:pPr>
            <a:r>
              <a:t>まとめ -- 今日の3つのポイント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Noto Sans CJK JP"/>
              </a:defRPr>
            </a:pPr>
            <a:r>
              <a:t>1. 健康な期間は日本もスウェーデンもほぼ同じ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Noto Sans CJK JP"/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Noto Sans CJK JP"/>
              </a:defRPr>
            </a:pPr>
            <a:r>
              <a:t>2. 日本の長寿は「介護を受けている方のケアの質」が支えている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Noto Sans CJK JP"/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Noto Sans CJK JP"/>
              </a:defRPr>
            </a:pPr>
            <a:r>
              <a:t>3. あなたの仕事が、データとして日本の長寿を支えている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E89B3E"/>
                </a:solidFill>
                <a:latin typeface="Noto Sans CJK JP"/>
              </a:defRPr>
            </a:pPr>
            <a:r>
              <a:t>最初のクイズの答え: C. 介護やケアの力が強いから でした!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9B3E"/>
                </a:solidFill>
                <a:latin typeface="Noto Sans CJK JP"/>
              </a:defRPr>
            </a:pPr>
            <a:r>
              <a:t>持ち帰りの言葉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i="1">
                <a:solidFill>
                  <a:srgbClr val="5CB85C"/>
                </a:solidFill>
                <a:latin typeface="Noto Sans CJK JP"/>
              </a:defRPr>
            </a:pPr>
            <a:r>
              <a:t>「日本人が長生きなのは、私たちのケアがあるからです」</a:t>
            </a:r>
            <a:br/>
            <a:r>
              <a:t>-- 国際比較データがそれを証明しました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A8DE"/>
                </a:solidFill>
                <a:latin typeface="Noto Sans CJK JP"/>
              </a:defRPr>
            </a:pPr>
            <a:r>
              <a:t>もっと知りたい方へ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Noto Sans CJK JP"/>
              </a:defRPr>
            </a:pPr>
            <a:r>
              <a:t>原著論文: BMC Medicine 2026 (左QR)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Noto Sans CJK JP"/>
              </a:defRPr>
            </a:pPr>
            <a:r>
              <a:t>カロリンスカ研究所プレスリリース (右QR)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389120"/>
            <a:ext cx="1371600" cy="1371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4389120"/>
            <a:ext cx="13716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Noto Sans CJK JP"/>
              </a:defRPr>
            </a:pPr>
            <a:r>
              <a:t>教材ダウンロード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60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