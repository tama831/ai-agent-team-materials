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5"/>
                </a:solidFill>
              </a:defRPr>
            </a:pPr>
            <a:r>
              <a:rPr/>
              <a:t>AIは診断を助けるか？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</a:defRPr>
            </a:pPr>
            <a:r>
              <a:rPr/>
              <a:t>臨床推論の認知バイアスと</a:t>
            </a:r>
            <a:br/>
            <a:r>
              <a:rPr/>
              <a:t>AI仮想患者の可能性と限界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rPr/>
              <a:t>研修医・専攻医向け勉強会  |  30分  |  2026-03-25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B8FA8"/>
                </a:solidFill>
              </a:defRPr>
            </a:pPr>
            <a:r>
              <a:rPr/>
              <a:t>Learning Design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rPr/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96167"/>
                </a:solidFill>
              </a:defRPr>
            </a:pPr>
            <a:r>
              <a:rPr/>
              <a:t>AIを使ったら、診断の正解率が下がった。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926080" cy="22860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2560320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6D6A0"/>
                </a:solidFill>
              </a:defRPr>
            </a:pPr>
            <a:r>
              <a:rPr/>
              <a:t>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rPr/>
              <a:t>GPT-4 単独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2926080" cy="22860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560320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D66B"/>
                </a:solidFill>
              </a:defRPr>
            </a:pPr>
            <a:r>
              <a:rPr/>
              <a:t>76%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rPr/>
              <a:t>医師 + GPT-4 補助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645920"/>
            <a:ext cx="2926080" cy="22860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2560320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8B8FA8"/>
                </a:solidFill>
              </a:defRPr>
            </a:pPr>
            <a:r>
              <a:rPr/>
              <a:t>74%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rPr/>
              <a:t>医師 単独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rPr/>
              <a:t>— Frontiers in Digital Health,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54864" cy="10972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</a:defRPr>
            </a:pPr>
            <a:r>
              <a:rPr/>
              <a:t>なぜ、AIを「使える」のに、</a:t>
            </a:r>
            <a:br/>
            <a:r>
              <a:rPr/>
              <a:t>医師の精度はわずか2%しか改善しなかったのか？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rPr/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rPr/>
              <a:t>今日の学習目標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44448"/>
            <a:ext cx="1005840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rPr/>
              <a:t>この30分の後、あなたは：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0058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rPr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rPr/>
              <a:t>説明できる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rPr/>
              <a:t>臨床推論における3大認知バイアス</a:t>
            </a:r>
            <a:br/>
            <a:r>
              <a:rPr/>
              <a:t>（アンカリング・プレマチュアクロージャー・利用可能性H）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10515600" cy="10058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rPr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rPr/>
              <a:t>批判的に吟味できる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rPr/>
              <a:t>AI仮想患者の「機能的忠実度」と</a:t>
            </a:r>
            <a:br/>
            <a:r>
              <a:rPr/>
              <a:t>「会話的忠実度」の違い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rPr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rPr/>
              <a:t>判断できる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69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rPr/>
              <a:t>AIを使うべき場面と、</a:t>
            </a:r>
            <a:br/>
            <a:r>
              <a:rPr/>
              <a:t>使うと逆効果になる場面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12080"/>
            <a:ext cx="10515600" cy="10058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rPr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rPr/>
              <a:t>提案できる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257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rPr/>
              <a:t>自分の研修にAIをどう組み込むかの</a:t>
            </a:r>
            <a:br/>
            <a:r>
              <a:rPr/>
              <a:t>アイデア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rPr/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rPr/>
              <a:t>前提確認 — あなたの認知バイアス体験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D66B"/>
                </a:solidFill>
              </a:defRPr>
            </a:pPr>
            <a:r>
              <a:rPr/>
              <a:t>Quick Poll（挙手）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</a:defRPr>
            </a:pPr>
            <a:r>
              <a:rPr/>
              <a:t>✋  AI（ChatGPTなど）を臨床で使ったことがある人？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7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</a:defRPr>
            </a:pPr>
            <a:r>
              <a:rPr/>
              <a:t>✋  使ったとき、AIの答えに引きずられた経験がある人？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</a:defRPr>
            </a:pPr>
            <a:r>
              <a:rPr/>
              <a:t>✋  逆に「AIは間違っている」と思って無視した経験がある人？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54864" cy="9144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</a:defRPr>
            </a:pPr>
            <a:r>
              <a:rPr/>
              <a:t>どちらも「認知バイアス」の一種です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rPr/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rPr/>
              <a:t>臨床推論の3大認知バイアス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3716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</a:defRPr>
            </a:pPr>
            <a:r>
              <a:rPr/>
              <a:t>1. アンカリングバイアス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0F5"/>
                </a:solidFill>
              </a:defRPr>
            </a:pPr>
            <a:r>
              <a:rPr/>
              <a:t>最初に得た情報に固執し、後の情報を過小評価する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B8FA8"/>
                </a:solidFill>
              </a:defRPr>
            </a:pPr>
            <a:r>
              <a:rPr/>
              <a:t>例: 「胸痛の30歳男性」→ 筋骨格系と決めつけ → 心筋炎を見逃す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54864" cy="137160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rPr/>
              <a:t>2. プレマチュアクロージャー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101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0F5"/>
                </a:solidFill>
              </a:defRPr>
            </a:pPr>
            <a:r>
              <a:rPr/>
              <a:t>十分な情報収集前に診断を確定してしまう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B8FA8"/>
                </a:solidFill>
              </a:defRPr>
            </a:pPr>
            <a:r>
              <a:rPr/>
              <a:t>例: 発熱+咳 → 「風邪でしょう」→ 肺炎を見逃す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9768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4297680"/>
            <a:ext cx="54864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rPr/>
              <a:t>3. 利用可能性ヒューリスティクス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6460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0F5"/>
                </a:solidFill>
              </a:defRPr>
            </a:pPr>
            <a:r>
              <a:rPr/>
              <a:t>最近経験した症例に引きずられる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B8FA8"/>
                </a:solidFill>
              </a:defRPr>
            </a:pPr>
            <a:r>
              <a:rPr/>
              <a:t>例: 先週コロナ10人 → 今日の発熱もコロナだろう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B8FA8"/>
                </a:solidFill>
              </a:defRPr>
            </a:pPr>
            <a:r>
              <a:rPr/>
              <a:t>共通点: ワーキングメモリの制約（同時に4-5項目しか処理できない）が根本原因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rPr/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rPr/>
              <a:t>AIはこれを「解決」できるか？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人間の限界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AIの特性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WM 4-5項目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数千のデータを同時処理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最近の経験に引きずられる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訓練データ全体を均等に参照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疲労で精度低下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24時間一定の精度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1つの仮説に固執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複数仮説を並列評価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389120"/>
            <a:ext cx="54864" cy="1645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97280" y="4480560"/>
            <a:ext cx="9144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6167"/>
                </a:solidFill>
              </a:defRPr>
            </a:pPr>
            <a:r>
              <a:rPr/>
              <a:t>しかし現実は...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914400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0F5"/>
                </a:solidFill>
              </a:defRPr>
            </a:pPr>
            <a:r>
              <a:rPr/>
              <a:t>AIを「答え合わせ」に使うと、自分の仮説をAIに確認させるだけになる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14400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96167"/>
                </a:solidFill>
              </a:defRPr>
            </a:pPr>
            <a:r>
              <a:rPr/>
              <a:t>→ アンカリングバイアスを増強してしまう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rPr/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rPr/>
              <a:t>AIの「正しい使い方」—— 3つの役割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rPr/>
              <a:t>Framework Coach（枠組みコーチ）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rPr/>
              <a:t>「この症例で見落としている鑑別は？」</a:t>
            </a:r>
            <a:br/>
            <a:r>
              <a:rPr/>
              <a:t>と構造化を促す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D66B"/>
                </a:solidFill>
              </a:defRPr>
            </a:pPr>
            <a:r>
              <a:rPr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rPr/>
              <a:t>Socratic Guide（ソクラテス的ガイド）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rPr/>
              <a:t>「なぜその診断だと思いますか？他の可能性は？」</a:t>
            </a:r>
            <a:br/>
            <a:r>
              <a:rPr/>
              <a:t>と問いを立てる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9768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96167"/>
                </a:solidFill>
              </a:defRPr>
            </a:pPr>
            <a:r>
              <a:rPr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</a:defRPr>
            </a:pPr>
            <a:r>
              <a:rPr/>
              <a:t>Red Team Partner（レッドチーム）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rPr/>
              <a:t>「あなたの診断が間違っているとしたら、</a:t>
            </a:r>
            <a:br/>
            <a:r>
              <a:rPr/>
              <a:t>最も危険な見逃しは？」と反論する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66B"/>
                </a:solidFill>
              </a:defRPr>
            </a:pPr>
            <a:r>
              <a:rPr/>
              <a:t>AIは「答えを出す道具」ではなく「問いを立てる鏡」として使うと効果的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rPr/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D6A0"/>
                </a:solidFill>
              </a:defRPr>
            </a:pPr>
            <a:r>
              <a:rPr/>
              <a:t>ハンズオン体験（5分）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44448"/>
            <a:ext cx="10058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D66B"/>
                </a:solidFill>
              </a:defRPr>
            </a:pPr>
            <a:r>
              <a:rPr/>
              <a:t>ペアワーク: AIに問診させてみよう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0F5"/>
                </a:solidFill>
              </a:defRPr>
            </a:pPr>
            <a:r>
              <a:rPr/>
              <a:t>症例: 45歳女性、2週間前からの倦怠感と微熱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rPr/>
              <a:t>  1.  Aさん: ChatGPT/Claudeに「患者役」をさせて問診（2分）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rPr/>
              <a:t>  2.  Bさん: AIに「ソクラテス的ガイド」として鑑別診断を検証（2分）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rPr/>
              <a:t>  3.  体験を比較: どちらが「考えさせられた」か？（1分）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5029200" cy="20116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572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4D8"/>
                </a:solidFill>
              </a:defRPr>
            </a:pPr>
            <a:r>
              <a:rPr/>
              <a:t>プロンプト例（患者役）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rPr/>
              <a:t>あなたは45歳女性の患者です。</a:t>
            </a:r>
            <a:br/>
            <a:r>
              <a:rPr/>
              <a:t>2週間前からの倦怠感と微熱で</a:t>
            </a:r>
            <a:br/>
            <a:r>
              <a:rPr/>
              <a:t>受診しました。医学生の問診練習に</a:t>
            </a:r>
            <a:br/>
            <a:r>
              <a:rPr/>
              <a:t>協力してください。質問されるまで</a:t>
            </a:r>
            <a:br/>
            <a:r>
              <a:rPr/>
              <a:t>情報を出さないでください。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14800"/>
            <a:ext cx="5029200" cy="20116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572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D66B"/>
                </a:solidFill>
              </a:defRPr>
            </a:pPr>
            <a:r>
              <a:rPr/>
              <a:t>プロンプト例（ソクラテス的ガイド）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rPr/>
              <a:t>私は研修医です。45歳女性、倦怠感</a:t>
            </a:r>
            <a:br/>
            <a:r>
              <a:rPr/>
              <a:t>と微熱の患者を診ています。私の鑑別</a:t>
            </a:r>
            <a:br/>
            <a:r>
              <a:rPr/>
              <a:t>診断に対して、見落としている可能性</a:t>
            </a:r>
            <a:br/>
            <a:r>
              <a:rPr/>
              <a:t>をソクラテス的に問いかけてください。</a:t>
            </a:r>
            <a:br/>
            <a:r>
              <a:rPr/>
              <a:t>答えは教えないでください。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rPr/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</a:defRPr>
            </a:pPr>
            <a:r>
              <a:rPr/>
              <a:t>AI仮想患者のエビデンス — 何が分かっているか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86200"/>
                <a:gridCol w="38862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D66B"/>
                          </a:solidFill>
                        </a:defRPr>
                      </a:pPr>
                    </a:p>
                  </a:txBody>
                  <a:tcPr>
                    <a:solidFill>
                      <a:srgbClr val="2A2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D66B"/>
                          </a:solidFill>
                        </a:defRPr>
                      </a:pPr>
                      <a:r>
                        <a:t>多施設横断研究</a:t>
                      </a:r>
                    </a:p>
                    <a:p>
                      <a:pPr>
                        <a:defRPr sz="1300" b="1">
                          <a:solidFill>
                            <a:srgbClr val="FFD66B"/>
                          </a:solidFill>
                        </a:defRPr>
                      </a:pPr>
                      <a:r>
                        <a:t>(JMIR 2026/3)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D66B"/>
                          </a:solidFill>
                        </a:defRPr>
                      </a:pPr>
                      <a:r>
                        <a:t>システマティックレビュー</a:t>
                      </a:r>
                    </a:p>
                    <a:p>
                      <a:pPr>
                        <a:defRPr sz="1300" b="1">
                          <a:solidFill>
                            <a:srgbClr val="FFD66B"/>
                          </a:solidFill>
                        </a:defRPr>
                      </a:pPr>
                      <a:r>
                        <a:t>(JMIR 2026)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研究数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1（多施設）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39本の統合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対象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英国GP・医学生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国際的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機能的忠実度</a:t>
                      </a:r>
                    </a:p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（臨床精度）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高い ✅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高い ✅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会話的忠実度</a:t>
                      </a:r>
                    </a:p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（人間らしさ）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低い ⚠️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低い ⚠️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多疾患対応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未検証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苦手 ❌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754880"/>
            <a:ext cx="54864" cy="7315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rPr/>
              <a:t>2つの独立した研究が同じ結論 → 現在のLLM技術の構造的限界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669280"/>
            <a:ext cx="5029200" cy="5486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B8FA8"/>
                </a:solidFill>
              </a:defRPr>
            </a:pPr>
            <a:r>
              <a:rPr/>
              <a:t>機能的忠実度: 臨床シナリオの正確さ（症状・検査値が医学的に正しいか）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5669280"/>
            <a:ext cx="5029200" cy="5486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0" y="5715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B8FA8"/>
                </a:solidFill>
              </a:defRPr>
            </a:pPr>
            <a:r>
              <a:rPr/>
              <a:t>会話的忠実度: 人間の会話らしさ（自然な間、感情表現、非言語的要素）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rPr/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</a:defRPr>
            </a:pPr>
            <a:r>
              <a:rPr/>
              <a:t>なぜ「会話的忠実度」が低いのか？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81887"/>
            <a:ext cx="109728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B8FA8"/>
                </a:solidFill>
              </a:defRPr>
            </a:pPr>
            <a:r>
              <a:rPr/>
              <a:t>Aziz (2026) の Systems &amp; Complexity Lifecycle で理解する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16459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1645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10312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</a:defRPr>
            </a:pPr>
            <a:r>
              <a:rPr/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57248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rPr/>
              <a:t>安定・恒常性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rPr/>
              <a:t>予測可能</a:t>
            </a:r>
            <a:br/>
            <a:r>
              <a:rPr/>
              <a:t>ルールベース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371600"/>
            <a:ext cx="2560320" cy="16459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54864" cy="164592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840480" y="1463040"/>
            <a:ext cx="210312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6B"/>
                </a:solidFill>
              </a:defRPr>
            </a:pPr>
            <a:r>
              <a:rPr/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57248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rPr/>
              <a:t>創発・適応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rPr/>
              <a:t>パターンが</a:t>
            </a:r>
            <a:br/>
            <a:r>
              <a:rPr/>
              <a:t>動的に変化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560320" cy="16459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4864" cy="1645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675120" y="1463040"/>
            <a:ext cx="210312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6167"/>
                </a:solidFill>
              </a:defRPr>
            </a:pPr>
            <a:r>
              <a:rPr/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57248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rPr/>
              <a:t>カオス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rPr/>
              <a:t>予測不能</a:t>
            </a:r>
            <a:br/>
            <a:r>
              <a:rPr/>
              <a:t>非線形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560320" cy="16459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ectangle 20"/>
          <p:cNvSpPr/>
          <p:nvPr/>
        </p:nvSpPr>
        <p:spPr>
          <a:xfrm>
            <a:off x="9235440" y="1371600"/>
            <a:ext cx="54864" cy="16459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509760" y="1463040"/>
            <a:ext cx="210312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</a:defRPr>
            </a:pPr>
            <a:r>
              <a:rPr/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857248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rPr/>
              <a:t>不連続的変容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rPr/>
              <a:t>根本的な</a:t>
            </a:r>
            <a:br/>
            <a:r>
              <a:rPr/>
              <a:t>パラダイム転換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1737360"/>
            <a:ext cx="457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8B8FA8"/>
                </a:solidFill>
              </a:defRPr>
            </a:pPr>
            <a:r>
              <a:rPr/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737360"/>
            <a:ext cx="457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8B8FA8"/>
                </a:solidFill>
              </a:defRPr>
            </a:pPr>
            <a:r>
              <a:rPr/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1737360"/>
            <a:ext cx="457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8B8FA8"/>
                </a:solidFill>
              </a:defRPr>
            </a:pPr>
            <a:r>
              <a:rPr/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474720"/>
            <a:ext cx="5029200" cy="18288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005840" y="3566160"/>
            <a:ext cx="45720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rPr/>
              <a:t>Stage 1（安定）→ AIが得意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023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0F5"/>
                </a:solidFill>
              </a:defRPr>
            </a:pPr>
            <a:r>
              <a:rPr/>
              <a:t>単一疾患の問診</a:t>
            </a:r>
            <a:br/>
            <a:r>
              <a:rPr/>
              <a:t>ルールベースで再現可能</a:t>
            </a:r>
            <a:br/>
            <a:r>
              <a:rPr/>
              <a:t>→ 機能的忠実度 高い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474720"/>
            <a:ext cx="5029200" cy="18288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492240" y="3566160"/>
            <a:ext cx="45720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6167"/>
                </a:solidFill>
              </a:defRPr>
            </a:pPr>
            <a:r>
              <a:rPr/>
              <a:t>Stage 2以降（創発）→ AIが苦手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23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0F5"/>
                </a:solidFill>
              </a:defRPr>
            </a:pPr>
            <a:r>
              <a:rPr/>
              <a:t>多疾患 + 心理社会的文脈</a:t>
            </a:r>
            <a:br/>
            <a:r>
              <a:rPr/>
              <a:t>創発的対話・関係性が必要</a:t>
            </a:r>
            <a:br/>
            <a:r>
              <a:rPr/>
              <a:t>→ 会話的忠実度 低い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577840"/>
            <a:ext cx="10515600" cy="6400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6B"/>
                </a:solidFill>
              </a:defRPr>
            </a:pPr>
            <a:r>
              <a:rPr/>
              <a:t>家庭医の日常は Stage 2 以降 → 最も必要なシミュレーションがAIの最も苦手な領域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rPr/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</a:defRPr>
            </a:pPr>
            <a:r>
              <a:rPr/>
              <a:t>臨床への実装 — 使い分けマトリクス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  <a:gridCol w="22860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場面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AIの役割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推奨度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OSCE事前練習（単一疾患）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模擬患者の代替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D6A0"/>
                          </a:solidFill>
                        </a:defRPr>
                      </a:pPr>
                      <a:r>
                        <a:t>✅ 推奨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鑑別診断の網羅性チェック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レッドチームパートナー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D6A0"/>
                          </a:solidFill>
                        </a:defRPr>
                      </a:pPr>
                      <a:r>
                        <a:t>✅ 推奨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EBM文献の構造化要約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Framework Coach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D6A0"/>
                          </a:solidFill>
                        </a:defRPr>
                      </a:pPr>
                      <a:r>
                        <a:t>✅ 推奨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複雑症例の臨床判断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答え合わせ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96167"/>
                          </a:solidFill>
                        </a:defRPr>
                      </a:pPr>
                      <a:r>
                        <a:t>❌ 非推奨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多疾患患者のシミュレーション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模擬患者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⚠️ 時期尚早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患者への共感的対応の練習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模擬患者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⚠️ 不十分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D66B"/>
                </a:solidFill>
              </a:defRPr>
            </a:pPr>
            <a:r>
              <a:rPr/>
              <a:t>Stage 1の課題にはAIを積極的に使う  |  Stage 2以降の課題には人間の指導が不可欠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rPr/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D6A0"/>
                </a:solidFill>
              </a:defRPr>
            </a:pPr>
            <a:r>
              <a:rPr/>
              <a:t>ディスカッション（5分）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44448"/>
            <a:ext cx="1005840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rPr/>
              <a:t>3人グループで3分 → 全体共有2分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8288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rPr/>
              <a:t>問い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0007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0F5"/>
                </a:solidFill>
              </a:defRPr>
            </a:pPr>
            <a:r>
              <a:rPr/>
              <a:t>「患者役AI」と「ソクラテス的ガイドAI」</a:t>
            </a:r>
            <a:br/>
            <a:r>
              <a:rPr/>
              <a:t>のどちらが学びになりましたか？ なぜ？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0515600" cy="128016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54864" cy="128016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18288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6B"/>
                </a:solidFill>
              </a:defRPr>
            </a:pPr>
            <a:r>
              <a:rPr/>
              <a:t>問い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04486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0F5"/>
                </a:solidFill>
              </a:defRPr>
            </a:pPr>
            <a:r>
              <a:rPr/>
              <a:t>あなたの研修の中で、AIを「レッドチーム</a:t>
            </a:r>
            <a:br/>
            <a:r>
              <a:rPr/>
              <a:t>パートナー」として使えそうな場面はどこですか？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10515600" cy="128016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54864" cy="12801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18288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6167"/>
                </a:solidFill>
              </a:defRPr>
            </a:pPr>
            <a:r>
              <a:rPr/>
              <a:t>問い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58967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0F5"/>
                </a:solidFill>
              </a:defRPr>
            </a:pPr>
            <a:r>
              <a:rPr/>
              <a:t>「機能的忠実度は高いが会話的忠実度は低い」</a:t>
            </a:r>
            <a:br/>
            <a:r>
              <a:rPr/>
              <a:t>——患者さんへのAI活用でも同じことが言えそうですか？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rPr/>
              <a:t>持ち帰り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rPr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rPr/>
              <a:t>AIは答えを出す道具ではなく、問いを立てる鏡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B8FA8"/>
                </a:solidFill>
              </a:defRPr>
            </a:pPr>
            <a:r>
              <a:rPr/>
              <a:t>受動的に使うとバイアスを増強する。能動的に使うと思考を拡張する。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rPr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rPr/>
              <a:t>「機能」と「会話」は別物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B8FA8"/>
                </a:solidFill>
              </a:defRPr>
            </a:pPr>
            <a:r>
              <a:rPr/>
              <a:t>AIは臨床的に正確だが人間的ではない。Stage 1/2 の構造的違いで説明できる。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39"/>
            <a:ext cx="10515600" cy="10972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7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rPr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404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rPr/>
              <a:t>家庭医が扱う複雑さは、現在のAIの限界の先にある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976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B8FA8"/>
                </a:solidFill>
              </a:defRPr>
            </a:pPr>
            <a:r>
              <a:rPr/>
              <a:t>だからこそ、限界を知った上で使いこなす力がこれからの医師に必要。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29200"/>
            <a:ext cx="10515600" cy="11887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54864" cy="118872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rPr/>
              <a:t>明日の外来でAIに1回聞いてみてください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rPr/>
              <a:t>「この患者の鑑別で私が見落としている可能性は？」とAIに聞いてみる。</a:t>
            </a:r>
            <a:br/>
            <a:r>
              <a:rPr/>
              <a:t>来週、その体験をシェアしましょう。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B8FA8"/>
                </a:solidFill>
              </a:defRPr>
            </a:pPr>
            <a:r>
              <a:rPr/>
              <a:t>Learning Design Lab  |  2026-03-25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