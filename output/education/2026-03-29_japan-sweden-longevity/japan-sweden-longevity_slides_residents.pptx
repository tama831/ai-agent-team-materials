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Noto Sans CJK JP"/>
              </a:defRPr>
            </a:pPr>
            <a:r>
              <a:rPr/>
              <a:t>長寿 = 健康ではない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EA8DE"/>
                </a:solidFill>
                <a:latin typeface="Noto Sans CJK JP"/>
              </a:defRPr>
            </a:pPr>
            <a:r>
              <a:rPr/>
              <a:t>-- データで考える在宅医療の意義 --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Noto Sans CJK JP"/>
              </a:defRPr>
            </a:pPr>
            <a:r>
              <a:rPr/>
              <a:t>研修医・専攻医向け  |  15分  |  2026-03-29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Noto Sans CJK JP"/>
              </a:defRPr>
            </a:pPr>
            <a:r>
              <a:rPr/>
              <a:t>BMC Medicine 2026 -- Murata, Modig et 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Noto Sans CJK JP"/>
              </a:defRPr>
            </a:pPr>
            <a:r>
              <a:rPr/>
              <a:t>問い: なぜ日本人は長生きなのか?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Noto Sans CJK JP"/>
              </a:defRPr>
            </a:pPr>
            <a:r>
              <a:rPr/>
              <a:t>あなたの答えを一つ、頭の中に思い浮かべてください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Noto Sans CJK JP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Noto Sans CJK JP"/>
              </a:defRPr>
            </a:pPr>
            <a:r>
              <a:rPr/>
              <a:t>食事? 遺伝? 医療制度? 運動習慣?</a:t>
            </a:r>
          </a:p>
          <a:p>
            <a:pPr>
              <a:spcAft>
                <a:spcPts val="600"/>
              </a:spcAft>
              <a:defRPr sz="2000">
                <a:solidFill>
                  <a:srgbClr val="CCCCCC"/>
                </a:solidFill>
                <a:latin typeface="Noto Sans CJK JP"/>
              </a:defRPr>
            </a:pPr>
            <a:r>
              <a:rPr/>
              <a:t>今日のデータは、その常識を覆すかもしれません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CB85C"/>
                </a:solidFill>
                <a:latin typeface="Noto Sans CJK JP"/>
              </a:defRPr>
            </a:pPr>
            <a:r>
              <a:rPr/>
              <a:t>この勉強会のゴール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Noto Sans CJK JP"/>
              </a:defRPr>
            </a:pPr>
            <a:r>
              <a:rPr/>
              <a:t>この15分の後、あなたは: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Noto Sans CJK JP"/>
              </a:defRPr>
            </a:pPr>
            <a:r>
              <a:rPr/>
              <a:t>1. 日瑞比較研究の主要データを説明できる (理解)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Noto Sans CJK JP"/>
              </a:defRPr>
            </a:pPr>
            <a:r>
              <a:rPr/>
              <a:t>2. 「長寿=健康な国民」という仮説を批判的に吟味できる (分析)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Noto Sans CJK JP"/>
              </a:defRPr>
            </a:pPr>
            <a:r>
              <a:rPr/>
              <a:t>3. 在宅医療の意義を国際比較データで語る準備ができる (創造)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9B3E"/>
                </a:solidFill>
                <a:latin typeface="Noto Sans CJK JP"/>
              </a:defRPr>
            </a:pPr>
            <a:r>
              <a:rPr/>
              <a:t>前提知識: 健康寿命と平均寿命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Noto Sans CJK JP"/>
              </a:defRPr>
            </a:pPr>
            <a:r>
              <a:rPr/>
              <a:t>平均寿命: 0歳時点の平均余命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Noto Sans CJK JP"/>
              </a:defRPr>
            </a:pPr>
            <a:r>
              <a:rPr/>
              <a:t>健康寿命: 日常生活に制限なく生活できる期間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Noto Sans CJK JP"/>
              </a:defRPr>
            </a:pPr>
            <a:r>
              <a:rPr/>
              <a:t>日本 (2022年): 男性 81.05歳 (健康寿命 72.57歳)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Noto Sans CJK JP"/>
              </a:defRPr>
            </a:pPr>
            <a:r>
              <a:rPr/>
              <a:t>                     女性 87.09歳 (健康寿命 75.45歳)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Noto Sans CJK JP"/>
              </a:defRPr>
            </a:pPr>
            <a:r>
              <a:rPr/>
              <a:t>ギャップ = 不健康な期間: 男性 約8.5年、女性 約11.6年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4EA8DE"/>
                </a:solidFill>
                <a:latin typeface="Noto Sans CJK JP"/>
              </a:defRPr>
            </a:pPr>
            <a:r>
              <a:rPr/>
              <a:t>この「ギャップ」の期間に何が起きているかが、今日の論文の焦点です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A8DE"/>
                </a:solidFill>
                <a:latin typeface="Noto Sans CJK JP"/>
              </a:defRPr>
            </a:pPr>
            <a:r>
              <a:rPr/>
              <a:t>研究の概要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8988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9B3E"/>
                </a:solidFill>
                <a:latin typeface="Noto Sans CJK JP"/>
              </a:defRPr>
            </a:pPr>
            <a:r>
              <a:rPr/>
              <a:t>Understanding Japan's mortality advantage (BMC Medicine, 2026.3.23)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Noto Sans CJK JP"/>
              </a:defRPr>
            </a:pPr>
            <a:r>
              <a:rPr/>
              <a:t>研究チーム: カロリンスカ研究所 Karin Modig ら (九州大学・神戸大学と共同)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Noto Sans CJK JP"/>
              </a:defRPr>
            </a:pPr>
            <a:r>
              <a:rPr/>
              <a:t>筆頭著者: Shunsuke Murata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Noto Sans CJK JP"/>
              </a:defRPr>
            </a:pPr>
            <a:r>
              <a:rPr/>
              <a:t>デザイン: 後ろ向きコホート (全人口レジストリデータ)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Noto Sans CJK JP"/>
              </a:defRPr>
            </a:pPr>
            <a:r>
              <a:rPr/>
              <a:t>対象: 75歳以上 -- 日本9自治体 (33万人超) vs スウェーデン (85万人超)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Noto Sans CJK JP"/>
              </a:defRPr>
            </a:pPr>
            <a:r>
              <a:rPr/>
              <a:t>分析手法: 75歳時の残余余命を「介護なし期間」と「介護受給期間」に分解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CB85C"/>
                </a:solidFill>
                <a:latin typeface="Noto Sans CJK JP"/>
              </a:defRPr>
            </a:pPr>
            <a:r>
              <a:rPr/>
              <a:t>核心データ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指標</a:t>
                      </a:r>
                    </a:p>
                  </a:txBody>
                  <a:tcPr>
                    <a:solidFill>
                      <a:srgbClr val="4EA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日本女性</a:t>
                      </a:r>
                    </a:p>
                  </a:txBody>
                  <a:tcPr>
                    <a:solidFill>
                      <a:srgbClr val="4EA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スウェーデン女性</a:t>
                      </a:r>
                    </a:p>
                  </a:txBody>
                  <a:tcPr>
                    <a:solidFill>
                      <a:srgbClr val="4EA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日本男性</a:t>
                      </a:r>
                    </a:p>
                  </a:txBody>
                  <a:tcPr>
                    <a:solidFill>
                      <a:srgbClr val="4EA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スウェーデン男性</a:t>
                      </a:r>
                    </a:p>
                  </a:txBody>
                  <a:tcPr>
                    <a:solidFill>
                      <a:srgbClr val="4EA8D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健康寿命 (介護なし)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10.4年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9.9年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9.8年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9.6年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介護受給期間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5.1年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3.8年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2.2年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2.1年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75歳時残余余命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15.5年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13.7年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12.0年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11.7年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E89B3E"/>
                </a:solidFill>
                <a:latin typeface="Noto Sans CJK JP"/>
              </a:defRPr>
            </a:pPr>
            <a:r>
              <a:rPr/>
              <a:t>健康寿命はほぼ同等。差が生まれているのは「介護を受けている期間」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9B3E"/>
                </a:solidFill>
                <a:latin typeface="Noto Sans CJK JP"/>
              </a:defRPr>
            </a:pPr>
            <a:r>
              <a:rPr/>
              <a:t>核心的発見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rPr/>
              <a:t>日本の平均寿命の優位性は「介護受給者の低死亡率」に起因する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Noto Sans CJK JP"/>
              </a:defRPr>
            </a:pPr>
            <a:r>
              <a:rPr/>
              <a:t>介護を受けずに暮らせる年数 (健康寿命) は日瑞でほぼ差がない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Noto Sans CJK JP"/>
              </a:defRPr>
            </a:pPr>
            <a:r>
              <a:rPr/>
              <a:t>日本女性の優位 (+1.8年) の大部分は介護受給期間の長さ (5.1年 vs 3.8年)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Noto Sans CJK JP"/>
              </a:defRPr>
            </a:pPr>
            <a:r>
              <a:rPr/>
              <a:t>-&gt; 介護受給者の死亡率が日本で有意に低い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4EA8DE"/>
                </a:solidFill>
                <a:latin typeface="Noto Sans CJK JP"/>
              </a:defRPr>
            </a:pPr>
            <a:r>
              <a:rPr/>
              <a:t>Karin Modig: "Perhaps Japan's long life expectancy is not primarily due to the population being healthier"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A8DE"/>
                </a:solidFill>
                <a:latin typeface="Noto Sans CJK JP"/>
              </a:defRPr>
            </a:pPr>
            <a:r>
              <a:rPr/>
              <a:t>批判的吟味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5CB85C"/>
                </a:solidFill>
                <a:latin typeface="Noto Sans CJK JP"/>
              </a:defRPr>
            </a:pPr>
            <a:r>
              <a:rPr/>
              <a:t>Strengths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Noto Sans CJK JP"/>
              </a:defRPr>
            </a:pPr>
            <a:r>
              <a:rPr/>
              <a:t>全人口レジストリデータ (選択バイアス小)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Noto Sans CJK JP"/>
              </a:defRPr>
            </a:pPr>
            <a:r>
              <a:rPr/>
              <a:t>75歳以上に限定し比較可能性を確保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Noto Sans CJK JP"/>
              </a:defRPr>
            </a:pPr>
            <a:r>
              <a:rPr/>
              <a:t>査読済み (BMC Medicine, IF 7.0+)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9B3E"/>
                </a:solidFill>
                <a:latin typeface="Noto Sans CJK JP"/>
              </a:defRPr>
            </a:pPr>
            <a:r>
              <a:rPr/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Noto Sans CJK JP"/>
              </a:defRPr>
            </a:pPr>
            <a:r>
              <a:rPr/>
              <a:t>「介護認定」の定義が日瑞で異なる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Noto Sans CJK JP"/>
              </a:defRPr>
            </a:pPr>
            <a:r>
              <a:rPr/>
              <a:t>日本は9自治体のみ (全国代表性の限界)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Noto Sans CJK JP"/>
              </a:defRPr>
            </a:pPr>
            <a:r>
              <a:rPr/>
              <a:t>死亡率の「なぜ」は未解明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Noto Sans CJK JP"/>
              </a:defRPr>
            </a:pPr>
            <a:r>
              <a:rPr/>
              <a:t>交絡因子の調整が不十分な可能性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5CB85C"/>
                </a:solidFill>
                <a:latin typeface="Noto Sans CJK JP"/>
              </a:defRPr>
            </a:pPr>
            <a:r>
              <a:rPr/>
              <a:t>なぜ日本の介護受給者は死亡率が低いのか?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Noto Sans CJK JP"/>
              </a:defRPr>
            </a:pPr>
            <a:r>
              <a:rPr/>
              <a:t>1. 在宅医療の充実: 訪問診療・訪問看護の体制 (日本のユニークさ)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Noto Sans CJK JP"/>
              </a:defRPr>
            </a:pPr>
            <a:r>
              <a:rPr/>
              <a:t>2. 家族介護の文化: 家族介護 + 公的サービスのハイブリッドモデル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Noto Sans CJK JP"/>
              </a:defRPr>
            </a:pPr>
            <a:r>
              <a:rPr/>
              <a:t>3. 終末期医療の積極性: スウェーデンより積極的医療介入の傾向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Noto Sans CJK JP"/>
              </a:defRPr>
            </a:pPr>
            <a:r>
              <a:rPr/>
              <a:t>4. 介護保険制度: 2000年導入、65歳以上の18.9%が要介護認定 (676.6万人)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CCCCCC"/>
                </a:solidFill>
                <a:latin typeface="Noto Sans CJK JP"/>
              </a:defRPr>
            </a:pPr>
            <a:r>
              <a:rPr/>
              <a:t>対比: スウェーデンはCOVID-19初期に高齢者施設での死亡が突出 (死亡者の90%が70歳以上)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9B3E"/>
                </a:solidFill>
                <a:latin typeface="Noto Sans CJK JP"/>
              </a:defRPr>
            </a:pPr>
            <a:r>
              <a:rPr/>
              <a:t>ペアディスカッション (4分)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A8DE"/>
                </a:solidFill>
                <a:latin typeface="Noto Sans CJK JP"/>
              </a:defRPr>
            </a:pPr>
            <a:r>
              <a:rPr/>
              <a:t>問い1 (2分)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Noto Sans CJK JP"/>
              </a:defRPr>
            </a:pPr>
            <a:r>
              <a:rPr/>
              <a:t>あなたが担当している在宅患者さんを1人思い浮かべてください。</a:t>
            </a:r>
            <a:br/>
            <a:r>
              <a:rPr/>
              <a:t>その方のケアのどの部分が「死亡率を下げる」ことに貢献していると思いますか?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A8DE"/>
                </a:solidFill>
                <a:latin typeface="Noto Sans CJK JP"/>
              </a:defRPr>
            </a:pPr>
            <a:r>
              <a:rPr/>
              <a:t>問い2 (2分)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Noto Sans CJK JP"/>
              </a:defRPr>
            </a:pPr>
            <a:r>
              <a:rPr/>
              <a:t>この研究の知見は、在宅医療の価値を患者・家族にどう説明するときに使えますか?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A8DE"/>
                </a:solidFill>
                <a:latin typeface="Noto Sans CJK JP"/>
              </a:defRPr>
            </a:pPr>
            <a:r>
              <a:rPr/>
              <a:t>ディスカッション共有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CB85C"/>
                </a:solidFill>
                <a:latin typeface="Noto Sans CJK JP"/>
              </a:defRPr>
            </a:pPr>
            <a:r>
              <a:rPr/>
              <a:t>期待される視点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Noto Sans CJK JP"/>
              </a:defRPr>
            </a:pPr>
            <a:r>
              <a:rPr/>
              <a:t>訪問診療による早期介入 (急変の早期発見)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Noto Sans CJK JP"/>
              </a:defRPr>
            </a:pPr>
            <a:r>
              <a:rPr/>
              <a:t>多職種連携のシステム効果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Noto Sans CJK JP"/>
              </a:defRPr>
            </a:pPr>
            <a:r>
              <a:rPr/>
              <a:t>家族を含めたケアチームの存在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Noto Sans CJK JP"/>
              </a:defRPr>
            </a:pPr>
            <a:r>
              <a:rPr/>
              <a:t>「関係性のネットワーク」としてのケアシステム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9B3E"/>
                </a:solidFill>
                <a:latin typeface="Noto Sans CJK JP"/>
              </a:defRPr>
            </a:pPr>
            <a:r>
              <a:rPr/>
              <a:t>倫理的問い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Noto Sans CJK JP"/>
              </a:defRPr>
            </a:pPr>
            <a:r>
              <a:rPr/>
              <a:t>積極的医療介入が寿命延伸に寄与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Noto Sans CJK JP"/>
              </a:defRPr>
            </a:pPr>
            <a:r>
              <a:rPr/>
              <a:t>-&gt; 常に望ましいのか?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Noto Sans CJK JP"/>
              </a:defRPr>
            </a:pPr>
            <a:r>
              <a:rPr/>
              <a:t>QOL と QOD のバランスは?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CB85C"/>
                </a:solidFill>
                <a:latin typeface="Noto Sans CJK JP"/>
              </a:defRPr>
            </a:pPr>
            <a:r>
              <a:rPr/>
              <a:t>振り返り -- 3つの 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Noto Sans CJK JP"/>
              </a:defRPr>
            </a:pPr>
            <a:r>
              <a:rPr/>
              <a:t>1. 日本の長寿は「健康な国民」ではなく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Noto Sans CJK JP"/>
              </a:defRPr>
            </a:pPr>
            <a:r>
              <a:rPr/>
              <a:t>   「ケアシステムの力」が主因かもしれない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Noto Sans CJK JP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Noto Sans CJK JP"/>
              </a:defRPr>
            </a:pPr>
            <a:r>
              <a:rPr/>
              <a:t>2. 健康寿命は日瑞でほぼ同等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Noto Sans CJK JP"/>
              </a:defRPr>
            </a:pPr>
            <a:r>
              <a:rPr/>
              <a:t>   差は「介護受給者の死亡率」にある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Noto Sans CJK JP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Noto Sans CJK JP"/>
              </a:defRPr>
            </a:pPr>
            <a:r>
              <a:rPr/>
              <a:t>3. あなたが関わる在宅ケアの一つ一つが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Noto Sans CJK JP"/>
              </a:defRPr>
            </a:pPr>
            <a:r>
              <a:rPr/>
              <a:t>   日本の長寿統計を支えている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9B3E"/>
                </a:solidFill>
                <a:latin typeface="Noto Sans CJK JP"/>
              </a:defRPr>
            </a:pPr>
            <a:r>
              <a:rPr/>
              <a:t>持ち帰りの問い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>
                <a:solidFill>
                  <a:srgbClr val="4EA8DE"/>
                </a:solidFill>
                <a:latin typeface="Noto Sans CJK JP"/>
              </a:defRPr>
            </a:pPr>
            <a:r>
              <a:rPr/>
              <a:t>明日の訪問診療で:「この患者さんのケアが、国際比較データの中の1データポイントである」と意識したとき、何が変わりますか?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CB85C"/>
                </a:solidFill>
                <a:latin typeface="Noto Sans CJK JP"/>
              </a:defRPr>
            </a:pPr>
            <a:r>
              <a:rPr/>
              <a:t>さらに深めたい方へ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Noto Sans CJK JP"/>
              </a:defRPr>
            </a:pPr>
            <a:r>
              <a:rPr/>
              <a:t>原著論文: BMC Medicine 2026 (左QR)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Noto Sans CJK JP"/>
              </a:defRPr>
            </a:pPr>
            <a:r>
              <a:rPr/>
              <a:t>カロリンスカ研究所プレスリリース (右QR)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389120"/>
            <a:ext cx="1371600" cy="1371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43891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Noto Sans CJK JP"/>
              </a:defRPr>
            </a:pPr>
            <a:r>
              <a:rPr/>
              <a:t>出典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Noto Sans CJK JP"/>
              </a:defRPr>
            </a:pPr>
            <a:r>
              <a:rPr/>
              <a:t>1. Murata S, Modig K, et al. BMC Medicine. 2026. doi:10.1186/s12916-026-04786-z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Noto Sans CJK JP"/>
              </a:defRPr>
            </a:pPr>
            <a:r>
              <a:rPr/>
              <a:t>2. OECD. Health at a Glance 2025: Japan. 2025.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Noto Sans CJK JP"/>
              </a:defRPr>
            </a:pPr>
            <a:r>
              <a:rPr/>
              <a:t>3. 内閣府. 令和6年版高齢社会白書. 2024.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Noto Sans CJK JP"/>
              </a:defRPr>
            </a:pPr>
            <a:r>
              <a:rPr/>
              <a:t>4. Tsutsui T. Int J Integr Care. 2014;14:e002.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Noto Sans CJK JP"/>
              </a:defRPr>
            </a:pPr>
            <a:r>
              <a:rPr/>
              <a:t>教材ダウンロード (GitHub)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60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