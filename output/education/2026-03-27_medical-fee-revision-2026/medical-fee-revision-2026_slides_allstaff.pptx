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6B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A9E8C"/>
                </a:solidFill>
                <a:latin typeface="Calibri"/>
              </a:defRPr>
            </a:pPr>
            <a:r>
              <a:t>2026年度 診療報酬改定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E8A84C"/>
                </a:solidFill>
                <a:latin typeface="Calibri"/>
              </a:defRPr>
            </a:pPr>
            <a:r>
              <a:t>本体 +3.09%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8F0"/>
                </a:solidFill>
                <a:latin typeface="Calibri"/>
              </a:defRPr>
            </a:pPr>
            <a:r>
              <a:t>30年ぶりの大改定 — あなたの生活に直結します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2834640"/>
            <a:ext cx="2743200" cy="54864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560320" y="3108960"/>
          <a:ext cx="40233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</a:tblGrid>
              <a:tr h="2743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8F0"/>
                          </a:solidFill>
                          <a:latin typeface="Calibri"/>
                        </a:defRPr>
                      </a:pPr>
                      <a:r>
                        <a:t>内訳</a:t>
                      </a:r>
                    </a:p>
                  </a:txBody>
                  <a:tcPr>
                    <a:solidFill>
                      <a:srgbClr val="3D6B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8F0"/>
                          </a:solidFill>
                          <a:latin typeface="Calibri"/>
                        </a:defRPr>
                      </a:pPr>
                      <a:r>
                        <a:t>割合</a:t>
                      </a:r>
                    </a:p>
                  </a:txBody>
                  <a:tcPr>
                    <a:solidFill>
                      <a:srgbClr val="3D6B5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賃上げ</a:t>
                      </a:r>
                    </a:p>
                  </a:txBody>
                  <a:tcPr>
                    <a:solidFill>
                      <a:srgbClr val="F0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+1.70%</a:t>
                      </a:r>
                    </a:p>
                  </a:txBody>
                  <a:tcPr>
                    <a:solidFill>
                      <a:srgbClr val="F0F7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物価高騰対応</a:t>
                      </a:r>
                    </a:p>
                  </a:txBody>
                  <a:tcPr>
                    <a:solidFill>
                      <a:srgbClr val="FFF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+0.76%</a:t>
                      </a:r>
                    </a:p>
                  </a:txBody>
                  <a:tcPr>
                    <a:solidFill>
                      <a:srgbClr val="FFF8F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食費・光熱水費</a:t>
                      </a:r>
                    </a:p>
                  </a:txBody>
                  <a:tcPr>
                    <a:solidFill>
                      <a:srgbClr val="F0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+0.09%</a:t>
                      </a:r>
                    </a:p>
                  </a:txBody>
                  <a:tcPr>
                    <a:solidFill>
                      <a:srgbClr val="F0F7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経営改善</a:t>
                      </a:r>
                    </a:p>
                  </a:txBody>
                  <a:tcPr>
                    <a:solidFill>
                      <a:srgbClr val="FFF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+0.44%</a:t>
                      </a:r>
                    </a:p>
                  </a:txBody>
                  <a:tcPr>
                    <a:solidFill>
                      <a:srgbClr val="FFF8F0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297680"/>
            <a:ext cx="54864" cy="54864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4297680"/>
            <a:ext cx="811987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7DB8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370832"/>
            <a:ext cx="7863840" cy="402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Georgia"/>
              </a:defRPr>
            </a:pPr>
            <a:r>
              <a:t>今回の改定は、皆さんの給与・処遇に直接つながる改定です。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2D2D"/>
                </a:solidFill>
                <a:latin typeface="Calibri"/>
              </a:defRPr>
            </a:pPr>
            <a:r>
              <a:t>今日知ってほしいこと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A9E8C"/>
                </a:solidFill>
                <a:latin typeface="Calibri"/>
              </a:defRPr>
            </a:pPr>
            <a:r>
              <a:t>この10分の後、あなたは: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54480"/>
            <a:ext cx="7680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7DB8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A84C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9164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alibri"/>
              </a:defRPr>
            </a:pPr>
            <a:r>
              <a:t>わかる — 今回の改定が自分の給与・業務にどう影響するか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560320"/>
            <a:ext cx="7680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7DB8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651760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A84C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6974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alibri"/>
              </a:defRPr>
            </a:pPr>
            <a:r>
              <a:t>できる — BCP策定への自分の役割を説明できる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566160"/>
            <a:ext cx="7680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7DB8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657600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A84C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70332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alibri"/>
              </a:defRPr>
            </a:pPr>
            <a:r>
              <a:t>判断できる — マイナ保険証の案内など、優先すべきことを選べる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あなたの給与に関わる3つの変更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40080"/>
            <a:ext cx="2286000" cy="54864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8A84C"/>
                </a:solidFill>
                <a:latin typeface="Calibri"/>
              </a:defRPr>
            </a:pPr>
            <a:r>
              <a:t>1  ベースアップ評価料の大幅拡充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43000"/>
          <a:ext cx="4114800" cy="905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</a:tblGrid>
              <a:tr h="30175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8F0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3D6B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8F0"/>
                          </a:solidFill>
                          <a:latin typeface="Calibri"/>
                        </a:defRPr>
                      </a:pPr>
                      <a:r>
                        <a:t>旧</a:t>
                      </a:r>
                    </a:p>
                  </a:txBody>
                  <a:tcPr>
                    <a:solidFill>
                      <a:srgbClr val="3D6B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8F0"/>
                          </a:solidFill>
                          <a:latin typeface="Calibri"/>
                        </a:defRPr>
                      </a:pPr>
                      <a:r>
                        <a:t>新</a:t>
                      </a:r>
                    </a:p>
                  </a:txBody>
                  <a:tcPr>
                    <a:solidFill>
                      <a:srgbClr val="3D6B5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初診時加算</a:t>
                      </a:r>
                    </a:p>
                  </a:txBody>
                  <a:tcPr>
                    <a:solidFill>
                      <a:srgbClr val="F0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6点</a:t>
                      </a:r>
                    </a:p>
                  </a:txBody>
                  <a:tcPr>
                    <a:solidFill>
                      <a:srgbClr val="F0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17点（+11点）</a:t>
                      </a:r>
                    </a:p>
                  </a:txBody>
                  <a:tcPr>
                    <a:solidFill>
                      <a:srgbClr val="F0F7F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対象職員</a:t>
                      </a:r>
                    </a:p>
                  </a:txBody>
                  <a:tcPr>
                    <a:solidFill>
                      <a:srgbClr val="FFF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主に医療従事者</a:t>
                      </a:r>
                    </a:p>
                  </a:txBody>
                  <a:tcPr>
                    <a:solidFill>
                      <a:srgbClr val="FFF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事務職員含む全職員</a:t>
                      </a:r>
                    </a:p>
                  </a:txBody>
                  <a:tcPr>
                    <a:solidFill>
                      <a:srgbClr val="FFF8F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754880" y="8229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8A84C"/>
                </a:solidFill>
                <a:latin typeface="Calibri"/>
              </a:defRPr>
            </a:pPr>
            <a:r>
              <a:t>2  物価対応料の新設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1143000"/>
          <a:ext cx="3657600" cy="12070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</a:tblGrid>
              <a:tr h="30175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8F0"/>
                          </a:solidFill>
                          <a:latin typeface="Calibri"/>
                        </a:defRPr>
                      </a:pPr>
                      <a:r>
                        <a:t>場面</a:t>
                      </a:r>
                    </a:p>
                  </a:txBody>
                  <a:tcPr>
                    <a:solidFill>
                      <a:srgbClr val="3D6B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8F0"/>
                          </a:solidFill>
                          <a:latin typeface="Calibri"/>
                        </a:defRPr>
                      </a:pPr>
                      <a:r>
                        <a:t>点数</a:t>
                      </a:r>
                    </a:p>
                  </a:txBody>
                  <a:tcPr>
                    <a:solidFill>
                      <a:srgbClr val="3D6B5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初診時</a:t>
                      </a:r>
                    </a:p>
                  </a:txBody>
                  <a:tcPr>
                    <a:solidFill>
                      <a:srgbClr val="F0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2点</a:t>
                      </a:r>
                    </a:p>
                  </a:txBody>
                  <a:tcPr>
                    <a:solidFill>
                      <a:srgbClr val="F0F7F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再診時</a:t>
                      </a:r>
                    </a:p>
                  </a:txBody>
                  <a:tcPr>
                    <a:solidFill>
                      <a:srgbClr val="FFF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2点</a:t>
                      </a:r>
                    </a:p>
                  </a:txBody>
                  <a:tcPr>
                    <a:solidFill>
                      <a:srgbClr val="FFF8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訪問診療時</a:t>
                      </a:r>
                    </a:p>
                  </a:txBody>
                  <a:tcPr>
                    <a:solidFill>
                      <a:srgbClr val="F0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3点</a:t>
                      </a:r>
                    </a:p>
                  </a:txBody>
                  <a:tcPr>
                    <a:solidFill>
                      <a:srgbClr val="F0F7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2743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8A84C"/>
                </a:solidFill>
                <a:latin typeface="Calibri"/>
              </a:defRPr>
            </a:pPr>
            <a:r>
              <a:t>3  再診料の引き上げ: 75点→76点（+1点）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200400"/>
            <a:ext cx="54864" cy="54864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3200400"/>
            <a:ext cx="811987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7DB8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273552"/>
            <a:ext cx="7863840" cy="402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Georgia"/>
              </a:defRPr>
            </a:pPr>
            <a:r>
              <a:t>小さな変化に見えますが、全患者の再診に影響するため病院全体では大きな収入増。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6B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8F0"/>
                </a:solidFill>
                <a:latin typeface="Calibri"/>
              </a:defRPr>
            </a:pPr>
            <a:r>
              <a:t>業務で変わること — DXとBCP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40080"/>
            <a:ext cx="2743200" cy="54864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A84C"/>
                </a:solidFill>
                <a:latin typeface="Calibri"/>
              </a:defRPr>
            </a:pPr>
            <a:r>
              <a:t>マイナ保険証の利用率が病院の収入に直結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097280"/>
          <a:ext cx="45720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731520"/>
                <a:gridCol w="3108960"/>
              </a:tblGrid>
              <a:tr h="32004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8F0"/>
                          </a:solidFill>
                          <a:latin typeface="Calibri"/>
                        </a:defRPr>
                      </a:pPr>
                      <a:r>
                        <a:t>区分</a:t>
                      </a:r>
                    </a:p>
                  </a:txBody>
                  <a:tcPr>
                    <a:solidFill>
                      <a:srgbClr val="3D6B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8F0"/>
                          </a:solidFill>
                          <a:latin typeface="Calibri"/>
                        </a:defRPr>
                      </a:pPr>
                      <a:r>
                        <a:t>点数</a:t>
                      </a:r>
                    </a:p>
                  </a:txBody>
                  <a:tcPr>
                    <a:solidFill>
                      <a:srgbClr val="3D6B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8F0"/>
                          </a:solidFill>
                          <a:latin typeface="Calibri"/>
                        </a:defRPr>
                      </a:pPr>
                      <a:r>
                        <a:t>主な要件</a:t>
                      </a:r>
                    </a:p>
                  </a:txBody>
                  <a:tcPr>
                    <a:solidFill>
                      <a:srgbClr val="3D6B5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区分1</a:t>
                      </a:r>
                    </a:p>
                  </a:txBody>
                  <a:tcPr>
                    <a:solidFill>
                      <a:srgbClr val="F0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15点</a:t>
                      </a:r>
                    </a:p>
                  </a:txBody>
                  <a:tcPr>
                    <a:solidFill>
                      <a:srgbClr val="F0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マイナ利用率30%以上+電子処方箋</a:t>
                      </a:r>
                    </a:p>
                  </a:txBody>
                  <a:tcPr>
                    <a:solidFill>
                      <a:srgbClr val="F0F7F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区分2</a:t>
                      </a:r>
                    </a:p>
                  </a:txBody>
                  <a:tcPr>
                    <a:solidFill>
                      <a:srgbClr val="FFF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9点</a:t>
                      </a:r>
                    </a:p>
                  </a:txBody>
                  <a:tcPr>
                    <a:solidFill>
                      <a:srgbClr val="FFF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電子処方箋体制あり</a:t>
                      </a:r>
                    </a:p>
                  </a:txBody>
                  <a:tcPr>
                    <a:solidFill>
                      <a:srgbClr val="FFF8F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区分3</a:t>
                      </a:r>
                    </a:p>
                  </a:txBody>
                  <a:tcPr>
                    <a:solidFill>
                      <a:srgbClr val="F0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4点</a:t>
                      </a:r>
                    </a:p>
                  </a:txBody>
                  <a:tcPr>
                    <a:solidFill>
                      <a:srgbClr val="F0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マイナ保険証基本体制のみ</a:t>
                      </a:r>
                    </a:p>
                  </a:txBody>
                  <a:tcPr>
                    <a:solidFill>
                      <a:srgbClr val="F0F7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0" y="82296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A84C"/>
                </a:solidFill>
                <a:latin typeface="Calibri"/>
              </a:defRPr>
            </a:pPr>
            <a:r>
              <a:t>BCP（事業継続計画）の策定が義務化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188720"/>
            <a:ext cx="3840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FF8F0"/>
                </a:solidFill>
                <a:latin typeface="Calibri"/>
              </a:defRPr>
              <a:buChar char="●"/>
            </a:pPr>
            <a:r>
              <a:t>災害やサイバー攻撃でも診療を続ける計画</a:t>
            </a:r>
          </a:p>
          <a:p>
            <a:pPr>
              <a:defRPr sz="1200">
                <a:solidFill>
                  <a:srgbClr val="FFF8F0"/>
                </a:solidFill>
                <a:latin typeface="Calibri"/>
              </a:defRPr>
              <a:buChar char="●"/>
            </a:pPr>
            <a:r>
              <a:t>機能強化加算・在支診/在支病の施設基準に追加</a:t>
            </a:r>
          </a:p>
          <a:p>
            <a:pPr>
              <a:defRPr sz="1200">
                <a:solidFill>
                  <a:srgbClr val="FFF8F0"/>
                </a:solidFill>
                <a:latin typeface="Calibri"/>
              </a:defRPr>
              <a:buChar char="●"/>
            </a:pPr>
            <a:r>
              <a:t>経過措置: 2027年5月末まで</a:t>
            </a:r>
          </a:p>
          <a:p>
            <a:pPr>
              <a:defRPr sz="1200">
                <a:solidFill>
                  <a:srgbClr val="FFF8F0"/>
                </a:solidFill>
                <a:latin typeface="Calibri"/>
              </a:defRPr>
              <a:buChar char="●"/>
            </a:pPr>
            <a:r>
              <a:t>「災害時にあなたは何をするか」を決める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474720"/>
            <a:ext cx="54864" cy="54864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3474720"/>
            <a:ext cx="811987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7DB8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547872"/>
            <a:ext cx="7863840" cy="402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Georgia"/>
              </a:defRPr>
            </a:pPr>
            <a:r>
              <a:t>窓口スタッフの皆さんへ: マイナ保険証利用の声かけが病院の収入に直結します。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部署別 — 明日からできること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40080"/>
            <a:ext cx="2286000" cy="54864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822960"/>
          <a:ext cx="8595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603504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8F0"/>
                          </a:solidFill>
                          <a:latin typeface="Calibri"/>
                        </a:defRPr>
                      </a:pPr>
                      <a:r>
                        <a:t>部署</a:t>
                      </a:r>
                    </a:p>
                  </a:txBody>
                  <a:tcPr>
                    <a:solidFill>
                      <a:srgbClr val="3D6B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8F0"/>
                          </a:solidFill>
                          <a:latin typeface="Calibri"/>
                        </a:defRPr>
                      </a:pPr>
                      <a:r>
                        <a:t>明日からのアクション</a:t>
                      </a:r>
                    </a:p>
                  </a:txBody>
                  <a:tcPr>
                    <a:solidFill>
                      <a:srgbClr val="3D6B5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受付・医事課</a:t>
                      </a:r>
                    </a:p>
                  </a:txBody>
                  <a:tcPr>
                    <a:solidFill>
                      <a:srgbClr val="F0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マイナ保険証利用の積極的な声かけ、利用率の把握</a:t>
                      </a:r>
                    </a:p>
                  </a:txBody>
                  <a:tcPr>
                    <a:solidFill>
                      <a:srgbClr val="F0F7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看護部</a:t>
                      </a:r>
                    </a:p>
                  </a:txBody>
                  <a:tcPr>
                    <a:solidFill>
                      <a:srgbClr val="FFF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BCP策定への参加、院内トリアージ体制の確認</a:t>
                      </a:r>
                    </a:p>
                  </a:txBody>
                  <a:tcPr>
                    <a:solidFill>
                      <a:srgbClr val="FFF8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リハビリ・コメディカル</a:t>
                      </a:r>
                    </a:p>
                  </a:txBody>
                  <a:tcPr>
                    <a:solidFill>
                      <a:srgbClr val="F0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地域包括ケア病棟の加算変更の把握、多職種連携の記録</a:t>
                      </a:r>
                    </a:p>
                  </a:txBody>
                  <a:tcPr>
                    <a:solidFill>
                      <a:srgbClr val="F0F7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事務・総務</a:t>
                      </a:r>
                    </a:p>
                  </a:txBody>
                  <a:tcPr>
                    <a:solidFill>
                      <a:srgbClr val="FFF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BCP策定の全体調整、届出書類の準備、レセプトシステム更新</a:t>
                      </a:r>
                    </a:p>
                  </a:txBody>
                  <a:tcPr>
                    <a:solidFill>
                      <a:srgbClr val="FFF8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医師</a:t>
                      </a:r>
                    </a:p>
                  </a:txBody>
                  <a:tcPr>
                    <a:solidFill>
                      <a:srgbClr val="F0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生活習慣病管理での眼科・歯科連携、電子処方箋の発行推進</a:t>
                      </a:r>
                    </a:p>
                  </a:txBody>
                  <a:tcPr>
                    <a:solidFill>
                      <a:srgbClr val="F0F7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6B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8F0"/>
                </a:solidFill>
                <a:latin typeface="Calibri"/>
              </a:defRPr>
            </a:pPr>
            <a:r>
              <a:t>グループ対話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8A9E8C"/>
                </a:solidFill>
                <a:latin typeface="Calibri"/>
              </a:defRPr>
            </a:pPr>
            <a:r>
              <a:t>隣の人と話してみましょう（2分）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828800"/>
            <a:ext cx="54864" cy="91440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24128" y="1828800"/>
            <a:ext cx="720547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7DB8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901952"/>
            <a:ext cx="694944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D2D2D"/>
                </a:solidFill>
                <a:latin typeface="Georgia"/>
              </a:defRPr>
            </a:pPr>
            <a:r>
              <a:t>今日聞いた改定内容の中で、あなたの日常業務に一番影響がありそうなのは何ですか？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017520"/>
            <a:ext cx="6400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8F0"/>
                </a:solidFill>
                <a:latin typeface="Calibri"/>
              </a:defRPr>
              <a:buChar char="●"/>
            </a:pPr>
            <a:r>
              <a:t>「受付でマイナ保険証の声かけを増やさないと…」</a:t>
            </a:r>
          </a:p>
          <a:p>
            <a:pPr>
              <a:defRPr sz="1300">
                <a:solidFill>
                  <a:srgbClr val="FFF8F0"/>
                </a:solidFill>
                <a:latin typeface="Calibri"/>
              </a:defRPr>
              <a:buChar char="●"/>
            </a:pPr>
            <a:r>
              <a:t>「BCPって、うちの部署ではどうなるんだろう？」</a:t>
            </a:r>
          </a:p>
          <a:p>
            <a:pPr>
              <a:defRPr sz="1300">
                <a:solidFill>
                  <a:srgbClr val="FFF8F0"/>
                </a:solidFill>
                <a:latin typeface="Calibri"/>
              </a:defRPr>
              <a:buChar char="●"/>
            </a:pPr>
            <a:r>
              <a:t>「ベースアップ評価料の拡大、給与にいつ反映？」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まとめと次のアクション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40080"/>
            <a:ext cx="2286000" cy="54864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A9E8C"/>
                </a:solidFill>
                <a:latin typeface="Calibri"/>
              </a:defRPr>
            </a:pPr>
            <a:r>
              <a:t>3つだけ覚えてください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88720"/>
          <a:ext cx="8595360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200400"/>
                <a:gridCol w="4937760"/>
              </a:tblGrid>
              <a:tr h="34747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8F0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3D6B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8F0"/>
                          </a:solidFill>
                          <a:latin typeface="Calibri"/>
                        </a:defRPr>
                      </a:pPr>
                      <a:r>
                        <a:t>ポイント</a:t>
                      </a:r>
                    </a:p>
                  </a:txBody>
                  <a:tcPr>
                    <a:solidFill>
                      <a:srgbClr val="3D6B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8F0"/>
                          </a:solidFill>
                          <a:latin typeface="Calibri"/>
                        </a:defRPr>
                      </a:pPr>
                      <a:r>
                        <a:t>キーワード</a:t>
                      </a:r>
                    </a:p>
                  </a:txBody>
                  <a:tcPr>
                    <a:solidFill>
                      <a:srgbClr val="3D6B5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0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賃上げ原資が大幅増</a:t>
                      </a:r>
                    </a:p>
                  </a:txBody>
                  <a:tcPr>
                    <a:solidFill>
                      <a:srgbClr val="F0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ベースアップ評価料17点、全職員対象</a:t>
                      </a:r>
                    </a:p>
                  </a:txBody>
                  <a:tcPr>
                    <a:solidFill>
                      <a:srgbClr val="F0F7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マイナ保険証の声かけが収入直結</a:t>
                      </a:r>
                    </a:p>
                  </a:txBody>
                  <a:tcPr>
                    <a:solidFill>
                      <a:srgbClr val="FFF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利用率30%で区分1（15点）</a:t>
                      </a:r>
                    </a:p>
                  </a:txBody>
                  <a:tcPr>
                    <a:solidFill>
                      <a:srgbClr val="FFF8F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0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BCP策定に全員参加</a:t>
                      </a:r>
                    </a:p>
                  </a:txBody>
                  <a:tcPr>
                    <a:solidFill>
                      <a:srgbClr val="F0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2027年5月末までに策定</a:t>
                      </a:r>
                    </a:p>
                  </a:txBody>
                  <a:tcPr>
                    <a:solidFill>
                      <a:srgbClr val="F0F7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9260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A84C"/>
                </a:solidFill>
                <a:latin typeface="Calibri"/>
              </a:defRPr>
            </a:pPr>
            <a:r>
              <a:t>スケジュール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3291840"/>
          <a:ext cx="85953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6766560"/>
              </a:tblGrid>
              <a:tr h="2743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8F0"/>
                          </a:solidFill>
                          <a:latin typeface="Calibri"/>
                        </a:defRPr>
                      </a:pPr>
                      <a:r>
                        <a:t>時期</a:t>
                      </a:r>
                    </a:p>
                  </a:txBody>
                  <a:tcPr>
                    <a:solidFill>
                      <a:srgbClr val="3D6B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8F0"/>
                          </a:solidFill>
                          <a:latin typeface="Calibri"/>
                        </a:defRPr>
                      </a:pPr>
                      <a:r>
                        <a:t>やること</a:t>
                      </a:r>
                    </a:p>
                  </a:txBody>
                  <a:tcPr>
                    <a:solidFill>
                      <a:srgbClr val="3D6B5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今日</a:t>
                      </a:r>
                    </a:p>
                  </a:txBody>
                  <a:tcPr>
                    <a:solidFill>
                      <a:srgbClr val="F0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BCPに関して自部署の状況確認</a:t>
                      </a:r>
                    </a:p>
                  </a:txBody>
                  <a:tcPr>
                    <a:solidFill>
                      <a:srgbClr val="F0F7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今月中</a:t>
                      </a:r>
                    </a:p>
                  </a:txBody>
                  <a:tcPr>
                    <a:solidFill>
                      <a:srgbClr val="FFF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マイナ保険証の案内方法を見直す</a:t>
                      </a:r>
                    </a:p>
                  </a:txBody>
                  <a:tcPr>
                    <a:solidFill>
                      <a:srgbClr val="FFF8F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2026年6月</a:t>
                      </a:r>
                    </a:p>
                  </a:txBody>
                  <a:tcPr>
                    <a:solidFill>
                      <a:srgbClr val="F0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改定施行 — 新しい運用開始</a:t>
                      </a:r>
                    </a:p>
                  </a:txBody>
                  <a:tcPr>
                    <a:solidFill>
                      <a:srgbClr val="F0F7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2027年5月末</a:t>
                      </a:r>
                    </a:p>
                  </a:txBody>
                  <a:tcPr>
                    <a:solidFill>
                      <a:srgbClr val="FFF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BCP策定の経過措置期限</a:t>
                      </a:r>
                    </a:p>
                  </a:txBody>
                  <a:tcPr>
                    <a:solidFill>
                      <a:srgbClr val="FFF8F0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1828800" y="4572000"/>
            <a:ext cx="54864" cy="41148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938528" y="4572000"/>
            <a:ext cx="5376672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7DB8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4645152"/>
            <a:ext cx="512064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Georgia"/>
              </a:defRPr>
            </a:pPr>
            <a:r>
              <a:t>「明日、1つだけ変えるとしたら何を変えますか？」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