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8A9E8C"/>
                </a:solidFill>
                <a:latin typeface="Calibri"/>
              </a:defRPr>
            </a:pPr>
            <a:r>
              <a:t>2026年度 診療報酬改定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0972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800" b="1">
                <a:solidFill>
                  <a:srgbClr val="E8A84C"/>
                </a:solidFill>
                <a:latin typeface="Calibri"/>
              </a:defRPr>
            </a:pPr>
            <a:r>
              <a:t>本体 +3.09%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0">
                <a:solidFill>
                  <a:srgbClr val="FFF8F0"/>
                </a:solidFill>
                <a:latin typeface="Calibri"/>
              </a:defRPr>
            </a:pPr>
            <a:r>
              <a:t>30年ぶりの大改定 — あなたの生活に直結します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834640"/>
            <a:ext cx="27432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560320" y="3108960"/>
          <a:ext cx="4023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内訳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割合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賃上げ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+1.70%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物価高騰対応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+0.76%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食費・光熱水費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+0.09%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経営改善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+0.44%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297680"/>
            <a:ext cx="54864" cy="54864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29768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37083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Georgia"/>
              </a:defRPr>
            </a:pPr>
            <a:r>
              <a:t>今回の改定は、皆さんの給与・処遇に直接つながる改定です。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2D2D2D"/>
                </a:solidFill>
                <a:latin typeface="Calibri"/>
              </a:defRPr>
            </a:pPr>
            <a:r>
              <a:t>今日知ってほしいこと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8A9E8C"/>
                </a:solidFill>
                <a:latin typeface="Calibri"/>
              </a:defRPr>
            </a:pPr>
            <a:r>
              <a:t>この10分の後、あなたは: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657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800" b="1">
                <a:solidFill>
                  <a:srgbClr val="E8A84C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691640"/>
            <a:ext cx="6858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わかる — 今回の改定が自分の給与・業務にどう影響するか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032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51760"/>
            <a:ext cx="3657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800" b="1">
                <a:solidFill>
                  <a:srgbClr val="E8A84C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97480"/>
            <a:ext cx="6858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できる — BCP策定への自分の役割を説明できる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566160"/>
            <a:ext cx="7680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57600"/>
            <a:ext cx="36576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800" b="1">
                <a:solidFill>
                  <a:srgbClr val="E8A84C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703320"/>
            <a:ext cx="6858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Calibri"/>
              </a:defRPr>
            </a:pPr>
            <a:r>
              <a:t>判断できる — マイナ保険証の案内など、優先すべきことを選べる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あなたの給与に関わる3つの変更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22860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4114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A84C"/>
                </a:solidFill>
                <a:latin typeface="Calibri"/>
              </a:defRPr>
            </a:pPr>
            <a:r>
              <a:t>1  ベースアップ評価料の大幅拡充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43000"/>
          <a:ext cx="4114800" cy="905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</a:tblGrid>
              <a:tr h="30175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旧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新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初診時加算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6点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17点（+11点）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対象職員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主に医療従事者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事務職員含む全職員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54880" y="822960"/>
            <a:ext cx="41148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A84C"/>
                </a:solidFill>
                <a:latin typeface="Calibri"/>
              </a:defRPr>
            </a:pPr>
            <a:r>
              <a:t>2  物価対応料の新設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143000"/>
          <a:ext cx="3657600" cy="120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</a:tblGrid>
              <a:tr h="30175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場面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点数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初診時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2点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再診時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2点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訪問診療時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3点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274320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E8A84C"/>
                </a:solidFill>
                <a:latin typeface="Calibri"/>
              </a:defRPr>
            </a:pPr>
            <a:r>
              <a:t>3  再診料の引き上げ: 75点→76点（+1点）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200400"/>
            <a:ext cx="54864" cy="54864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320040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27355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2D2D2D"/>
                </a:solidFill>
                <a:latin typeface="Georgia"/>
              </a:defRPr>
            </a:pPr>
            <a:r>
              <a:t>小さな変化に見えますが、全患者の再診に影響するため病院全体では大きな収入増。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FF8F0"/>
                </a:solidFill>
                <a:latin typeface="Calibri"/>
              </a:defRPr>
            </a:pPr>
            <a:r>
              <a:t>業務で変わること — DXとBCP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27432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4572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A84C"/>
                </a:solidFill>
                <a:latin typeface="Calibri"/>
              </a:defRPr>
            </a:pPr>
            <a:r>
              <a:t>マイナ保険証の利用率が病院の収入に直結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97280"/>
          <a:ext cx="45720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731520"/>
                <a:gridCol w="3108960"/>
              </a:tblGrid>
              <a:tr h="3200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区分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点数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主な要件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区分1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15点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マイナ利用率30%以上+電子処方箋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区分2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9点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電子処方箋体制あり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区分3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4点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マイナ保険証基本体制のみ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0" y="822960"/>
            <a:ext cx="384048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A84C"/>
                </a:solidFill>
                <a:latin typeface="Calibri"/>
              </a:defRPr>
            </a:pPr>
            <a:r>
              <a:t>BCP（事業継続計画）の策定が義務化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188720"/>
            <a:ext cx="384048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FFF8F0"/>
                </a:solidFill>
                <a:latin typeface="Calibri"/>
              </a:defRPr>
              <a:buChar char="●"/>
            </a:pPr>
            <a:r>
              <a:t>災害やサイバー攻撃でも診療を続ける計画</a:t>
            </a:r>
          </a:p>
          <a:p>
            <a:pPr>
              <a:defRPr sz="1200">
                <a:solidFill>
                  <a:srgbClr val="FFF8F0"/>
                </a:solidFill>
                <a:latin typeface="Calibri"/>
              </a:defRPr>
              <a:buChar char="●"/>
            </a:pPr>
            <a:r>
              <a:t>機能強化加算・在支診/在支病の施設基準に追加</a:t>
            </a:r>
          </a:p>
          <a:p>
            <a:pPr>
              <a:defRPr sz="1200">
                <a:solidFill>
                  <a:srgbClr val="FFF8F0"/>
                </a:solidFill>
                <a:latin typeface="Calibri"/>
              </a:defRPr>
              <a:buChar char="●"/>
            </a:pPr>
            <a:r>
              <a:t>経過措置: 2027年5月末まで</a:t>
            </a:r>
          </a:p>
          <a:p>
            <a:pPr>
              <a:defRPr sz="1200">
                <a:solidFill>
                  <a:srgbClr val="FFF8F0"/>
                </a:solidFill>
                <a:latin typeface="Calibri"/>
              </a:defRPr>
              <a:buChar char="●"/>
            </a:pPr>
            <a:r>
              <a:t>「災害時にあなたは何をするか」を決める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474720"/>
            <a:ext cx="54864" cy="54864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347472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54787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2D2D2D"/>
                </a:solidFill>
                <a:latin typeface="Georgia"/>
              </a:defRPr>
            </a:pPr>
            <a:r>
              <a:t>窓口スタッフの皆さんへ: マイナ保険証利用の声かけが病院の収入に直結します。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部署別 — 明日からできること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22860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822960"/>
          <a:ext cx="8595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6035040"/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部署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明日からのアクション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受付・医事課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マイナ保険証利用の積極的な声かけ、利用率の把握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看護部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BCP策定への参加、院内トリアージ体制の確認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リハビリ・コメディカル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地域包括ケア病棟の加算変更の把握、多職種連携の記録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事務・総務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BCP策定の全体調整、届出書類の準備、レセプトシステム更新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医師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生活習慣病管理での眼科・歯科連携、電子処方箋の発行推進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6B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FFF8F0"/>
                </a:solidFill>
                <a:latin typeface="Calibri"/>
              </a:defRPr>
            </a:pPr>
            <a:r>
              <a:t>グループ対話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0">
                <a:solidFill>
                  <a:srgbClr val="8A9E8C"/>
                </a:solidFill>
                <a:latin typeface="Calibri"/>
              </a:defRPr>
            </a:pPr>
            <a:r>
              <a:t>隣の人と話してみましょう（2分）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54864" cy="91440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828800"/>
            <a:ext cx="720547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901952"/>
            <a:ext cx="6949440" cy="7680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2D2D2D"/>
                </a:solidFill>
                <a:latin typeface="Georgia"/>
              </a:defRPr>
            </a:pPr>
            <a:r>
              <a:t>今日聞いた改定内容の中で、あなたの日常業務に一番影響がありそうなのは何ですか？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64008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FFF8F0"/>
                </a:solidFill>
                <a:latin typeface="Calibri"/>
              </a:defRPr>
              <a:buChar char="●"/>
            </a:pPr>
            <a:r>
              <a:t>「受付でマイナ保険証の声かけを増やさないと…」</a:t>
            </a:r>
          </a:p>
          <a:p>
            <a:pPr>
              <a:defRPr sz="1300">
                <a:solidFill>
                  <a:srgbClr val="FFF8F0"/>
                </a:solidFill>
                <a:latin typeface="Calibri"/>
              </a:defRPr>
              <a:buChar char="●"/>
            </a:pPr>
            <a:r>
              <a:t>「BCPって、うちの部署ではどうなるんだろう？」</a:t>
            </a:r>
          </a:p>
          <a:p>
            <a:pPr>
              <a:defRPr sz="1300">
                <a:solidFill>
                  <a:srgbClr val="FFF8F0"/>
                </a:solidFill>
                <a:latin typeface="Calibri"/>
              </a:defRPr>
              <a:buChar char="●"/>
            </a:pPr>
            <a:r>
              <a:t>「ベースアップ評価料の拡大、給与にいつ反映？」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2D2D2D"/>
                </a:solidFill>
                <a:latin typeface="Calibri"/>
              </a:defRPr>
            </a:pPr>
            <a:r>
              <a:t>まとめと次のアクション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"/>
            <a:ext cx="2286000" cy="54864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8A9E8C"/>
                </a:solidFill>
                <a:latin typeface="Calibri"/>
              </a:defRPr>
            </a:pPr>
            <a:r>
              <a:t>3つだけ覚えてください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188720"/>
          <a:ext cx="859536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200400"/>
                <a:gridCol w="4937760"/>
              </a:tblGrid>
              <a:tr h="34747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#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ポイント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キーワード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賃上げ原資が大幅増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ベースアップ評価料17点、全職員対象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マイナ保険証の声かけが収入直結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利用率30%で区分1（15点）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BCP策定に全員参加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2027年5月末までに策定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2608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A84C"/>
                </a:solidFill>
                <a:latin typeface="Calibri"/>
              </a:defRPr>
            </a:pPr>
            <a:r>
              <a:t>スケジュール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3291840"/>
          <a:ext cx="859536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76656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時期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8F0"/>
                          </a:solidFill>
                          <a:latin typeface="Calibri"/>
                        </a:defRPr>
                      </a:pPr>
                      <a:r>
                        <a:t>やること</a:t>
                      </a:r>
                    </a:p>
                  </a:txBody>
                  <a:tcPr marL="45720" marR="45720" marT="18288" marB="18288">
                    <a:solidFill>
                      <a:srgbClr val="3D6B5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今日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BCPに関して自部署の状況確認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今月中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マイナ保険証の案内方法を見直す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2026年6月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改定施行 — 新しい運用開始</a:t>
                      </a:r>
                    </a:p>
                  </a:txBody>
                  <a:tcPr marL="45720" marR="45720" marT="18288" marB="18288">
                    <a:solidFill>
                      <a:srgbClr val="F0F7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2027年5月末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D2D2D"/>
                          </a:solidFill>
                          <a:latin typeface="Calibri"/>
                        </a:defRPr>
                      </a:pPr>
                      <a:r>
                        <a:t>BCP策定の経過措置期限</a:t>
                      </a:r>
                    </a:p>
                  </a:txBody>
                  <a:tcPr marL="45720" marR="45720" marT="18288" marB="18288">
                    <a:solidFill>
                      <a:srgbClr val="FFF8F0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828800" y="4572000"/>
            <a:ext cx="54864" cy="411480"/>
          </a:xfrm>
          <a:prstGeom prst="rect">
            <a:avLst/>
          </a:prstGeom>
          <a:solidFill>
            <a:srgbClr val="E8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938528" y="4572000"/>
            <a:ext cx="537667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7DB8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4645152"/>
            <a:ext cx="5120640" cy="26517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2D2D2D"/>
                </a:solidFill>
                <a:latin typeface="Georgia"/>
              </a:defRPr>
            </a:pPr>
            <a:r>
              <a:t>「明日、1つだけ変えるとしたら何を変えますか？」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