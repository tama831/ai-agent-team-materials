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943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Calibri"/>
              </a:defRPr>
            </a:pPr>
            <a:r>
              <a:t>新・家庭医療専門医制度の改訂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7A8A9A"/>
                </a:solidFill>
                <a:latin typeface="Calibri"/>
              </a:defRPr>
            </a:pPr>
            <a:r>
              <a:t>ポートフォリオ2割削減とかかりつけ医機能報告制度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0D2B3E"/>
                </a:solidFill>
                <a:latin typeface="Calibri"/>
              </a:defRPr>
            </a:pPr>
            <a:r>
              <a:t>20 →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0D2B3E"/>
                </a:solidFill>
                <a:latin typeface="Calibri"/>
              </a:defRPr>
            </a:pPr>
            <a:r>
              <a:t>ポートフォリオ領域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0D2B3E"/>
                </a:solidFill>
                <a:latin typeface="Calibri"/>
              </a:defRPr>
            </a:pPr>
            <a:r>
              <a:t>2割削減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45920"/>
            <a:ext cx="4005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19072"/>
            <a:ext cx="3749039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t>これは「楽になった」のか？</a:t>
            </a:r>
            <a:br/>
            <a:r>
              <a:t>それとも「質がもっと問われる」のか？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今日の学習目標（15分）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0292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F5F0E8"/>
                </a:solidFill>
                <a:latin typeface="Calibri"/>
              </a:defRPr>
              <a:buChar char="●"/>
            </a:pPr>
            <a:r>
              <a:t>説明できる — 制度変更の具体的内容と背景</a:t>
            </a:r>
          </a:p>
          <a:p>
            <a:pPr>
              <a:defRPr sz="1100">
                <a:solidFill>
                  <a:srgbClr val="F5F0E8"/>
                </a:solidFill>
                <a:latin typeface="Calibri"/>
              </a:defRPr>
              <a:buChar char="●"/>
            </a:pPr>
            <a:r>
              <a:t>比較できる — 旧制度と新制度の差分を分析</a:t>
            </a:r>
          </a:p>
          <a:p>
            <a:pPr>
              <a:defRPr sz="1100">
                <a:solidFill>
                  <a:srgbClr val="F5F0E8"/>
                </a:solidFill>
                <a:latin typeface="Calibri"/>
              </a:defRPr>
              <a:buChar char="●"/>
            </a:pPr>
            <a:r>
              <a:t>立案できる — ポートフォリオ戦略を描ける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7A8A9A"/>
                </a:solidFill>
                <a:latin typeface="Calibri"/>
              </a:defRPr>
            </a:pPr>
            <a:r>
              <a:t>JPCA 2024年6月発表 | 2025年3月修了者より適用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Quick Poll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39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✋  新・家庭医療専門医制度のポートフォリオを書いたことがある人？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✋  「かかりつけ医機能報告制度」という言葉を聞いたことがある人？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39"/>
            <a:ext cx="7680960" cy="8229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✋  第17回JPCA学術大会（2026年5月・京都）に参加予定の人？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54864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4389120"/>
            <a:ext cx="75712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731520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専門医制度と医療政策が同時に動いています。</a:t>
            </a:r>
            <a:br/>
            <a:r>
              <a:t>「制度を知る」ことは、キャリア戦略そのものです。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何が変わった？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7A8A9A"/>
                </a:solidFill>
                <a:latin typeface="Calibri"/>
              </a:defRPr>
            </a:pPr>
            <a:r>
              <a:t>旧制度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000" b="1">
                <a:solidFill>
                  <a:srgbClr val="7A8A9A"/>
                </a:solidFill>
                <a:latin typeface="Calibri"/>
              </a:defRPr>
            </a:pPr>
            <a:r>
              <a:t>20領域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0">
                <a:solidFill>
                  <a:srgbClr val="7A8A9A"/>
                </a:solidFill>
                <a:latin typeface="Calibri"/>
              </a:defRPr>
            </a:pPr>
            <a:r>
              <a:t>学会発表 3件以上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457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E89B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914400"/>
            <a:ext cx="3840480" cy="18288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9601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0D2B3E"/>
                </a:solidFill>
                <a:latin typeface="Calibri"/>
              </a:defRPr>
            </a:pPr>
            <a:r>
              <a:t>新制度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280160"/>
            <a:ext cx="38404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000" b="1">
                <a:solidFill>
                  <a:srgbClr val="0D2B3E"/>
                </a:solidFill>
                <a:latin typeface="Calibri"/>
              </a:defRPr>
            </a:pPr>
            <a:r>
              <a:t>16領域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0">
                <a:solidFill>
                  <a:srgbClr val="0D2B3E"/>
                </a:solidFill>
                <a:latin typeface="Calibri"/>
              </a:defRPr>
            </a:pPr>
            <a:r>
              <a:t>学会発表 2件以上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01752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9067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t>領域が「消えた」のではなく、既存領域に統合された。</a:t>
            </a:r>
            <a:br/>
            <a:r>
              <a:t>→ 1つのポートフォリオに求められる多面性と深さがむしろ増している。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E89B3B"/>
                </a:solidFill>
                <a:latin typeface="Calibri"/>
              </a:defRPr>
            </a:pPr>
            <a:r>
              <a:t>統合された旧領域: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41148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>
                <a:solidFill>
                  <a:srgbClr val="F5F0E8"/>
                </a:solidFill>
                <a:latin typeface="Calibri"/>
              </a:defRPr>
              <a:buChar char="●"/>
            </a:pPr>
            <a:r>
              <a:t>複雑困難事例 → 多疾患併存(4)等</a:t>
            </a:r>
          </a:p>
          <a:p>
            <a:pPr>
              <a:defRPr sz="1000">
                <a:solidFill>
                  <a:srgbClr val="F5F0E8"/>
                </a:solidFill>
                <a:latin typeface="Calibri"/>
              </a:defRPr>
              <a:buChar char="●"/>
            </a:pPr>
            <a:r>
              <a:t>プロフェッショナリズム → 医療者自身のケア(16)</a:t>
            </a:r>
          </a:p>
          <a:p>
            <a:pPr>
              <a:defRPr sz="1000">
                <a:solidFill>
                  <a:srgbClr val="F5F0E8"/>
                </a:solidFill>
                <a:latin typeface="Calibri"/>
              </a:defRPr>
              <a:buChar char="●"/>
            </a:pPr>
            <a:r>
              <a:t>セクシャルヘルス・思春期 → 各関連領域</a:t>
            </a:r>
          </a:p>
          <a:p>
            <a:pPr>
              <a:defRPr sz="1000">
                <a:solidFill>
                  <a:srgbClr val="F5F0E8"/>
                </a:solidFill>
                <a:latin typeface="Calibri"/>
              </a:defRPr>
              <a:buChar char="●"/>
            </a:pPr>
            <a:r>
              <a:t>緩和ケア・最終段階 → 長期的関係(5)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E89B3B"/>
                </a:solidFill>
                <a:latin typeface="Calibri"/>
              </a:defRPr>
            </a:pPr>
            <a:r>
              <a:t>コア16領域は変更なし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206240"/>
            <a:ext cx="38404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>
                <a:solidFill>
                  <a:srgbClr val="F5F0E8"/>
                </a:solidFill>
                <a:latin typeface="Calibri"/>
              </a:defRPr>
              <a:buChar char="●"/>
            </a:pPr>
            <a:r>
              <a:t>1. 未分化な健康問題</a:t>
            </a:r>
          </a:p>
          <a:p>
            <a:pPr>
              <a:defRPr sz="900">
                <a:solidFill>
                  <a:srgbClr val="F5F0E8"/>
                </a:solidFill>
                <a:latin typeface="Calibri"/>
              </a:defRPr>
              <a:buChar char="●"/>
            </a:pPr>
            <a:r>
              <a:t>2. 予防医学・健康増進</a:t>
            </a:r>
          </a:p>
          <a:p>
            <a:pPr>
              <a:defRPr sz="900">
                <a:solidFill>
                  <a:srgbClr val="F5F0E8"/>
                </a:solidFill>
                <a:latin typeface="Calibri"/>
              </a:defRPr>
              <a:buChar char="●"/>
            </a:pPr>
            <a:r>
              <a:t>3. 慢性疾患  4. 多疾患併存</a:t>
            </a:r>
          </a:p>
          <a:p>
            <a:pPr>
              <a:defRPr sz="900">
                <a:solidFill>
                  <a:srgbClr val="F5F0E8"/>
                </a:solidFill>
                <a:latin typeface="Calibri"/>
              </a:defRPr>
              <a:buChar char="●"/>
            </a:pPr>
            <a:r>
              <a:t>5. 長期的全人的関係  6. 患者中心</a:t>
            </a:r>
          </a:p>
          <a:p>
            <a:pPr>
              <a:defRPr sz="900">
                <a:solidFill>
                  <a:srgbClr val="F5F0E8"/>
                </a:solidFill>
                <a:latin typeface="Calibri"/>
              </a:defRPr>
              <a:buChar char="●"/>
            </a:pPr>
            <a:r>
              <a:t>7. 家族志向  8. 地域志向PC</a:t>
            </a:r>
          </a:p>
          <a:p>
            <a:pPr>
              <a:defRPr sz="900">
                <a:solidFill>
                  <a:srgbClr val="F5F0E8"/>
                </a:solidFill>
                <a:latin typeface="Calibri"/>
              </a:defRPr>
              <a:buChar char="●"/>
            </a:pPr>
            <a:r>
              <a:t>…16. 医療者自身のケア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かかりつけ医機能報告制度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t>2025年4月施行 | 初回報告: 2026年1-3月（G-MIS）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報告制度で求められる能力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Calibri"/>
              </a:defRPr>
              <a:buChar char="●"/>
            </a:pPr>
            <a:r>
              <a:t>17診療領域・40疾患対応力</a:t>
            </a:r>
          </a:p>
          <a:p>
            <a:pPr>
              <a:defRPr sz="1100">
                <a:solidFill>
                  <a:srgbClr val="1A1A2E"/>
                </a:solidFill>
                <a:latin typeface="Calibri"/>
              </a:defRPr>
              <a:buChar char="●"/>
            </a:pPr>
            <a:r>
              <a:t>在宅医療・訪問診療の提供体制</a:t>
            </a:r>
          </a:p>
          <a:p>
            <a:pPr>
              <a:defRPr sz="1100">
                <a:solidFill>
                  <a:srgbClr val="1A1A2E"/>
                </a:solidFill>
                <a:latin typeface="Calibri"/>
              </a:defRPr>
              <a:buChar char="●"/>
            </a:pPr>
            <a:r>
              <a:t>総合診療専門医の配置（報告項目）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457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200" b="1">
                <a:solidFill>
                  <a:srgbClr val="E89B3B"/>
                </a:solidFill>
                <a:latin typeface="Calibri"/>
              </a:defRPr>
            </a:pPr>
            <a:r>
              <a:t>≒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188720"/>
            <a:ext cx="3840480" cy="137160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344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家庭医療専門医の研修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54480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Calibri"/>
              </a:defRPr>
              <a:buChar char="●"/>
            </a:pPr>
            <a:r>
              <a:t>16ポートフォリオ領域</a:t>
            </a:r>
          </a:p>
          <a:p>
            <a:pPr>
              <a:defRPr sz="1100">
                <a:solidFill>
                  <a:srgbClr val="1A1A2E"/>
                </a:solidFill>
                <a:latin typeface="Calibri"/>
              </a:defRPr>
              <a:buChar char="●"/>
            </a:pPr>
            <a:r>
              <a:t>包括的なプライマリ・ケア能力</a:t>
            </a:r>
          </a:p>
          <a:p>
            <a:pPr>
              <a:defRPr sz="1100">
                <a:solidFill>
                  <a:srgbClr val="1A1A2E"/>
                </a:solidFill>
                <a:latin typeface="Calibri"/>
              </a:defRPr>
              <a:buChar char="●"/>
            </a:pPr>
            <a:r>
              <a:t>地域志向のアプローチ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260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t>あなたの存在が、医療機関の「かかりつけ医機能」を高める。</a:t>
            </a:r>
            <a:br/>
            <a:r>
              <a:t>家庭医療専門医の研修で培う能力 ≒ 報告制度で求められる能力。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ペアディスカッション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t>3分ペアワーク + 1分シェア | 問いを1つ選んでください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011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問い A</a:t>
            </a:r>
            <a:br/>
            <a:r>
              <a:t>専攻医向け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8016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16領域になった今、残りの研修期間で</a:t>
            </a:r>
            <a:br/>
            <a:r>
              <a:t>どの領域を「質の高い事例」として書きたいか？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011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問い B</a:t>
            </a:r>
            <a:br/>
            <a:r>
              <a:t>研修医向け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かかりつけ医機能報告制度で求められる能力のうち</a:t>
            </a:r>
            <a:br/>
            <a:r>
              <a:t>今の研修で意識的に伸ばせるものは何か？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011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問い C</a:t>
            </a:r>
            <a:br/>
            <a:r>
              <a:t>指導医向け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60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ポートフォリオ領域が統合された今、</a:t>
            </a:r>
            <a:br/>
            <a:r>
              <a:t>指導でどんな点を強調するか？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振り返りと持ち帰り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4572000" cy="6400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4389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D2B3E"/>
                </a:solidFill>
                <a:latin typeface="Calibri"/>
              </a:defRPr>
            </a:pPr>
            <a:r>
              <a:t>1. 量から質へ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0D2B3E"/>
                </a:solidFill>
                <a:latin typeface="Calibri"/>
              </a:defRPr>
            </a:pPr>
            <a:r>
              <a:t>20→16領域の削減は、1事例あたりの深さ・多面性を重視する方向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572000" cy="6400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4389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D2B3E"/>
                </a:solidFill>
                <a:latin typeface="Calibri"/>
              </a:defRPr>
            </a:pPr>
            <a:r>
              <a:t>2. 制度と教育の融合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0D2B3E"/>
                </a:solidFill>
                <a:latin typeface="Calibri"/>
              </a:defRPr>
            </a:pPr>
            <a:r>
              <a:t>かかりつけ医機能報告制度と専門医研修は同じ方向を向いている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4572000" cy="6400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4389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D2B3E"/>
                </a:solidFill>
                <a:latin typeface="Calibri"/>
              </a:defRPr>
            </a:pPr>
            <a:r>
              <a:t>3. あなたの価値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0D2B3E"/>
                </a:solidFill>
                <a:latin typeface="Calibri"/>
              </a:defRPr>
            </a:pPr>
            <a:r>
              <a:t>総合診療/家庭医療専門医は、これからの医療制度で求められる存在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822960"/>
            <a:ext cx="3383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次のアクション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188720"/>
            <a:ext cx="3383280" cy="5943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20700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E89B3B"/>
                </a:solidFill>
                <a:latin typeface="Calibri"/>
              </a:defRPr>
            </a:pPr>
            <a:r>
              <a:t>今週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207008"/>
            <a:ext cx="21945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JPCA公式サイトで新16領域の詳細を確認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920240"/>
            <a:ext cx="3383280" cy="5943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93852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E89B3B"/>
                </a:solidFill>
                <a:latin typeface="Calibri"/>
              </a:defRPr>
            </a:pPr>
            <a:r>
              <a:t>来月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38528"/>
            <a:ext cx="21945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第17回JPCA学術大会（5/29-31 京都）の演題募集チェック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651760"/>
            <a:ext cx="3383280" cy="5943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67004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E89B3B"/>
                </a:solidFill>
                <a:latin typeface="Calibri"/>
              </a:defRPr>
            </a:pPr>
            <a:r>
              <a:t>今月中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70048"/>
            <a:ext cx="21945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指導医とポートフォリオ進捗を振り返る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47472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4787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t>自分のポートフォリオで一番自信のある領域と、</a:t>
            </a:r>
            <a:br/>
            <a:r>
              <a:t>一番苦手な領域は何か？苦手な領域をどの臨床場面で経験できるか？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7A8A9A"/>
                </a:solidFill>
                <a:latin typeface="Calibri"/>
              </a:defRPr>
            </a:pPr>
            <a:r>
              <a:t>Scribe Agent | 2026-03-27 | ガニェの9教授事象 | 15分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