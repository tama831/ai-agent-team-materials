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4FC"/>
                </a:solidFill>
                <a:latin typeface="Georgia"/>
              </a:defRPr>
            </a:pPr>
            <a:r>
              <a:rPr/>
              <a:t>AIが病院でどう働くか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C9A7"/>
                </a:solidFill>
                <a:latin typeface="Calibri"/>
              </a:defRPr>
            </a:pPr>
            <a:r>
              <a:rPr/>
              <a:t>マルチエージェントAIの医療実証研究 — Mount Sinai論文を読む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82880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研修医・専攻医向け｜30分｜2026-03-21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導入の問い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54864" cy="10058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841248" y="822960"/>
            <a:ext cx="7571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7315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761"/>
                </a:solidFill>
                <a:latin typeface="Georgia"/>
              </a:defRPr>
            </a:pPr>
            <a:r>
              <a:rPr/>
              <a:t>もし優秀な医師が1人いるのと、</a:t>
            </a:r>
            <a:br/>
            <a:r>
              <a:rPr/>
              <a:t>それぞれの専門が違う普通の医師が5人いるチームと、</a:t>
            </a:r>
            <a:br/>
            <a:r>
              <a:rPr/>
              <a:t>どちらに難しい症例を任せたいですか？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3152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F4FC"/>
                </a:solidFill>
                <a:latin typeface="Calibri"/>
              </a:defRPr>
            </a:pPr>
            <a:r>
              <a:rPr/>
              <a:t>この30分の後、あなたは：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マルチエージェントAIの基本概念を説明できる（理解）</a:t>
            </a:r>
          </a:p>
          <a:p>
            <a:pPr>
              <a:defRPr sz="14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Mount Sinai研究のStudy Designを批判的に吟味できる（分析）</a:t>
            </a:r>
          </a:p>
          <a:p>
            <a:pPr>
              <a:defRPr sz="14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自分の臨床現場でのAI活用可能性を1つ提案できる（創造）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Georgia"/>
              </a:defRPr>
            </a:pPr>
            <a:r>
              <a:rPr/>
              <a:t>医療AIの進化 — 3つの世代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822960"/>
          <a:ext cx="76809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2926080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世代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特徴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医療での例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第1世代: ルールベース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人間がルールを書く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処方チェックシステム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第2世代: 生成AI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1つのAIが何でもやる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ChatGPTに症例を聞く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第3世代: エージェントAI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専門AIチームが協力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複数AIが分担して診断支援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2651760"/>
            <a:ext cx="7680960" cy="2103120"/>
          </a:xfrm>
          <a:prstGeom prst="rect">
            <a:avLst/>
          </a:prstGeom>
          <a:solidFill>
            <a:srgbClr val="E8EEFA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4572000" cy="3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マルチエージェント = チーム医療のAI版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38347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Consolas"/>
              </a:defRPr>
            </a:pPr>
            <a:r>
              <a:rPr/>
              <a:t>  [Supervisor Agent]（総合医）</a:t>
            </a:r>
            <a:br/>
            <a:r>
              <a:rPr/>
              <a:t>    ├── [Agent A] 検査データ専門</a:t>
            </a:r>
            <a:br/>
            <a:r>
              <a:rPr/>
              <a:t>    ├── [Agent B] 画像診断専門</a:t>
            </a:r>
            <a:br/>
            <a:r>
              <a:rPr/>
              <a:t>    ├── [Agent C] 薬剤相互作用専門</a:t>
            </a:r>
            <a:br/>
            <a:r>
              <a:rPr/>
              <a:t>    └── [Agent D] ガイドライン照合専門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0175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761"/>
                </a:solidFill>
                <a:latin typeface="Georgia"/>
              </a:defRPr>
            </a:pPr>
            <a:r>
              <a:rPr/>
              <a:t>チーム医療と同じ構造</a:t>
            </a:r>
            <a:br/>
            <a:r>
              <a:rPr/>
              <a:t>1人の総合医がすべてやるより</a:t>
            </a:r>
            <a:br/>
            <a:r>
              <a:rPr/>
              <a:t>専門家チームの方が強い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Georgia"/>
              </a:defRPr>
            </a:pPr>
            <a:r>
              <a:rPr/>
              <a:t>Mount Sinai研究の結果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457200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5BA"/>
                </a:solidFill>
                <a:latin typeface="Calibri"/>
              </a:defRPr>
            </a:pPr>
            <a:r>
              <a:rPr/>
              <a:t>npj Health Systems,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精度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6087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rPr/>
              <a:t>有意に</a:t>
            </a:r>
            <a:br/>
            <a:r>
              <a:rPr/>
              <a:t>上回る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589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特に複雑な</a:t>
            </a:r>
            <a:br/>
            <a:r>
              <a:rPr/>
              <a:t>医療タスクで顕著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0058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ectangle 9"/>
          <p:cNvSpPr/>
          <p:nvPr/>
        </p:nvSpPr>
        <p:spPr>
          <a:xfrm>
            <a:off x="3520439" y="100584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657599" y="114300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コスト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1466087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rPr/>
              <a:t>65分の1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599" y="221589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計算コストを</a:t>
            </a:r>
            <a:br/>
            <a:r>
              <a:rPr/>
              <a:t>大幅削減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0058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ctangle 14"/>
          <p:cNvSpPr/>
          <p:nvPr/>
        </p:nvSpPr>
        <p:spPr>
          <a:xfrm>
            <a:off x="6309359" y="1005840"/>
            <a:ext cx="256032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46520" y="1143000"/>
            <a:ext cx="2286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5BA"/>
                </a:solidFill>
                <a:latin typeface="Calibri"/>
              </a:defRPr>
            </a:pPr>
            <a:r>
              <a:rPr/>
              <a:t>スケール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466087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2761"/>
                </a:solidFill>
                <a:latin typeface="Calibri"/>
              </a:defRPr>
            </a:pPr>
            <a:r>
              <a:rPr/>
              <a:t>性能</a:t>
            </a:r>
            <a:br/>
            <a:r>
              <a:rPr/>
              <a:t>維持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15895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761"/>
                </a:solidFill>
                <a:latin typeface="Calibri"/>
              </a:defRPr>
            </a:pPr>
            <a:r>
              <a:rPr/>
              <a:t>タスク増加でも</a:t>
            </a:r>
            <a:br/>
            <a:r>
              <a:rPr/>
              <a:t>品質低下なし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ectangle 19"/>
          <p:cNvSpPr/>
          <p:nvPr/>
        </p:nvSpPr>
        <p:spPr>
          <a:xfrm>
            <a:off x="841248" y="3017520"/>
            <a:ext cx="757123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60120" y="3090672"/>
            <a:ext cx="73152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761"/>
                </a:solidFill>
                <a:latin typeface="Georgia"/>
              </a:defRPr>
            </a:pPr>
            <a:r>
              <a:rPr/>
              <a:t>救急外来で10人同時搬送：スーパードクター1人 → 限界 ／ 専門チーム5人 → 並列処理＋専門性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Georgia"/>
              </a:defRPr>
            </a:pPr>
            <a:r>
              <a:rPr/>
              <a:t>批判的吟味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777240"/>
          <a:ext cx="7680960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00400"/>
                <a:gridCol w="3200400"/>
              </a:tblGrid>
              <a:tr h="3383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限界・疑問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新規性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医療でのマルチエージェント実証は少ない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実臨床にどれだけ近いタスクか？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定量性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65倍のコスト削減は具体的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ベンチマーク選定は適切か？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再現性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Mount Sinaiの信頼性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他施設での再現は？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臨床的意義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チーム医療と同構造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患者アウトカムは直接示されているか？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</a:tr>
              <a:tr h="3383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安全性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判断ミスの検出機構は？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926080"/>
            <a:ext cx="2743200" cy="32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考えるべき問い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66947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65倍のコスト削減 — 比較対象は公平か？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統計的有意 ≠ 臨床的有意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エージェント誤判断時の安全装置は？</a:t>
            </a:r>
          </a:p>
          <a:p>
            <a:pPr>
              <a:defRPr sz="1100">
                <a:solidFill>
                  <a:srgbClr val="1E2761"/>
                </a:solidFill>
                <a:latin typeface="Calibri"/>
              </a:defRPr>
              <a:buChar char="●"/>
            </a:pPr>
            <a:r>
              <a:rPr/>
              <a:t>日本の医療にそのまま適用できるか？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C"/>
                </a:solidFill>
                <a:latin typeface="Georgia"/>
              </a:defRPr>
            </a:pPr>
            <a:r>
              <a:rPr/>
              <a:t>ペアディスカッション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A7"/>
                </a:solidFill>
                <a:latin typeface="Calibri"/>
              </a:defRPr>
            </a:pPr>
            <a:r>
              <a:rPr/>
              <a:t>4分間 → 全体共有 2分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18872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761"/>
                </a:solidFill>
                <a:latin typeface="Georgia"/>
              </a:defRPr>
            </a:pPr>
            <a:r>
              <a:rPr/>
              <a:t>あなたの臨床現場（外来・病棟・救急）で、</a:t>
            </a:r>
            <a:br/>
            <a:r>
              <a:rPr/>
              <a:t>マルチエージェントAIが活躍できそうな場面を</a:t>
            </a:r>
            <a:br/>
            <a:r>
              <a:rPr/>
              <a:t>1つ考えてください。</a:t>
            </a:r>
            <a:br/>
            <a:r>
              <a:rPr/>
              <a:t>どんな「専門エージェント」が必要ですか？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考えるヒント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4688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複数の情報源を同時に確認する場面は？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「誰かに自動チェックしてほしい」業務は？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カンファレンスの事前準備を効率化するなら？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761"/>
                </a:solidFill>
                <a:latin typeface="Georgia"/>
              </a:defRPr>
            </a:pPr>
            <a:r>
              <a:rPr/>
              <a:t>業界トレンド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56032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237744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9A7"/>
                </a:solidFill>
                <a:latin typeface="Calibri"/>
              </a:defRPr>
            </a:pPr>
            <a:r>
              <a:rPr/>
              <a:t>1,445%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512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4FC"/>
                </a:solidFill>
                <a:latin typeface="Calibri"/>
              </a:defRPr>
            </a:pPr>
            <a:r>
              <a:rPr/>
              <a:t>問い合わせ急増</a:t>
            </a:r>
            <a:br/>
            <a:r>
              <a:rPr/>
              <a:t>(Gartner)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39" y="822960"/>
            <a:ext cx="256032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611879" y="868680"/>
            <a:ext cx="237744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9A7"/>
                </a:solidFill>
                <a:latin typeface="Calibri"/>
              </a:defRPr>
            </a:pPr>
            <a:r>
              <a:rPr/>
              <a:t>3倍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140512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4FC"/>
                </a:solidFill>
                <a:latin typeface="Calibri"/>
              </a:defRPr>
            </a:pPr>
            <a:r>
              <a:rPr/>
              <a:t>タスク完了速度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822960"/>
            <a:ext cx="256032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799" y="868680"/>
            <a:ext cx="237744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9A7"/>
                </a:solidFill>
                <a:latin typeface="Calibri"/>
              </a:defRPr>
            </a:pPr>
            <a:r>
              <a:rPr/>
              <a:t>60%↑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140512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0F4FC"/>
                </a:solidFill>
                <a:latin typeface="Calibri"/>
              </a:defRPr>
            </a:pPr>
            <a:r>
              <a:rPr/>
              <a:t>精度向上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011680"/>
          <a:ext cx="768096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human-in-the-loop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4FC"/>
                          </a:solidFill>
                          <a:latin typeface="Calibri"/>
                        </a:defRPr>
                      </a:pPr>
                      <a:r>
                        <a:t>human-on-the-loop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AIが提案→人間が毎回承認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AIが自律実行→人間が監督</a:t>
                      </a:r>
                    </a:p>
                  </a:txBody>
                  <a:tcPr>
                    <a:solidFill>
                      <a:srgbClr val="E8EEFA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安全だが遅い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速いが信頼性設計が重要</a:t>
                      </a:r>
                    </a:p>
                  </a:txBody>
                  <a:tcPr>
                    <a:solidFill>
                      <a:srgbClr val="F0F4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A7"/>
                </a:solidFill>
                <a:latin typeface="Calibri"/>
              </a:defRPr>
            </a:pPr>
            <a:r>
              <a:rPr/>
              <a:t>「人間がチェックしなくてもいいAI」は、医療でどこまで許されるか？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4FC"/>
                </a:solidFill>
                <a:latin typeface="Georgia"/>
              </a:defRPr>
            </a:pPr>
            <a:r>
              <a:rPr/>
              <a:t>持ち帰りの問い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Calibri"/>
              </a:defRPr>
            </a:pPr>
            <a:r>
              <a:rPr/>
              <a:t>来週の1アクション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5592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自分の業務で「複数情報を同時確認する場面」を1つメモ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同僚と「AIに任せたい業務」について1回話す</a:t>
            </a:r>
          </a:p>
          <a:p>
            <a:pPr>
              <a:defRPr sz="1300">
                <a:solidFill>
                  <a:srgbClr val="F0F4FC"/>
                </a:solidFill>
                <a:latin typeface="Calibri"/>
              </a:defRPr>
              <a:buChar char="●"/>
            </a:pPr>
            <a:r>
              <a:rPr/>
              <a:t>Mount Sinai論文のAbstractを読んでみる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768096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0F4FC"/>
                </a:solidFill>
                <a:latin typeface="Georgia"/>
              </a:defRPr>
            </a:pPr>
            <a:r>
              <a:rPr/>
              <a:t>チーム医療では「誰が最終責任を負うか」が明確です。</a:t>
            </a:r>
            <a:br/>
            <a:r>
              <a:rPr/>
              <a:t>マルチエージェントAIでは、誰が責任を負うのでしょうか？</a:t>
            </a:r>
            <a:br/>
            <a:br/>
            <a:r>
              <a:rPr/>
              <a:t>— この問いは、AIの技術問題ではなく、医療倫理の問題です。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