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59436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t>新・家庭医療専門医制度の改訂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5943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7A8A9A"/>
                </a:solidFill>
                <a:latin typeface="Calibri"/>
              </a:defRPr>
            </a:pPr>
            <a:r>
              <a:t>ポートフォリオ2割削減とかかりつけ医機能報告制度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0" y="365760"/>
            <a:ext cx="3474720" cy="15544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0" y="411480"/>
            <a:ext cx="347472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4400" b="1">
                <a:solidFill>
                  <a:srgbClr val="0D2B3E"/>
                </a:solidFill>
                <a:latin typeface="Calibri"/>
              </a:defRPr>
            </a:pPr>
            <a:r>
              <a:t>20 → 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234440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300" b="0">
                <a:solidFill>
                  <a:srgbClr val="0D2B3E"/>
                </a:solidFill>
                <a:latin typeface="Calibri"/>
              </a:defRPr>
            </a:pPr>
            <a:r>
              <a:t>ポートフォリオ領域 2割削減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1554480"/>
            <a:ext cx="34747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0D2B3E"/>
                </a:solidFill>
                <a:latin typeface="Calibri"/>
              </a:defRPr>
            </a:pPr>
            <a:r>
              <a:t>学会発表 3件→2件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54864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54480"/>
            <a:ext cx="427939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627632"/>
            <a:ext cx="4023359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t>これは「楽になった」のか？ それとも「質がもっと問われる」のか？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77440"/>
            <a:ext cx="45720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今日の学習目標（15分）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743200"/>
            <a:ext cx="502920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説明できる — 制度変更の具体的内容と背景（理解）</a:t>
            </a:r>
          </a:p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比較できる — 旧制度と新制度の差分を分析（分析）</a:t>
            </a:r>
          </a:p>
          <a:p>
            <a:pPr>
              <a:defRPr sz="1200">
                <a:solidFill>
                  <a:srgbClr val="F5F0E8"/>
                </a:solidFill>
                <a:latin typeface="Calibri"/>
              </a:defRPr>
              <a:buChar char="●"/>
            </a:pPr>
            <a:r>
              <a:t>立案できる — ポートフォリオ戦略を描ける（創造）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54864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900" b="0">
                <a:solidFill>
                  <a:srgbClr val="7A8A9A"/>
                </a:solidFill>
                <a:latin typeface="Calibri"/>
              </a:defRPr>
            </a:pPr>
            <a:r>
              <a:t>JPCA 2024年6月発表 | 2025年3月修了者より適用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t>Quick Poll — 今の知識を確認しよう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4572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事象3: 前提条件の想起 | 2-4分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7680960" cy="7772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73152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✋  新・家庭医療専門医制度のポートフォリオを書いたことがある人？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377440"/>
            <a:ext cx="7680960" cy="7772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73152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✋  「かかりつけ医機能報告制度」という言葉を聞いたことがある人？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383280"/>
            <a:ext cx="7680960" cy="7772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20440"/>
            <a:ext cx="7315200" cy="502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1A1A2E"/>
                </a:solidFill>
                <a:latin typeface="Calibri"/>
              </a:defRPr>
            </a:pPr>
            <a:r>
              <a:t>✋  第17回JPCA学術大会（2026年5月・京都）に参加予定の人？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434840"/>
            <a:ext cx="54864" cy="50292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4434840"/>
            <a:ext cx="757123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4507992"/>
            <a:ext cx="7315200" cy="3566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今、専門医制度と医療政策が同時に大きく動いています。研修医・専攻医にとって「制度を知る」ことは、キャリア戦略そのものです。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ポートフォリオ領域の前後比較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4572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事象4: 新しい内容の提示 | 4-7分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4572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削減された4領域（旧17-20）→ 統合先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502920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2286000"/>
                <a:gridCol w="2286000"/>
              </a:tblGrid>
              <a:tr h="310896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旧#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削減された領域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統合先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17a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複雑困難事例のケア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多疾患併存(4)・慢性疾患(3)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17b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統合されたケア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チーム医療(12)・地域志向(8)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18a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プロフェッショナリズム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医療者自身のケア(16)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18b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倫理的困難な意思決定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患者中心の医療(6)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19a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セクシャルヘルス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各関連領域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19b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思春期のケア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各関連領域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20a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緩和ケア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長期的な全人的関係(5)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20b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人生の最終段階のケア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→ 長期的な全人的関係(5)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760720" y="1005840"/>
            <a:ext cx="31089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コア16領域は変更なし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720" y="1280160"/>
            <a:ext cx="3017520" cy="2926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1. 未分化な健康問題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2. 予防医学と健康増進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3. 慢性疾患のケア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4. 多疾患併存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5. 長期的な全人的関係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6. 患者中心の医療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7. 家族志向のケア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8. 地域志向のPC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9. 障害とリハビリ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10. 臨床における教育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11. EBMの実践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12. チーム医療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13. システム思考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14. メンタルヘルス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15. 社会的決定要因</a:t>
            </a:r>
          </a:p>
          <a:p>
            <a:pPr>
              <a:defRPr sz="800">
                <a:solidFill>
                  <a:srgbClr val="1A1A2E"/>
                </a:solidFill>
                <a:latin typeface="Calibri"/>
              </a:defRPr>
              <a:buChar char="•"/>
            </a:pPr>
            <a:r>
              <a:t>16. 医療者自身のケア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54864" cy="6400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4297680"/>
            <a:ext cx="811987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370832"/>
            <a:ext cx="7863840" cy="49377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領域が「消えた」のではなく、既存領域に統合された。</a:t>
            </a:r>
            <a:br/>
            <a:r>
              <a:t>1つのポートフォリオに求められる多面性と深さがむしろ増している。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F5F0E8"/>
                </a:solidFill>
                <a:latin typeface="Calibri"/>
              </a:defRPr>
            </a:pPr>
            <a:r>
              <a:t>その他の変更 + かかりつけ医機能報告制度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4572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事象4+5 | 7-9分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05840"/>
          <a:ext cx="38404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097280"/>
              </a:tblGrid>
              <a:tr h="32004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旧制度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新制度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ポートフォリオ領域数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20領域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16領域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学会発表必要件数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3件以上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2件以上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適用開始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2025年3月修了者〜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54880" y="1005840"/>
            <a:ext cx="411480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E89B3B"/>
                </a:solidFill>
                <a:latin typeface="Calibri"/>
              </a:defRPr>
            </a:pPr>
            <a:r>
              <a:t>かかりつけ医機能報告制度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754880" y="1371600"/>
          <a:ext cx="3931920" cy="19202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2743200"/>
              </a:tblGrid>
              <a:tr h="320039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項目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 marL="45720" marR="45720" marT="18288" marB="18288">
                    <a:solidFill>
                      <a:srgbClr val="0D2B3E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根拠法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2023年医療法改正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施行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2025年4月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初回報告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2026年1月〜3月（G-MIS）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  <a:tr h="320039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報告内容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17診療領域・40疾患対応力 等</a:t>
                      </a:r>
                    </a:p>
                  </a:txBody>
                  <a:tcPr marL="45720" marR="45720" marT="18288" marB="18288">
                    <a:solidFill>
                      <a:srgbClr val="F5F0E8"/>
                    </a:solidFill>
                  </a:tcPr>
                </a:tc>
              </a:tr>
              <a:tr h="320044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目的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患者が医療機関を選べるように</a:t>
                      </a:r>
                    </a:p>
                  </a:txBody>
                  <a:tcPr marL="45720" marR="45720" marT="18288" marB="18288"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566160"/>
            <a:ext cx="54864" cy="68580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3566160"/>
            <a:ext cx="8119872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639312"/>
            <a:ext cx="7863840" cy="5394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t>家庭医療専門医の研修で培う能力 ≒ かかりつけ医機能報告で求められる能力</a:t>
            </a:r>
            <a:br/>
            <a:r>
              <a:t>あなたの存在が、医療機関の「かかりつけ医機能」を高める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97680"/>
            <a:ext cx="77724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t>報告制度の17診療領域 ≒ 家庭医が日常的に扱う領域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t>「総合診療専門医を配置しているか」が報告項目に含まれる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t>あなたの存在が医療機関の「かかりつけ医機能」を高める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7315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000" b="1">
                <a:solidFill>
                  <a:srgbClr val="1A1A2E"/>
                </a:solidFill>
                <a:latin typeface="Calibri"/>
              </a:defRPr>
            </a:pPr>
            <a:r>
              <a:t>ペアディスカッション — 自分の戦略を考える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事象6+7: 練習 + フィードバック | 9-13分 | ペアワーク3分 + 共有1分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188720"/>
            <a:ext cx="7680960" cy="10058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3444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問い A（専攻医向け）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713232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ポートフォリオが16領域になった今、残りの研修期間でどの領域を「質の高い事例」として書きたいか？ その理由は？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377440"/>
            <a:ext cx="7680960" cy="10058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2316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問い B（研修医向け）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697480"/>
            <a:ext cx="713232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かかりつけ医機能報告制度で求められる能力のうち、今の研修で意識的に伸ばせるものは何か？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566160"/>
            <a:ext cx="7680960" cy="100584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27432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E89B3B"/>
                </a:solidFill>
                <a:latin typeface="Calibri"/>
              </a:defRPr>
            </a:pPr>
            <a:r>
              <a:t>問い C（指導医向け）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86200"/>
            <a:ext cx="7132320" cy="5943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Calibri"/>
              </a:defRPr>
            </a:pPr>
            <a:r>
              <a:t>ポートフォリオの領域が統合された今、指導でどんな点を強調するか？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663440"/>
            <a:ext cx="768096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7A8A9A"/>
                </a:solidFill>
                <a:latin typeface="Calibri"/>
              </a:defRPr>
            </a:pPr>
            <a:r>
              <a:t>隣の人とペアを組み、3つの問いから1つ選んで話し合ってください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73152" cy="44805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5F0E8"/>
                </a:solidFill>
                <a:latin typeface="Calibri"/>
              </a:defRPr>
            </a:pPr>
            <a:r>
              <a:t>振り返りと持ち帰り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45720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t>事象8+9 | 13-15分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97280"/>
            <a:ext cx="3931920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1556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D2B3E"/>
                </a:solidFill>
                <a:latin typeface="Calibri"/>
              </a:defRPr>
            </a:pPr>
            <a:r>
              <a:t>1. 量から質へ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365760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0D2B3E"/>
                </a:solidFill>
                <a:latin typeface="Calibri"/>
              </a:defRPr>
            </a:pPr>
            <a:r>
              <a:t>20→16領域の削減は、1事例あたりの深さ・多面性を重視する方向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783080"/>
            <a:ext cx="3931920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0136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D2B3E"/>
                </a:solidFill>
                <a:latin typeface="Calibri"/>
              </a:defRPr>
            </a:pPr>
            <a:r>
              <a:t>2. 制度と教育の融合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057400"/>
            <a:ext cx="365760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0D2B3E"/>
                </a:solidFill>
                <a:latin typeface="Calibri"/>
              </a:defRPr>
            </a:pPr>
            <a:r>
              <a:t>かかりつけ医機能報告制度と専門医研修は同じ方向を向いている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68880"/>
            <a:ext cx="3931920" cy="54864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87168"/>
            <a:ext cx="3657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0D2B3E"/>
                </a:solidFill>
                <a:latin typeface="Calibri"/>
              </a:defRPr>
            </a:pPr>
            <a:r>
              <a:t>3. あなたの価値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43200"/>
            <a:ext cx="3657600" cy="256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000" b="0">
                <a:solidFill>
                  <a:srgbClr val="0D2B3E"/>
                </a:solidFill>
                <a:latin typeface="Calibri"/>
              </a:defRPr>
            </a:pPr>
            <a:r>
              <a:t>総合診療/家庭医療専門医は、これからの医療制度で求められる存在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097280"/>
            <a:ext cx="3931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持ち帰りの問い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46320" y="1417320"/>
            <a:ext cx="54864" cy="82296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6048" y="1417320"/>
            <a:ext cx="3822191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4920" y="1490472"/>
            <a:ext cx="3566160" cy="6766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t>「自分のポートフォリオで一番自信のある領域と、一番苦手な領域は何か？</a:t>
            </a:r>
            <a:br/>
            <a:r>
              <a:t> 苦手な領域を、どの臨床場面で経験できるか？」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468880"/>
            <a:ext cx="393192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t>次のアクション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2743200"/>
            <a:ext cx="393192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t>JPCA公式サイトで新16領域の詳細を確認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t>第17回JPCA学術大会（5/29-31 京都）の演題募集チェック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●"/>
            </a:pPr>
            <a:r>
              <a:t>指導医とポートフォリオ進捗を振り返る機会を設定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663440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t>Scribe Agent | 2026-03-27 | ガニェの9教授事象 | 15分セッション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