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3000" b="1">
                <a:solidFill>
                  <a:srgbClr val="F5F0E8"/>
                </a:solidFill>
                <a:latin typeface="Calibri"/>
              </a:defRPr>
            </a:pPr>
            <a:r>
              <a:rPr/>
              <a:t>利用可能性バイアスと診断推論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0">
                <a:solidFill>
                  <a:srgbClr val="E89B3B"/>
                </a:solidFill>
                <a:latin typeface="Calibri"/>
              </a:defRPr>
            </a:pPr>
            <a:r>
              <a:rPr/>
              <a:t>— あなたの診断は「記憶」に支配されている？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011680"/>
            <a:ext cx="36576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30479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7A8A9A"/>
                </a:solidFill>
                <a:latin typeface="Calibri"/>
              </a:defRPr>
            </a:pPr>
            <a:r>
              <a:rPr/>
              <a:t>15分 | 研修医・専攻医向け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017520"/>
            <a:ext cx="54864" cy="9144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Rectangle 6"/>
          <p:cNvSpPr/>
          <p:nvPr/>
        </p:nvSpPr>
        <p:spPr>
          <a:xfrm>
            <a:off x="1024128" y="3017520"/>
            <a:ext cx="720547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43000" y="3090672"/>
            <a:ext cx="6949440" cy="7680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Georgia"/>
              </a:defRPr>
            </a:pPr>
            <a:r>
              <a:rPr/>
              <a:t>「先週インフルエンザを5人診た翌週、</a:t>
            </a:r>
            <a:br/>
            <a:r>
              <a:rPr/>
              <a:t>咳と発熱の患者さんが来たら何を考えますか？」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rPr/>
              <a:t>学習目標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914400" cy="9144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1234439"/>
            <a:ext cx="914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600" b="1">
                <a:solidFill>
                  <a:srgbClr val="0D2B3E"/>
                </a:solidFill>
                <a:latin typeface="Calibri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43000"/>
            <a:ext cx="7132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rPr/>
              <a:t>説明できる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08760"/>
            <a:ext cx="71323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7A8A9A"/>
                </a:solidFill>
                <a:latin typeface="Calibri"/>
              </a:defRPr>
            </a:pPr>
            <a:r>
              <a:rPr/>
              <a:t>利用可能性バイアスの定義と</a:t>
            </a:r>
            <a:br/>
            <a:r>
              <a:rPr/>
              <a:t>発生メカニズムを自分の言葉で説明できる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914400" cy="9144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914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600" b="1">
                <a:solidFill>
                  <a:srgbClr val="0D2B3E"/>
                </a:solidFill>
                <a:latin typeface="Calibri"/>
              </a:defRPr>
            </a:pPr>
            <a:r>
              <a:rPr/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31720"/>
            <a:ext cx="7132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rPr/>
              <a:t>批判的に吟味できる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97480"/>
            <a:ext cx="71323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7A8A9A"/>
                </a:solidFill>
                <a:latin typeface="Calibri"/>
              </a:defRPr>
            </a:pPr>
            <a:r>
              <a:rPr/>
              <a:t>Moura et al. (2026) の研究デザイン・</a:t>
            </a:r>
            <a:br/>
            <a:r>
              <a:rPr/>
              <a:t>結果・限界を分析できる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914400" cy="9144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79"/>
            <a:ext cx="914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600" b="1">
                <a:solidFill>
                  <a:srgbClr val="0D2B3E"/>
                </a:solidFill>
                <a:latin typeface="Calibri"/>
              </a:defRPr>
            </a:pPr>
            <a:r>
              <a:rPr/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20439"/>
            <a:ext cx="7132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rPr/>
              <a:t>計画を立てられる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886200"/>
            <a:ext cx="71323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7A8A9A"/>
                </a:solidFill>
                <a:latin typeface="Calibri"/>
              </a:defRPr>
            </a:pPr>
            <a:r>
              <a:rPr/>
              <a:t>自身の臨床推論でバイアスを軽減する</a:t>
            </a:r>
            <a:br/>
            <a:r>
              <a:rPr/>
              <a:t>構造化された振り返りを設計できる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F5F0E8"/>
                </a:solidFill>
                <a:latin typeface="Calibri"/>
              </a:defRPr>
            </a:pPr>
            <a:r>
              <a:rPr/>
              <a:t>認知バイアスの復習 — System 1 と System 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114800" cy="1371600"/>
          </a:xfrm>
          <a:prstGeom prst="rect">
            <a:avLst/>
          </a:prstGeom>
          <a:solidFill>
            <a:srgbClr val="0D2B3E"/>
          </a:solidFill>
          <a:ln w="12700">
            <a:solidFill>
              <a:srgbClr val="E89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3840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E89B3B"/>
                </a:solidFill>
                <a:latin typeface="Calibri"/>
              </a:defRPr>
            </a:pPr>
            <a:r>
              <a:rPr/>
              <a:t>System 1（速い思考）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3840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5F0E8"/>
                </a:solidFill>
                <a:latin typeface="Calibri"/>
              </a:defRPr>
            </a:pPr>
            <a:r>
              <a:rPr/>
              <a:t>直感的・自動的・省エネ</a:t>
            </a:r>
            <a:br/>
            <a:r>
              <a:rPr/>
              <a:t>臨床のほとんどの判断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97280"/>
            <a:ext cx="4114800" cy="1371600"/>
          </a:xfrm>
          <a:prstGeom prst="rect">
            <a:avLst/>
          </a:prstGeom>
          <a:solidFill>
            <a:srgbClr val="0D2B3E"/>
          </a:solidFill>
          <a:ln w="12700">
            <a:solidFill>
              <a:srgbClr val="E89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983480" y="1188720"/>
            <a:ext cx="3840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E89B3B"/>
                </a:solidFill>
                <a:latin typeface="Calibri"/>
              </a:defRPr>
            </a:pPr>
            <a:r>
              <a:rPr/>
              <a:t>System 2（遅い思考）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645920"/>
            <a:ext cx="3840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5F0E8"/>
                </a:solidFill>
                <a:latin typeface="Calibri"/>
              </a:defRPr>
            </a:pPr>
            <a:r>
              <a:rPr/>
              <a:t>分析的・意識的・高負荷</a:t>
            </a:r>
            <a:br/>
            <a:r>
              <a:rPr/>
              <a:t>複雑な鑑別診断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5F0E8"/>
                </a:solidFill>
                <a:latin typeface="Calibri"/>
              </a:defRPr>
            </a:pPr>
            <a:r>
              <a:rPr/>
              <a:t>認知バイアスはSystem 1のショートカット（ヒューリスティクス）から生じる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5F0E8"/>
                </a:solidFill>
                <a:latin typeface="Calibri"/>
              </a:defRPr>
            </a:pPr>
            <a:r>
              <a:rPr/>
              <a:t>  利用可能性バイアス: 思い出しやすい情報を過大評価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5F0E8"/>
                </a:solidFill>
                <a:latin typeface="Calibri"/>
              </a:defRPr>
            </a:pPr>
            <a:r>
              <a:rPr/>
              <a:t>  アンカリング: 最初の情報に固執する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5F0E8"/>
                </a:solidFill>
                <a:latin typeface="Calibri"/>
              </a:defRPr>
            </a:pPr>
            <a:r>
              <a:rPr/>
              <a:t>  確証バイアス: 自分の仮説を支持する情報ばかり集める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rPr/>
              <a:t>利用可能性バイアスとは何か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54864" cy="73152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ectangle 4"/>
          <p:cNvSpPr/>
          <p:nvPr/>
        </p:nvSpPr>
        <p:spPr>
          <a:xfrm>
            <a:off x="841248" y="1097280"/>
            <a:ext cx="738835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60120" y="1170432"/>
            <a:ext cx="7132319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Georgia"/>
              </a:defRPr>
            </a:pPr>
            <a:r>
              <a:rPr/>
              <a:t>記憶から容易に想起できる情報を、</a:t>
            </a:r>
            <a:br/>
            <a:r>
              <a:rPr/>
              <a:t>実際の頻度や確率よりも重要視する認知傾向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315200" cy="2870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7A8A9A"/>
                </a:solidFill>
                <a:latin typeface="Calibri"/>
              </a:defRPr>
            </a:pPr>
            <a:r>
              <a:rPr/>
              <a:t>Tversky &amp; Kahneman (1973) が最初に記述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7315200" cy="340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rPr/>
              <a:t>臨床場面での発動条件: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E89B3B"/>
                </a:solidFill>
                <a:latin typeface="Calibri"/>
              </a:defRPr>
            </a:pPr>
            <a:r>
              <a:rPr/>
              <a:t>  直近の経験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92608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rPr/>
              <a:t>先週同じ疾患を診た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E89B3B"/>
                </a:solidFill>
                <a:latin typeface="Calibri"/>
              </a:defRPr>
            </a:pPr>
            <a:r>
              <a:rPr/>
              <a:t>  感情的インパクト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38328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rPr/>
              <a:t>印象に残った重症例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E89B3B"/>
                </a:solidFill>
                <a:latin typeface="Calibri"/>
              </a:defRPr>
            </a:pPr>
            <a:r>
              <a:rPr/>
              <a:t>  メディア露出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84048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rPr/>
              <a:t>ニュースで話題の疾患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389120"/>
            <a:ext cx="54864" cy="4572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Rectangle 15"/>
          <p:cNvSpPr/>
          <p:nvPr/>
        </p:nvSpPr>
        <p:spPr>
          <a:xfrm>
            <a:off x="841248" y="4389120"/>
            <a:ext cx="73883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960120" y="4462272"/>
            <a:ext cx="7132319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Georgia"/>
              </a:defRPr>
            </a:pPr>
            <a:r>
              <a:rPr/>
              <a:t>例: インフルエンザ流行期に連続で診断した後、同じ症状の市中肺炎を見逃す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5F0E8"/>
                </a:solidFill>
                <a:latin typeface="Calibri"/>
              </a:defRPr>
            </a:pPr>
            <a:r>
              <a:rPr/>
              <a:t>研究紹介 — Moura et al. (2026)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E89B3B"/>
                </a:solidFill>
                <a:latin typeface="Calibri"/>
              </a:defRPr>
            </a:pPr>
            <a:r>
              <a:rPr/>
              <a:t>BMJ Quality &amp; Safety (2026年2月)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7A8A9A"/>
                </a:solidFill>
                <a:latin typeface="Calibri"/>
              </a:defRPr>
            </a:pPr>
            <a:r>
              <a:rPr/>
              <a:t>DOI: 10.1136/bmjqs-2025-019520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560320" cy="4572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0D2B3E"/>
                </a:solidFill>
                <a:latin typeface="Calibri"/>
              </a:defRPr>
            </a:pPr>
            <a:r>
              <a:rPr/>
              <a:t>デザイン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874519"/>
            <a:ext cx="56692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5F0E8"/>
                </a:solidFill>
                <a:latin typeface="Calibri"/>
              </a:defRPr>
            </a:pPr>
            <a:r>
              <a:rPr/>
              <a:t>横断調査（Cross-sectional study）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2560320" cy="4572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0D2B3E"/>
                </a:solidFill>
                <a:latin typeface="Calibri"/>
              </a:defRPr>
            </a:pPr>
            <a:r>
              <a:rPr/>
              <a:t>対象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423160"/>
            <a:ext cx="56692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5F0E8"/>
                </a:solidFill>
                <a:latin typeface="Calibri"/>
              </a:defRPr>
            </a:pPr>
            <a:r>
              <a:rPr/>
              <a:t>1015名の医師（複数の専門科・経験年数）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2560320" cy="4572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48640" y="297180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0D2B3E"/>
                </a:solidFill>
                <a:latin typeface="Calibri"/>
              </a:defRPr>
            </a:pPr>
            <a:r>
              <a:rPr/>
              <a:t>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971800"/>
            <a:ext cx="56692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5F0E8"/>
                </a:solidFill>
                <a:latin typeface="Calibri"/>
              </a:defRPr>
            </a:pPr>
            <a:r>
              <a:rPr/>
              <a:t>臨床ビネット（仮想症例）を用いた診断課題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2560320" cy="4572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48640" y="3520439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0D2B3E"/>
                </a:solidFill>
                <a:latin typeface="Calibri"/>
              </a:defRPr>
            </a:pPr>
            <a:r>
              <a:rPr/>
              <a:t>主要曝露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520439"/>
            <a:ext cx="56692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5F0E8"/>
                </a:solidFill>
                <a:latin typeface="Calibri"/>
              </a:defRPr>
            </a:pPr>
            <a:r>
              <a:rPr/>
              <a:t>直近7日以内に特定疾患の患者を診察した経験の有無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2560320" cy="4572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548640" y="406908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0D2B3E"/>
                </a:solidFill>
                <a:latin typeface="Calibri"/>
              </a:defRPr>
            </a:pPr>
            <a:r>
              <a:rPr/>
              <a:t>主要アウトカム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069080"/>
            <a:ext cx="56692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5F0E8"/>
                </a:solidFill>
                <a:latin typeface="Calibri"/>
              </a:defRPr>
            </a:pPr>
            <a:r>
              <a:rPr/>
              <a:t>誤診率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rPr/>
              <a:t>主要結果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45720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指標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値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意味</a:t>
                      </a:r>
                    </a:p>
                  </a:txBody>
                  <a:tcPr marL="45720" marR="45720" marT="18288" marB="18288">
                    <a:solidFill>
                      <a:srgbClr val="0D2B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回帰係数 (b)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0.165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直近の臨床遭遇が誤診率を有意に上昇させる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p値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0.018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統計的に有意</a:t>
                      </a:r>
                    </a:p>
                  </a:txBody>
                  <a:tcPr marL="45720" marR="45720" marT="18288" marB="18288">
                    <a:solidFill>
                      <a:srgbClr val="F5F0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経験年数の影響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有意でない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年数を重ねても自動的にはバイアスは減らない</a:t>
                      </a:r>
                    </a:p>
                  </a:txBody>
                  <a:tcPr marL="45720" marR="45720" marT="18288" marB="18288">
                    <a:solidFill>
                      <a:srgbClr val="E8F0F0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solidFill>
            <a:srgbClr val="E8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E89B3B"/>
                </a:solidFill>
                <a:latin typeface="Calibri"/>
              </a:defRPr>
            </a:pPr>
            <a:r>
              <a:rPr/>
              <a:t>核心的メッセージ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rPr/>
              <a:t>「たくさん診ている」こと自体はバイアス軽減にならない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rPr/>
              <a:t>重要なのは「構造化された経験」と「フィードバック」の蓄積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F5F0E8"/>
                </a:solidFill>
                <a:latin typeface="Calibri"/>
              </a:defRPr>
            </a:pPr>
            <a:r>
              <a:rPr/>
              <a:t>批判的吟味 — この研究の強みと限界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4114800" cy="2286000"/>
          </a:xfrm>
          <a:prstGeom prst="rect">
            <a:avLst/>
          </a:prstGeom>
          <a:solidFill>
            <a:srgbClr val="0D2B3E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3657600" cy="37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E89B3B"/>
                </a:solidFill>
                <a:latin typeface="Calibri"/>
              </a:defRPr>
            </a:pPr>
            <a:r>
              <a:rPr/>
              <a:t>強み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5F0E8"/>
                </a:solidFill>
                <a:latin typeface="Calibri"/>
              </a:defRPr>
            </a:pPr>
            <a:r>
              <a:rPr/>
              <a:t>  大規模サンプル（n=1015）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5F0E8"/>
                </a:solidFill>
                <a:latin typeface="Calibri"/>
              </a:defRPr>
            </a:pPr>
            <a:r>
              <a:rPr/>
              <a:t>  実際の臨床経験を曝露変数として使用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5F0E8"/>
                </a:solidFill>
                <a:latin typeface="Calibri"/>
              </a:defRPr>
            </a:pPr>
            <a:r>
              <a:rPr/>
              <a:t>  複数の専門科を横断的に調査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097280"/>
            <a:ext cx="4114800" cy="2286000"/>
          </a:xfrm>
          <a:prstGeom prst="rect">
            <a:avLst/>
          </a:prstGeom>
          <a:solidFill>
            <a:srgbClr val="0D2B3E"/>
          </a:solidFill>
          <a:ln w="12700">
            <a:solidFill>
              <a:srgbClr val="E89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846320" y="1188720"/>
            <a:ext cx="3657600" cy="37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E89B3B"/>
                </a:solidFill>
                <a:latin typeface="Calibri"/>
              </a:defRPr>
            </a:pPr>
            <a:r>
              <a:rPr/>
              <a:t>限界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64592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F5F0E8"/>
                </a:solidFill>
                <a:latin typeface="Calibri"/>
              </a:defRPr>
            </a:pPr>
            <a:r>
              <a:rPr/>
              <a:t>  横断研究のため因果関係は断定不可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10312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F5F0E8"/>
                </a:solidFill>
                <a:latin typeface="Calibri"/>
              </a:defRPr>
            </a:pPr>
            <a:r>
              <a:rPr/>
              <a:t>  臨床ビネットは実臨床の複雑性を再現しない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56032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F5F0E8"/>
                </a:solidFill>
                <a:latin typeface="Calibri"/>
              </a:defRPr>
            </a:pPr>
            <a:r>
              <a:rPr/>
              <a:t>  自己申告ベース（想起バイアス）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01752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F5F0E8"/>
                </a:solidFill>
                <a:latin typeface="Calibri"/>
              </a:defRPr>
            </a:pPr>
            <a:r>
              <a:rPr/>
              <a:t>  「構造化された経験」の定義が曖昧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7A8A9A"/>
                </a:solidFill>
                <a:latin typeface="Calibri"/>
              </a:defRPr>
            </a:pPr>
            <a:r>
              <a:rPr/>
              <a:t>関連: AJM (2025) — 認知バイアスが過剰検査につながるメカニズムも報告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rPr/>
              <a:t>ペアディスカッション（4分間）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4864" cy="109728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ectangle 4"/>
          <p:cNvSpPr/>
          <p:nvPr/>
        </p:nvSpPr>
        <p:spPr>
          <a:xfrm>
            <a:off x="841248" y="1188720"/>
            <a:ext cx="738835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60120" y="1261872"/>
            <a:ext cx="7132319" cy="95097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Georgia"/>
              </a:defRPr>
            </a:pPr>
            <a:r>
              <a:rPr/>
              <a:t>問い1: 「自分が直近の経験に引きずられて</a:t>
            </a:r>
            <a:br/>
            <a:r>
              <a:rPr/>
              <a:t>診断を変えた（または変えそうになった）</a:t>
            </a:r>
            <a:br/>
            <a:r>
              <a:rPr/>
              <a:t>エピソードはありますか？」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54864" cy="82296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Rectangle 7"/>
          <p:cNvSpPr/>
          <p:nvPr/>
        </p:nvSpPr>
        <p:spPr>
          <a:xfrm>
            <a:off x="841248" y="2560320"/>
            <a:ext cx="73883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60120" y="2633472"/>
            <a:ext cx="7132319" cy="6766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Georgia"/>
              </a:defRPr>
            </a:pPr>
            <a:r>
              <a:rPr/>
              <a:t>問い2: 「その時、何がきっかけで</a:t>
            </a:r>
            <a:br/>
            <a:r>
              <a:rPr/>
              <a:t>気づけた（または気づけなかった）のか？」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7A8A9A"/>
                </a:solidFill>
                <a:latin typeface="Calibri"/>
              </a:defRPr>
            </a:pPr>
            <a:r>
              <a:rPr/>
              <a:t>1人2分ずつ / 具体的な症例でなくても「あのとき危なかった」レベルでOK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5F0E8"/>
                </a:solidFill>
                <a:latin typeface="Calibri"/>
              </a:defRPr>
            </a:pPr>
            <a:r>
              <a:rPr/>
              <a:t>共有とフィードバック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40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E89B3B"/>
                </a:solidFill>
                <a:latin typeface="Calibri"/>
              </a:defRPr>
            </a:pPr>
            <a:r>
              <a:rPr/>
              <a:t>全体共有（2-3名から）: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5F0E8"/>
                </a:solidFill>
                <a:latin typeface="Calibri"/>
              </a:defRPr>
            </a:pPr>
            <a:r>
              <a:rPr/>
              <a:t>  どんな場面で利用可能性バイアスが発動しやすいと感じた？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5F0E8"/>
                </a:solidFill>
                <a:latin typeface="Calibri"/>
              </a:defRPr>
            </a:pPr>
            <a:r>
              <a:rPr/>
              <a:t>  「気づけた」要因は何だった？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8229600" cy="340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E89B3B"/>
                </a:solidFill>
                <a:latin typeface="Calibri"/>
              </a:defRPr>
            </a:pPr>
            <a:r>
              <a:rPr/>
              <a:t>ファシリテーターからの補足ポイント: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34640"/>
            <a:ext cx="7680960" cy="411480"/>
          </a:xfrm>
          <a:prstGeom prst="rect">
            <a:avLst/>
          </a:prstGeom>
          <a:solidFill>
            <a:srgbClr val="0D2B3E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5F0E8"/>
                </a:solidFill>
                <a:latin typeface="Calibri"/>
              </a:defRPr>
            </a:pPr>
            <a:r>
              <a:rPr/>
              <a:t>  「忙しい時ほどSystem 1に頼りがち」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91840"/>
            <a:ext cx="7680960" cy="411480"/>
          </a:xfrm>
          <a:prstGeom prst="rect">
            <a:avLst/>
          </a:prstGeom>
          <a:solidFill>
            <a:srgbClr val="0D2B3E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5F0E8"/>
                </a:solidFill>
                <a:latin typeface="Calibri"/>
              </a:defRPr>
            </a:pPr>
            <a:r>
              <a:rPr/>
              <a:t>  「一人で診断を完結させる場面」が最もリスクが高い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749039"/>
            <a:ext cx="7680960" cy="411480"/>
          </a:xfrm>
          <a:prstGeom prst="rect">
            <a:avLst/>
          </a:prstGeom>
          <a:solidFill>
            <a:srgbClr val="0D2B3E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14400" y="3794759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5F0E8"/>
                </a:solidFill>
                <a:latin typeface="Calibri"/>
              </a:defRPr>
            </a:pPr>
            <a:r>
              <a:rPr/>
              <a:t>  フィードバックなしの経験は「バイアスの強化練習」になりうる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rPr/>
              <a:t>利用可能性バイアスへの対策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4114800" cy="2743200"/>
          </a:xfrm>
          <a:prstGeom prst="rect">
            <a:avLst/>
          </a:prstGeom>
          <a:solidFill>
            <a:srgbClr val="E8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E89B3B"/>
                </a:solidFill>
                <a:latin typeface="Calibri"/>
              </a:defRPr>
            </a:pPr>
            <a:r>
              <a:rPr/>
              <a:t>個人レベル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rPr/>
              <a:t>1. 診断タイムアウト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34747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7A8A9A"/>
                </a:solidFill>
                <a:latin typeface="Calibri"/>
              </a:defRPr>
            </a:pPr>
            <a:r>
              <a:rPr/>
              <a:t>最初の仮説後、10秒間</a:t>
            </a:r>
            <a:br/>
            <a:r>
              <a:rPr/>
              <a:t>「他の可能性」を考える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rPr/>
              <a:t>2. 鑑別リストの外在化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87168"/>
            <a:ext cx="34747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7A8A9A"/>
                </a:solidFill>
                <a:latin typeface="Calibri"/>
              </a:defRPr>
            </a:pPr>
            <a:r>
              <a:rPr/>
              <a:t>紙やカルテに3つ以上の</a:t>
            </a:r>
            <a:br/>
            <a:r>
              <a:rPr/>
              <a:t>鑑別を書き出す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16936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rPr/>
              <a:t>3. 診断日記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9544"/>
            <a:ext cx="34747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7A8A9A"/>
                </a:solidFill>
                <a:latin typeface="Calibri"/>
              </a:defRPr>
            </a:pPr>
            <a:r>
              <a:rPr/>
              <a:t>自分の診断パターンを</a:t>
            </a:r>
            <a:br/>
            <a:r>
              <a:rPr/>
              <a:t>記録し定期的に振り返る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005840"/>
            <a:ext cx="4114800" cy="2743200"/>
          </a:xfrm>
          <a:prstGeom prst="rect">
            <a:avLst/>
          </a:prstGeom>
          <a:solidFill>
            <a:srgbClr val="E8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846320" y="105156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1">
                <a:solidFill>
                  <a:srgbClr val="E89B3B"/>
                </a:solidFill>
                <a:latin typeface="Calibri"/>
              </a:defRPr>
            </a:pPr>
            <a:r>
              <a:rPr/>
              <a:t>システムレベル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50876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rPr/>
              <a:t>1. 構造化されたカンファレンス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783080"/>
            <a:ext cx="34747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7A8A9A"/>
                </a:solidFill>
                <a:latin typeface="Calibri"/>
              </a:defRPr>
            </a:pPr>
            <a:r>
              <a:rPr/>
              <a:t>診断過程のプロセスを</a:t>
            </a:r>
            <a:br/>
            <a:r>
              <a:rPr/>
              <a:t>振り返る場の設計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19456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rPr/>
              <a:t>2. ピアレビュー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487168"/>
            <a:ext cx="34747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7A8A9A"/>
                </a:solidFill>
                <a:latin typeface="Calibri"/>
              </a:defRPr>
            </a:pPr>
            <a:r>
              <a:rPr/>
              <a:t>同僚との診断共有と</a:t>
            </a:r>
            <a:br/>
            <a:r>
              <a:rPr/>
              <a:t>相互フィードバック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916936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rPr/>
              <a:t>3. チェックリスト活用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209544"/>
            <a:ext cx="34747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7A8A9A"/>
                </a:solidFill>
                <a:latin typeface="Calibri"/>
              </a:defRPr>
            </a:pPr>
            <a:r>
              <a:rPr/>
              <a:t>認知バイアスに対する</a:t>
            </a:r>
            <a:br/>
            <a:r>
              <a:rPr/>
              <a:t>構造化された防御策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5F0E8"/>
                </a:solidFill>
                <a:latin typeface="Calibri"/>
              </a:defRPr>
            </a:pPr>
            <a:r>
              <a:rPr/>
              <a:t>振り返りと理解度確認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97280" cy="82296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9728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200" b="1">
                <a:solidFill>
                  <a:srgbClr val="0D2B3E"/>
                </a:solidFill>
                <a:latin typeface="Calibri"/>
              </a:defRPr>
            </a:pPr>
            <a:r>
              <a:rPr/>
              <a:t>Q1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188720"/>
            <a:ext cx="6675120" cy="822960"/>
          </a:xfrm>
          <a:prstGeom prst="rect">
            <a:avLst/>
          </a:prstGeom>
          <a:solidFill>
            <a:srgbClr val="0D2B3E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2194560" y="1371600"/>
            <a:ext cx="6400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F5F0E8"/>
                </a:solidFill>
                <a:latin typeface="Calibri"/>
              </a:defRPr>
            </a:pPr>
            <a:r>
              <a:rPr/>
              <a:t>利用可能性バイアスの定義を一文で述べてください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1097280" cy="82296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109728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200" b="1">
                <a:solidFill>
                  <a:srgbClr val="0D2B3E"/>
                </a:solidFill>
                <a:latin typeface="Calibri"/>
              </a:defRPr>
            </a:pPr>
            <a:r>
              <a:rPr/>
              <a:t>Q2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2286000"/>
            <a:ext cx="6675120" cy="822960"/>
          </a:xfrm>
          <a:prstGeom prst="rect">
            <a:avLst/>
          </a:prstGeom>
          <a:solidFill>
            <a:srgbClr val="0D2B3E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2194560" y="2468880"/>
            <a:ext cx="6400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F5F0E8"/>
                </a:solidFill>
                <a:latin typeface="Calibri"/>
              </a:defRPr>
            </a:pPr>
            <a:r>
              <a:rPr/>
              <a:t>この研究で、経験年数は誤診率の軽減に有意だったか？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83280"/>
            <a:ext cx="1097280" cy="82296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109728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200" b="1">
                <a:solidFill>
                  <a:srgbClr val="0D2B3E"/>
                </a:solidFill>
                <a:latin typeface="Calibri"/>
              </a:defRPr>
            </a:pPr>
            <a:r>
              <a:rPr/>
              <a:t>Q3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3383280"/>
            <a:ext cx="6675120" cy="822960"/>
          </a:xfrm>
          <a:prstGeom prst="rect">
            <a:avLst/>
          </a:prstGeom>
          <a:solidFill>
            <a:srgbClr val="0D2B3E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2194560" y="3566160"/>
            <a:ext cx="6400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F5F0E8"/>
                </a:solidFill>
                <a:latin typeface="Calibri"/>
              </a:defRPr>
            </a:pPr>
            <a:r>
              <a:rPr/>
              <a:t>経験年数ではなく何が重要だと結論されたか？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rPr/>
              <a:t>持ち帰りの問い — 明日の臨床から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54864" cy="1371600"/>
          </a:xfrm>
          <a:prstGeom prst="rect">
            <a:avLst/>
          </a:prstGeom>
          <a:solidFill>
            <a:srgbClr val="E8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ectangle 4"/>
          <p:cNvSpPr/>
          <p:nvPr/>
        </p:nvSpPr>
        <p:spPr>
          <a:xfrm>
            <a:off x="841248" y="1097280"/>
            <a:ext cx="73883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E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60120" y="1170432"/>
            <a:ext cx="7132319" cy="12252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Georgia"/>
              </a:defRPr>
            </a:pPr>
            <a:r>
              <a:rPr/>
              <a:t>今週1つだけ試すなら:</a:t>
            </a:r>
            <a:br/>
            <a:r>
              <a:rPr/>
              <a:t>外来で最初の診断仮説を立てた直後に、</a:t>
            </a:r>
            <a:br/>
            <a:r>
              <a:rPr/>
              <a:t>「本当にそうか？先週の経験に</a:t>
            </a:r>
            <a:br/>
            <a:r>
              <a:rPr/>
              <a:t>引きずられていないか？」と自問する10秒間を作る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315200" cy="340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E89B3B"/>
                </a:solidFill>
                <a:latin typeface="Calibri"/>
              </a:defRPr>
            </a:pPr>
            <a:r>
              <a:rPr/>
              <a:t>さらに深めたい人へ: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7772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7A8A9A"/>
                </a:solidFill>
                <a:latin typeface="Calibri"/>
              </a:defRPr>
            </a:pPr>
            <a:r>
              <a:rPr/>
              <a:t>  Croskerry P. (2009) Academic Medicine — 診断推論の普遍的モデル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772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7A8A9A"/>
                </a:solidFill>
                <a:latin typeface="Calibri"/>
              </a:defRPr>
            </a:pPr>
            <a:r>
              <a:rPr/>
              <a:t>  Kahneman D. (2011) Thinking, Fast and Slow（ファスト&amp;スロー）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7772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7A8A9A"/>
                </a:solidFill>
                <a:latin typeface="Calibri"/>
              </a:defRPr>
            </a:pPr>
            <a:r>
              <a:rPr/>
              <a:t>  Moura EC et al. (2026) BMJ Quality &amp;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772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7A8A9A"/>
                </a:solidFill>
                <a:latin typeface="Calibri"/>
              </a:defRPr>
            </a:pPr>
            <a:r>
              <a:rPr/>
              <a:t>  AJM (2025) Over-investigation and cognitive bias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