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731520"/>
            <a:ext cx="8229600" cy="660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3200" b="1">
                <a:solidFill>
                  <a:srgbClr val="FAF3E8"/>
                </a:solidFill>
                <a:latin typeface="Calibri"/>
              </a:defRPr>
            </a:pPr>
            <a:r>
              <a:rPr/>
              <a:t>AI × 医学教育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0">
                <a:solidFill>
                  <a:srgbClr val="D47B56"/>
                </a:solidFill>
                <a:latin typeface="Calibri"/>
              </a:defRPr>
            </a:pPr>
            <a:r>
              <a:rPr/>
              <a:t>— 知っておきたい3つのこと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0" y="2103120"/>
            <a:ext cx="36576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82296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9E8A7E"/>
                </a:solidFill>
                <a:latin typeface="Calibri"/>
              </a:defRPr>
            </a:pPr>
            <a:r>
              <a:rPr/>
              <a:t>全スタッフ向け 20分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3017520"/>
            <a:ext cx="6400800" cy="109728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371600" y="3108960"/>
            <a:ext cx="6400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800" b="1">
                <a:solidFill>
                  <a:srgbClr val="7A5C4F"/>
                </a:solidFill>
                <a:latin typeface="Calibri"/>
              </a:defRPr>
            </a:pPr>
            <a:r>
              <a:rPr/>
              <a:t>80%超の医師がAIを臨床で使い始めている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566160"/>
            <a:ext cx="6400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0">
                <a:solidFill>
                  <a:srgbClr val="7A5C4F"/>
                </a:solidFill>
                <a:latin typeface="Calibri"/>
              </a:defRPr>
            </a:pPr>
            <a:r>
              <a:rPr/>
              <a:t>でも「使い方」を教わった人はほとんどいない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AIにできること・できないこと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931920" cy="274320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457200" y="1143000"/>
            <a:ext cx="393192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7A5C4F"/>
                </a:solidFill>
                <a:latin typeface="Calibri"/>
              </a:defRPr>
            </a:pPr>
            <a:r>
              <a:rPr/>
              <a:t>得意なこと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347472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7A5C4F"/>
                </a:solidFill>
                <a:latin typeface="Calibri"/>
              </a:defRPr>
              <a:buChar char="●"/>
            </a:pPr>
            <a:r>
              <a:rPr/>
              <a:t>大量の情報を素早く整理</a:t>
            </a:r>
          </a:p>
          <a:p>
            <a:pPr>
              <a:defRPr sz="1300">
                <a:solidFill>
                  <a:srgbClr val="7A5C4F"/>
                </a:solidFill>
                <a:latin typeface="Calibri"/>
              </a:defRPr>
              <a:buChar char="●"/>
            </a:pPr>
            <a:r>
              <a:rPr/>
              <a:t>文章の要約・翻訳</a:t>
            </a:r>
          </a:p>
          <a:p>
            <a:pPr>
              <a:defRPr sz="1300">
                <a:solidFill>
                  <a:srgbClr val="7A5C4F"/>
                </a:solidFill>
                <a:latin typeface="Calibri"/>
              </a:defRPr>
              <a:buChar char="●"/>
            </a:pPr>
            <a:r>
              <a:rPr/>
              <a:t>パターンの認識（画像・数値）</a:t>
            </a:r>
          </a:p>
          <a:p>
            <a:pPr>
              <a:defRPr sz="1300">
                <a:solidFill>
                  <a:srgbClr val="7A5C4F"/>
                </a:solidFill>
                <a:latin typeface="Calibri"/>
              </a:defRPr>
              <a:buChar char="●"/>
            </a:pPr>
            <a:r>
              <a:rPr/>
              <a:t>24時間365日、疲れない</a:t>
            </a:r>
          </a:p>
        </p:txBody>
      </p:sp>
      <p:sp>
        <p:nvSpPr>
          <p:cNvPr id="7" name="Rectangle 6"/>
          <p:cNvSpPr/>
          <p:nvPr/>
        </p:nvSpPr>
        <p:spPr>
          <a:xfrm>
            <a:off x="4754880" y="1097280"/>
            <a:ext cx="4114800" cy="2743200"/>
          </a:xfrm>
          <a:prstGeom prst="rect">
            <a:avLst/>
          </a:prstGeom>
          <a:solidFill>
            <a:srgbClr val="F5EEE5"/>
          </a:solidFill>
          <a:ln w="12700">
            <a:solidFill>
              <a:srgbClr val="9E8A7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4754880" y="1143000"/>
            <a:ext cx="41148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600" b="1">
                <a:solidFill>
                  <a:srgbClr val="3A3A3A"/>
                </a:solidFill>
                <a:latin typeface="Calibri"/>
              </a:defRPr>
            </a:pPr>
            <a:r>
              <a:rPr/>
              <a:t>苦手なこと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554480"/>
            <a:ext cx="3657600" cy="1828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患者さんの気持ちを理解する</a:t>
            </a:r>
          </a:p>
          <a:p>
            <a:pPr>
              <a:defRPr sz="13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「いつもと違う」に気づく</a:t>
            </a:r>
          </a:p>
          <a:p>
            <a:pPr>
              <a:defRPr sz="13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責任を持って判断する</a:t>
            </a:r>
          </a:p>
          <a:p>
            <a:pPr>
              <a:defRPr sz="1300">
                <a:solidFill>
                  <a:srgbClr val="3A3A3A"/>
                </a:solidFill>
                <a:latin typeface="Calibri"/>
              </a:defRPr>
              <a:buChar char="●"/>
            </a:pPr>
            <a:r>
              <a:rPr/>
              <a:t>嘘をつくことがある（ハルシネーション）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206240"/>
            <a:ext cx="54864" cy="5486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Rectangle 10"/>
          <p:cNvSpPr/>
          <p:nvPr/>
        </p:nvSpPr>
        <p:spPr>
          <a:xfrm>
            <a:off x="566928" y="4206240"/>
            <a:ext cx="8119872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85800" y="4279392"/>
            <a:ext cx="7863840" cy="402335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Georgia"/>
              </a:defRPr>
            </a:pPr>
            <a:r>
              <a:rPr/>
              <a:t>AIは「道具」であって「判断者」ではない。</a:t>
            </a:r>
            <a:br/>
            <a:r>
              <a:rPr/>
              <a:t>使う人の責任と判断が常に必要です。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FAF3E8"/>
                </a:solidFill>
                <a:latin typeface="Calibri"/>
              </a:defRPr>
            </a:pPr>
            <a:r>
              <a:rPr/>
              <a:t>AI同士が協力する時代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400" b="0">
                <a:solidFill>
                  <a:srgbClr val="9E8A7E"/>
                </a:solidFill>
                <a:latin typeface="Calibri"/>
              </a:defRPr>
            </a:pPr>
            <a:r>
              <a:rPr/>
              <a:t>チーム医療と同じ。1人の天才より、専門家チームが強い。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0" y="1645920"/>
            <a:ext cx="4572000" cy="5486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2286000" y="1691640"/>
            <a:ext cx="4572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400" b="1">
                <a:solidFill>
                  <a:srgbClr val="7A5C4F"/>
                </a:solidFill>
                <a:latin typeface="Calibri"/>
              </a:defRPr>
            </a:pPr>
            <a:r>
              <a:rPr/>
              <a:t>リーダーAI（総合調整）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468880"/>
            <a:ext cx="1828800" cy="54864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731520" y="2496312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AF3E8"/>
                </a:solidFill>
                <a:latin typeface="Calibri"/>
              </a:defRPr>
            </a:pPr>
            <a:r>
              <a:rPr/>
              <a:t>検査AI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39" y="2468880"/>
            <a:ext cx="1828800" cy="54864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2834639" y="2496312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AF3E8"/>
                </a:solidFill>
                <a:latin typeface="Calibri"/>
              </a:defRPr>
            </a:pPr>
            <a:r>
              <a:rPr/>
              <a:t>画像AI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59" y="2468880"/>
            <a:ext cx="1828800" cy="54864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4937759" y="2496312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AF3E8"/>
                </a:solidFill>
                <a:latin typeface="Calibri"/>
              </a:defRPr>
            </a:pPr>
            <a:r>
              <a:rPr/>
              <a:t>薬剤AI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0879" y="2468880"/>
            <a:ext cx="1828800" cy="548640"/>
          </a:xfrm>
          <a:prstGeom prst="rect">
            <a:avLst/>
          </a:prstGeom>
          <a:solidFill>
            <a:srgbClr val="7A5C4F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7040879" y="2496312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1200" b="0">
                <a:solidFill>
                  <a:srgbClr val="FAF3E8"/>
                </a:solidFill>
                <a:latin typeface="Calibri"/>
              </a:defRPr>
            </a:pPr>
            <a:r>
              <a:rPr/>
              <a:t>文献AI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291840"/>
            <a:ext cx="8229600" cy="3225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1">
                <a:solidFill>
                  <a:srgbClr val="D47B56"/>
                </a:solidFill>
                <a:latin typeface="Calibri"/>
              </a:defRPr>
            </a:pPr>
            <a:r>
              <a:rPr/>
              <a:t>実際の成果（Mount Sinai研究）: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657600"/>
            <a:ext cx="7772400" cy="9144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>
              <a:defRPr sz="1300">
                <a:solidFill>
                  <a:srgbClr val="FAF3E8"/>
                </a:solidFill>
                <a:latin typeface="Calibri"/>
              </a:defRPr>
              <a:buChar char="●"/>
            </a:pPr>
            <a:r>
              <a:rPr/>
              <a:t>チームAIが単独AIより正確</a:t>
            </a:r>
          </a:p>
          <a:p>
            <a:pPr>
              <a:defRPr sz="1300">
                <a:solidFill>
                  <a:srgbClr val="FAF3E8"/>
                </a:solidFill>
                <a:latin typeface="Calibri"/>
              </a:defRPr>
              <a:buChar char="●"/>
            </a:pPr>
            <a:r>
              <a:rPr/>
              <a:t>コストは最大65分の1に削減</a:t>
            </a:r>
          </a:p>
          <a:p>
            <a:pPr>
              <a:defRPr sz="1300">
                <a:solidFill>
                  <a:srgbClr val="FAF3E8"/>
                </a:solidFill>
                <a:latin typeface="Calibri"/>
              </a:defRPr>
              <a:buChar char="●"/>
            </a:pPr>
            <a:r>
              <a:rPr/>
              <a:t>患者が増えても質が落ちない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2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200" b="1">
                <a:solidFill>
                  <a:srgbClr val="3A3A3A"/>
                </a:solidFill>
                <a:latin typeface="Calibri"/>
              </a:defRPr>
            </a:pPr>
            <a:r>
              <a:rPr/>
              <a:t>AIを使うときに気をつけること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1097280"/>
            <a:ext cx="7680960" cy="100584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914400" y="1143000"/>
            <a:ext cx="3200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D47B56"/>
                </a:solidFill>
                <a:latin typeface="Calibri"/>
              </a:defRPr>
            </a:pPr>
            <a:r>
              <a:rPr/>
              <a:t>⚠ もっともらしい嘘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18872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rPr/>
              <a:t>AIは自信満々に間違えます。</a:t>
            </a:r>
            <a:br/>
            <a:r>
              <a:rPr/>
              <a:t>必ず確認を。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286000"/>
            <a:ext cx="7680960" cy="100584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3200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D47B56"/>
                </a:solidFill>
                <a:latin typeface="Calibri"/>
              </a:defRPr>
            </a:pPr>
            <a:r>
              <a:rPr/>
              <a:t>⚠ 引きずられる危険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237744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rPr/>
              <a:t>AIの最初の答えに引きずられがち。</a:t>
            </a:r>
            <a:br/>
            <a:r>
              <a:rPr/>
              <a:t>自分の判断を先に持つ。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474720"/>
            <a:ext cx="7680960" cy="1005840"/>
          </a:xfrm>
          <a:prstGeom prst="rect">
            <a:avLst/>
          </a:prstGeom>
          <a:solidFill>
            <a:srgbClr val="F5EEE5"/>
          </a:solidFill>
          <a:ln w="12700">
            <a:solidFill>
              <a:srgbClr val="D47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914400" y="3520439"/>
            <a:ext cx="32004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500" b="1">
                <a:solidFill>
                  <a:srgbClr val="D47B56"/>
                </a:solidFill>
                <a:latin typeface="Calibri"/>
              </a:defRPr>
            </a:pPr>
            <a:r>
              <a:rPr/>
              <a:t>⚠ 個人情報の取り扱い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3566160"/>
            <a:ext cx="411480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300" b="0">
                <a:solidFill>
                  <a:srgbClr val="3A3A3A"/>
                </a:solidFill>
                <a:latin typeface="Calibri"/>
              </a:defRPr>
            </a:pPr>
            <a:r>
              <a:rPr/>
              <a:t>患者情報をAIに入力する際は</a:t>
            </a:r>
            <a:br/>
            <a:r>
              <a:rPr/>
              <a:t>施設のルールを確認。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5C4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8463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FAF3E8"/>
                </a:solidFill>
                <a:latin typeface="Calibri"/>
              </a:defRPr>
            </a:pPr>
            <a:r>
              <a:rPr/>
              <a:t>隣の人と話してみましょう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777240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3200400" y="1097280"/>
            <a:ext cx="2743200" cy="58927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D47B56"/>
                </a:solidFill>
                <a:latin typeface="Calibri"/>
              </a:defRPr>
            </a:pPr>
            <a:r>
              <a:rPr/>
              <a:t>3分間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54864" cy="164592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Rectangle 5"/>
          <p:cNvSpPr/>
          <p:nvPr/>
        </p:nvSpPr>
        <p:spPr>
          <a:xfrm>
            <a:off x="1024128" y="1828800"/>
            <a:ext cx="7205472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A7BE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43000" y="1901952"/>
            <a:ext cx="6949440" cy="14996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0">
                <a:solidFill>
                  <a:srgbClr val="3A3A3A"/>
                </a:solidFill>
                <a:latin typeface="Georgia"/>
              </a:defRPr>
            </a:pPr>
            <a:r>
              <a:rPr/>
              <a:t>あなたの業務で、AIが役立ちそうな場面は</a:t>
            </a:r>
            <a:br/>
            <a:r>
              <a:rPr/>
              <a:t>どんなところですか？</a:t>
            </a:r>
            <a:br/>
            <a:br/>
            <a:r>
              <a:rPr/>
              <a:t>逆に、「ここはAIに任せたくない」と思う場面は？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931920"/>
            <a:ext cx="6400800" cy="304799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9E8A7E"/>
                </a:solidFill>
                <a:latin typeface="Calibri"/>
              </a:defRPr>
            </a:pPr>
            <a:r>
              <a:rPr/>
              <a:t>正解はありません。感じたことを共有してください。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3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2400" b="1">
                <a:solidFill>
                  <a:srgbClr val="3A3A3A"/>
                </a:solidFill>
                <a:latin typeface="Calibri"/>
              </a:defRPr>
            </a:pPr>
            <a:r>
              <a:rPr/>
              <a:t>3つだけ覚えてください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658368"/>
            <a:ext cx="1828800" cy="54864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4" name="Rectangle 3"/>
          <p:cNvSpPr/>
          <p:nvPr/>
        </p:nvSpPr>
        <p:spPr>
          <a:xfrm>
            <a:off x="731520" y="914400"/>
            <a:ext cx="914400" cy="10058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5" name="TextBox 4"/>
          <p:cNvSpPr txBox="1"/>
          <p:nvPr/>
        </p:nvSpPr>
        <p:spPr>
          <a:xfrm>
            <a:off x="731520" y="1005840"/>
            <a:ext cx="9144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7A5C4F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960120"/>
            <a:ext cx="36576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rPr/>
              <a:t>AIは道具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37160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rPr/>
              <a:t>便利だけど「判断」はしない。</a:t>
            </a:r>
            <a:br/>
            <a:r>
              <a:rPr/>
              <a:t>責任は常に人間にある。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0" cy="10058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9144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7A5C4F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240279"/>
            <a:ext cx="36576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rPr/>
              <a:t>AI同士が協力する時代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65176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rPr/>
              <a:t>チーム医療のAI版。</a:t>
            </a:r>
            <a:br/>
            <a:r>
              <a:rPr/>
              <a:t>1つのAIより正確で安い。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474720"/>
            <a:ext cx="914400" cy="1005840"/>
          </a:xfrm>
          <a:prstGeom prst="rect">
            <a:avLst/>
          </a:prstGeom>
          <a:solidFill>
            <a:srgbClr val="D47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914400" cy="8229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>
              <a:defRPr sz="2800" b="1">
                <a:solidFill>
                  <a:srgbClr val="7A5C4F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20439"/>
            <a:ext cx="3657600" cy="3759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600" b="1">
                <a:solidFill>
                  <a:srgbClr val="3A3A3A"/>
                </a:solidFill>
                <a:latin typeface="Calibri"/>
              </a:defRPr>
            </a:pPr>
            <a:r>
              <a:rPr/>
              <a:t>使い方を学ぶのは今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3931920"/>
            <a:ext cx="6858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defRPr sz="1200" b="0">
                <a:solidFill>
                  <a:srgbClr val="3A3A3A"/>
                </a:solidFill>
                <a:latin typeface="Calibri"/>
              </a:defRPr>
            </a:pPr>
            <a:r>
              <a:rPr/>
              <a:t>80%の医師が使い始めた。</a:t>
            </a:r>
            <a:br/>
            <a:r>
              <a:rPr/>
              <a:t>取り残されないために。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