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FAF3E8"/>
                </a:solidFill>
                <a:latin typeface="Calibri"/>
              </a:defRPr>
            </a:pPr>
            <a:r>
              <a:rPr/>
              <a:t>医療AIの倫理 — 知っておきたい6つのチェックポイント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D47B56"/>
                </a:solidFill>
                <a:latin typeface="Calibri"/>
              </a:defRPr>
            </a:pPr>
            <a:r>
              <a:rPr/>
              <a:t>全スタッフ向け（10分）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20240"/>
            <a:ext cx="36576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4864" cy="164592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841248" y="2377440"/>
            <a:ext cx="757123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7315200" cy="14996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Georgia"/>
              </a:defRPr>
            </a:pPr>
            <a:r>
              <a:rPr/>
              <a:t>AIが「この患者さん、危ないです」と言ったら、皆さんどうしますか？</a:t>
            </a:r>
            <a:br/>
            <a:br/>
            <a:r>
              <a:rPr/>
              <a:t>今日のゴール: AIを安全に使うための「6つのチェックポイント」を知り、</a:t>
            </a:r>
            <a:br/>
            <a:r>
              <a:rPr/>
              <a:t>自分の仕事に1つ当てはめられるようになる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rPr/>
              <a:t>医療の世界でのAI活用の現在地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場面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AIの役割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例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画像診断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レントゲン・CTの異常検出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胸部X線の肺結節スクリーニング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予測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急変・再入院リスク予測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敗血症早期警告システム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投薬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薬物相互作用チェック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処方オーダーの自動アラート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業務支援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書類作成・要約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退院サマリーの下書き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3657600"/>
            <a:ext cx="54864" cy="4572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1481328" y="365760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600200" y="3730752"/>
            <a:ext cx="603504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Georgia"/>
              </a:defRPr>
            </a:pPr>
            <a:r>
              <a:rPr/>
              <a:t>AIは「道具」であり、最終判断は必ず人間が行います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rPr/>
              <a:t>6つのチェックポイント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9E8A7E"/>
                </a:solidFill>
                <a:latin typeface="Calibri"/>
              </a:defRPr>
            </a:pPr>
            <a:r>
              <a:rPr/>
              <a:t>世界の研究22件から見えてきた倫理的課題（Wubineh et al.,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1. 透明性と信頼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AIがなぜそう判断したか、分かるか？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983480" y="1234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2. 偏り（バイアス）と公平性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459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全ての患者さんに同じように正確か？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3. プライバシー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患者さんのデータは守られているか？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983480" y="2423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4. 責任の所在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83464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間違いがあったら誰が責任を取るか？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5. 道徳的な問題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AIに任せていいことの線引きは？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7A5C4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983480" y="36118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rPr/>
              <a:t>6. 法律とルール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02336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rPr/>
              <a:t>法整備は追いついているか？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rPr/>
              <a:t>具体例で理解しよう — 「偏り（バイアス）」って何？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" cy="13716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097280"/>
            <a:ext cx="75712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170432"/>
            <a:ext cx="7315200" cy="12252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3A3A3A"/>
                </a:solidFill>
                <a:latin typeface="Georgia"/>
              </a:defRPr>
            </a:pPr>
            <a:r>
              <a:rPr/>
              <a:t>皮膚科のAIが「良性です」と判断。</a:t>
            </a:r>
            <a:br/>
            <a:r>
              <a:rPr/>
              <a:t>しかしこのAIは、明るい肌トーンの画像データで主に訓練されていた。</a:t>
            </a:r>
            <a:br/>
            <a:r>
              <a:rPr/>
              <a:t>結果: 暗い肌トーンの患者さんでは、皮膚がんを見逃すリスクが上昇。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AIは訓練に使ったデータの特徴を学ぶ</a:t>
            </a:r>
          </a:p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データに偏りがあると、特定の患者さんで精度が下がる</a:t>
            </a:r>
          </a:p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高齢者、少数民族、農村部の住民はデータが少ないことが多い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D47B56"/>
                </a:solidFill>
                <a:latin typeface="Calibri"/>
              </a:defRPr>
            </a:pPr>
            <a:r>
              <a:rPr/>
              <a:t>あなたの職場では: 導入されたAIが「どんなデータで訓練されたか」を確認する習慣が大切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rPr/>
              <a:t>グループ対話（3分）— 「うちの職場なら？」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54864" cy="9144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1024128" y="1097280"/>
            <a:ext cx="72054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43000" y="1170432"/>
            <a:ext cx="69494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rPr/>
              <a:t>「もし自分の職場にAIが導入されたら、</a:t>
            </a:r>
            <a:br/>
            <a:r>
              <a:rPr/>
              <a:t>6つのチェックポイントのうち、どれが一番気になる？」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8600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考えるヒント</a:t>
                      </a:r>
                    </a:p>
                  </a:txBody>
                  <a:tcPr marL="45720" marR="45720" marT="18288" marB="18288">
                    <a:solidFill>
                      <a:srgbClr val="7A5C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看護師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AIアラートと患者さんの訴えが食い違ったら？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薬剤師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AI処方チェックを過信して見落とすリスクは？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リハビリ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AI推奨と患者さんの意欲のバランスは？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事務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患者データがAIに使われることの説明は？</a:t>
                      </a:r>
                    </a:p>
                  </a:txBody>
                  <a:tcPr marL="45720" marR="45720" marT="18288" marB="18288">
                    <a:solidFill>
                      <a:srgbClr val="FAF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医師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AIの推奨を採用/却下した根拠をどう記録する？</a:t>
                      </a:r>
                    </a:p>
                  </a:txBody>
                  <a:tcPr marL="45720" marR="45720" marT="18288" marB="18288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rPr/>
              <a:t>世界と日本の動き — ルールはどう変わっていくか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Calibri"/>
              </a:defRPr>
            </a:pPr>
            <a:r>
              <a:rPr/>
              <a:t>EU（ヨーロッパ）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47472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EU AI法 2026年8月適用開始</a:t>
            </a:r>
          </a:p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医療AI = 高リスクAI → 技術文書・人間の監視義務化</a:t>
            </a:r>
          </a:p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スタッフのAIリテラシー教育も義務（2025年2月〜）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5EEE5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37760" y="118872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Calibri"/>
              </a:defRPr>
            </a:pPr>
            <a:r>
              <a:rPr/>
              <a:t>日本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47472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AI推進法 2025年成立</a:t>
            </a:r>
          </a:p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厚労省 医療データAI利活用ガイドライン運用中</a:t>
            </a:r>
          </a:p>
          <a:p>
            <a:pPr>
              <a:defRPr sz="10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2026年度診療報酬改定でAI・ICT活用推進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54864" cy="4572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1024128" y="3840480"/>
            <a:ext cx="72054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143000" y="3913632"/>
            <a:ext cx="69494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Georgia"/>
              </a:defRPr>
            </a:pPr>
            <a:r>
              <a:rPr/>
              <a:t>「AIを使えること」だけでなく「AIを安全に使えること」が求められる時代へ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AF3E8"/>
                </a:solidFill>
                <a:latin typeface="Calibri"/>
              </a:defRPr>
            </a:pPr>
            <a:r>
              <a:rPr/>
              <a:t>今日のまとめと明日からのアクション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D47B56"/>
                </a:solidFill>
                <a:latin typeface="Calibri"/>
              </a:defRPr>
            </a:pPr>
            <a:r>
              <a:rPr/>
              <a:t>6つのチェックポイント: 透明性 / 偏り / プライバシー / 責任 / 道徳 / 法律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645920" cy="5486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645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7A5C4F"/>
                </a:solidFill>
                <a:latin typeface="Calibri"/>
              </a:defRPr>
            </a:pPr>
            <a:r>
              <a:rPr/>
              <a:t>看護師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44752"/>
            <a:ext cx="6217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AF3E8"/>
                </a:solidFill>
                <a:latin typeface="Calibri"/>
              </a:defRPr>
            </a:pPr>
            <a:r>
              <a:rPr/>
              <a:t>AIアラートが出たとき「なぜ？」と1回聞く習慣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645920" cy="5486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1645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7A5C4F"/>
                </a:solidFill>
                <a:latin typeface="Calibri"/>
              </a:defRPr>
            </a:pPr>
            <a:r>
              <a:rPr/>
              <a:t>薬剤師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30552"/>
            <a:ext cx="6217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AF3E8"/>
                </a:solidFill>
                <a:latin typeface="Calibri"/>
              </a:defRPr>
            </a:pPr>
            <a:r>
              <a:rPr/>
              <a:t>AI処方チェックを「ダブルチェックの1つ」として位置づける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645920" cy="5486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1645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7A5C4F"/>
                </a:solidFill>
                <a:latin typeface="Calibri"/>
              </a:defRPr>
            </a:pPr>
            <a:r>
              <a:rPr/>
              <a:t>リハビリ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16352"/>
            <a:ext cx="6217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AF3E8"/>
                </a:solidFill>
                <a:latin typeface="Calibri"/>
              </a:defRPr>
            </a:pPr>
            <a:r>
              <a:rPr/>
              <a:t>AI提案を参考にしつつ、患者さんとの対話を最優先に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1645920" cy="5486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3502152"/>
            <a:ext cx="1645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7A5C4F"/>
                </a:solidFill>
                <a:latin typeface="Calibri"/>
              </a:defRPr>
            </a:pPr>
            <a:r>
              <a:rPr/>
              <a:t>事務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502152"/>
            <a:ext cx="6217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AF3E8"/>
                </a:solidFill>
                <a:latin typeface="Calibri"/>
              </a:defRPr>
            </a:pPr>
            <a:r>
              <a:rPr/>
              <a:t>患者さんからAI質問→担当者につなぐ窓口を確認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645920" cy="5486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4187952"/>
            <a:ext cx="1645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7A5C4F"/>
                </a:solidFill>
                <a:latin typeface="Calibri"/>
              </a:defRPr>
            </a:pPr>
            <a:r>
              <a:rPr/>
              <a:t>医師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87952"/>
            <a:ext cx="6217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AF3E8"/>
                </a:solidFill>
                <a:latin typeface="Calibri"/>
              </a:defRPr>
            </a:pPr>
            <a:r>
              <a:rPr/>
              <a:t>AI推奨と判断が異なるとき、理由をカルテに一言メモ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572000"/>
            <a:ext cx="54864" cy="45720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1481328" y="457200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600200" y="4645152"/>
            <a:ext cx="60350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Georgia"/>
              </a:defRPr>
            </a:pPr>
            <a:r>
              <a:rPr/>
              <a:t>「AIを怖がる」のではなく「AIと上手につきあう」。</a:t>
            </a:r>
            <a:br/>
            <a:r>
              <a:rPr/>
              <a:t>その第一歩が、今日の6つのチェックポイントです。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