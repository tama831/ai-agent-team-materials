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8229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000" b="1">
                <a:solidFill>
                  <a:srgbClr val="F0F4FC"/>
                </a:solidFill>
                <a:latin typeface="Calibri"/>
              </a:defRPr>
            </a:pPr>
            <a:r>
              <a:rPr/>
              <a:t>医療AIの倫理的懸念と実装戦略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0">
                <a:solidFill>
                  <a:srgbClr val="00C9A7"/>
                </a:solidFill>
                <a:latin typeface="Calibri"/>
              </a:defRPr>
            </a:pPr>
            <a:r>
              <a:rPr/>
              <a:t>— 研修医・専攻医向け（15分）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1920240"/>
            <a:ext cx="36576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Wubineh et al. BMC Medical Ethics. 2026;27:53.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54864" cy="18288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ectangle 6"/>
          <p:cNvSpPr/>
          <p:nvPr/>
        </p:nvSpPr>
        <p:spPr>
          <a:xfrm>
            <a:off x="841248" y="2926080"/>
            <a:ext cx="757123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2999232"/>
            <a:ext cx="7315200" cy="16824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「この患者、敗血症リスク“高”です」— AIがそう言ったら？</a:t>
            </a:r>
            <a:br/>
            <a:br/>
            <a:r>
              <a:rPr/>
              <a:t>深夜の救急外来。38.5度の発熱と頻脈で搬送された72歳女性。</a:t>
            </a:r>
            <a:br/>
            <a:r>
              <a:rPr/>
              <a:t>AIが「敗血症リスク: 高（92%）」とアラート。</a:t>
            </a:r>
            <a:br/>
            <a:r>
              <a:rPr/>
              <a:t>しかし、あなたの臨床的印象は「単純性尿路感染症」。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今日のゴール — この15分で手に入れるもの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914400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123443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1E2761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143000"/>
            <a:ext cx="68580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rPr/>
              <a:t>説明できる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55448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5BA"/>
                </a:solidFill>
                <a:latin typeface="Calibri"/>
              </a:defRPr>
            </a:pPr>
            <a:r>
              <a:rPr/>
              <a:t>医療AIの倫理的懸念を6カテゴリで構造的に整理できる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86000"/>
            <a:ext cx="914400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1E2761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331720"/>
            <a:ext cx="68580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rPr/>
              <a:t>分析できる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74320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5BA"/>
                </a:solidFill>
                <a:latin typeface="Calibri"/>
              </a:defRPr>
            </a:pPr>
            <a:r>
              <a:rPr/>
              <a:t>臨床シナリオにおけるAI判断のバイアス源を特定できる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474720"/>
            <a:ext cx="914400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731520" y="361187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1E2761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520439"/>
            <a:ext cx="68580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rPr/>
              <a:t>計画できる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93192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5BA"/>
                </a:solidFill>
                <a:latin typeface="Calibri"/>
              </a:defRPr>
            </a:pPr>
            <a:r>
              <a:rPr/>
              <a:t>AIの推奨と自身の臨床判断を統合するプロセスを言語化できる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臨床倫理の4原則 ×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3200400"/>
              </a:tblGrid>
              <a:tr h="411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原則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内容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AIとの接点は？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自律尊重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患者の意思決定を尊重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AIが推奨→患者の選択はどうなる？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善行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患者に最善を尽くす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AIの精度が人間を超えたら？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無危害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害を与えない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AIの誤判断で害が生じたら？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正義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公平・公正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AIが特定集団で精度低下したら？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3657600"/>
            <a:ext cx="54864" cy="457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1024128" y="3657600"/>
            <a:ext cx="72054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43000" y="3730752"/>
            <a:ext cx="6949440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この4原則をAI文脈に「再解釈」する — それが今日のテーマ。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6つの倫理的懸念カテゴリ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Wubineh et al.（2026）— 22件の実証研究から抽出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743200"/>
                <a:gridCol w="502920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カテゴリ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核心的な問い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透明性と信頼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AIの判断過程を理解できるか？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バイアスと公正性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全ての患者集団に公平に機能するか？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プライバシー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患者データは適切に保護されるか？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説明責任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AIのエラーの責任は誰が負うか？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倫理と道徳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自律的AI判断は道徳的に許容されるか？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規制と法律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既存の法制度はAIに対応できているか？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深掘り (1): 透明性と信頼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00C9A7"/>
                </a:solidFill>
                <a:latin typeface="Calibri"/>
              </a:defRPr>
            </a:pPr>
            <a:r>
              <a:rPr/>
              <a:t>ブラックボックス問題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77240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ブラックボックス: 入力→出力は分かるが、中間の推論過程が不透明</a:t>
            </a:r>
          </a:p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XAI（Explainable AI）: 判断根拠を可視化（SHAP、LIME）</a:t>
            </a:r>
          </a:p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しかしXAIの「説明」≠ 人間の「理解」</a:t>
            </a:r>
          </a:p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臨床的含意: 「AIがそう言っているから」では説明責任を果たせない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931920"/>
            <a:ext cx="54864" cy="457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ectangle 6"/>
          <p:cNvSpPr/>
          <p:nvPr/>
        </p:nvSpPr>
        <p:spPr>
          <a:xfrm>
            <a:off x="1024128" y="3931920"/>
            <a:ext cx="72054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43000" y="4005072"/>
            <a:ext cx="694944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Georgia"/>
              </a:defRPr>
            </a:pPr>
            <a:r>
              <a:rPr/>
              <a:t>あなたが使うAIツールは、判断の根拠を示してくれるか？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深掘り (2): バイアスの3層構造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0584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3200400"/>
              </a:tblGrid>
              <a:tr h="4572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層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内容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具体例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データバイアス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訓練データの偏り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白人肌データ中心→有色人種で精度低下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アルゴリズムバイアス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特徴量選択の暗黙の仮定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人種を代理変数として使用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システムバイアス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医療制度の歴史的不平等の再生産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受診率低い集団→データ不足→ケア格差拡大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3200400"/>
            <a:ext cx="54864" cy="11887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841248" y="3200400"/>
            <a:ext cx="757123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60120" y="3273552"/>
            <a:ext cx="7315200" cy="10424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Fairness Impossibility Theorem:</a:t>
            </a:r>
            <a:br/>
            <a:r>
              <a:rPr/>
              <a:t>公正性の複数指標を同時に全て満たすことは数学的に不可能。</a:t>
            </a:r>
            <a:br/>
            <a:r>
              <a:rPr/>
              <a:t>どの指標を優先するかは「倫理的判断」であり、技術的判断ではない。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深掘り (3): 説明責任 — 責任の三角形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3200400" y="1143000"/>
            <a:ext cx="2743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1">
                <a:solidFill>
                  <a:srgbClr val="1E2761"/>
                </a:solidFill>
                <a:latin typeface="Calibri"/>
              </a:defRPr>
            </a:pPr>
            <a:r>
              <a:rPr/>
              <a:t>開発企業（アルゴリズム設計）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286000"/>
            <a:ext cx="2743200" cy="54864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743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1">
                <a:solidFill>
                  <a:srgbClr val="F0F4FC"/>
                </a:solidFill>
                <a:latin typeface="Calibri"/>
              </a:defRPr>
            </a:pPr>
            <a:r>
              <a:rPr/>
              <a:t>医師（最終判断）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0" y="2286000"/>
            <a:ext cx="2743200" cy="54864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486400" y="2331720"/>
            <a:ext cx="2743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1">
                <a:solidFill>
                  <a:srgbClr val="F0F4FC"/>
                </a:solidFill>
                <a:latin typeface="Calibri"/>
              </a:defRPr>
            </a:pPr>
            <a:r>
              <a:rPr/>
              <a:t>医療機関（導入決定）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77724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1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現状: 日本では医師の最終判断責任が原則</a:t>
            </a:r>
          </a:p>
          <a:p>
            <a:pPr>
              <a:defRPr sz="11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課題: AIが「推奨」し医師が「承認」するだけの運用になった場合は？</a:t>
            </a:r>
          </a:p>
          <a:p>
            <a:pPr>
              <a:defRPr sz="11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EU AI法（2026年8月適用開始）: 高リスクAIに技術文書・人間の監視を義務化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ペアディスカッション（3分間）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rPr/>
              <a:t>冒頭のシナリオに戻ろう — AI「敗血症リスク92%」 vs あなた「UTI」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7772400" cy="2743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1. このAIシステムの透明性はどうか？（92%の根拠は見えるか？）</a:t>
            </a:r>
          </a:p>
          <a:p>
            <a:pPr>
              <a:defRPr sz="13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2. この患者に特有のバイアスリスクはないか？（年齢、性別、併存疾患）</a:t>
            </a:r>
          </a:p>
          <a:p>
            <a:pPr>
              <a:defRPr sz="13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3. AIの判断を採用/不採用にした場合、説明責任はどこにあるか？</a:t>
            </a:r>
          </a:p>
          <a:p>
            <a:pPr>
              <a:defRPr sz="13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4. 「AIを使わないことの倫理的責任」はあるか？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全体共有 + 振り返り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F0F4FC"/>
                </a:solidFill>
                <a:latin typeface="Calibri"/>
              </a:defRPr>
            </a:pPr>
            <a:r>
              <a:rPr/>
              <a:t>各ペアから1つずつ意見を共有（30秒 × 数ペア）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F0F4FC"/>
                </a:solidFill>
                <a:latin typeface="Calibri"/>
              </a:defRPr>
            </a:pPr>
            <a:r>
              <a:rPr/>
              <a:t>ファシリテーターが6カテゴリへのマッピングを補足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377440"/>
            <a:ext cx="54864" cy="10972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ectangle 6"/>
          <p:cNvSpPr/>
          <p:nvPr/>
        </p:nvSpPr>
        <p:spPr>
          <a:xfrm>
            <a:off x="1024128" y="2377440"/>
            <a:ext cx="720547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43000" y="2450592"/>
            <a:ext cx="6949440" cy="95097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Georgia"/>
              </a:defRPr>
            </a:pPr>
            <a:r>
              <a:rPr/>
              <a:t>AIは「第二の意見」であり、「最終判断」ではない。</a:t>
            </a:r>
            <a:br/>
            <a:r>
              <a:rPr/>
              <a:t>しかし、AIの指摘を無視する場合にも、</a:t>
            </a:r>
            <a:br/>
            <a:r>
              <a:rPr/>
              <a:t>その根拠を言語化する責任がある。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レビューの4つの提言 — 実装戦略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914400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914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1E2761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033272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rPr/>
              <a:t>倫理原則・基準の遵守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17319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8A95BA"/>
                </a:solidFill>
                <a:latin typeface="Calibri"/>
              </a:defRPr>
            </a:pPr>
            <a:r>
              <a:rPr/>
              <a:t>バイオエシックス4原則をAI文脈に再解釈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20240"/>
            <a:ext cx="914400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914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1E2761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947672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rPr/>
              <a:t>透明性の確保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33172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8A95BA"/>
                </a:solidFill>
                <a:latin typeface="Calibri"/>
              </a:defRPr>
            </a:pPr>
            <a:r>
              <a:rPr/>
              <a:t>XAI手法の実装、意思決定プロセスの可視化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834640"/>
            <a:ext cx="914400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731520" y="2926080"/>
            <a:ext cx="914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1E2761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62072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rPr/>
              <a:t>継続的な監視・監査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4612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8A95BA"/>
                </a:solidFill>
                <a:latin typeface="Calibri"/>
              </a:defRPr>
            </a:pPr>
            <a:r>
              <a:rPr/>
              <a:t>デプロイ後のバイアスモニタリング、ドリフト検出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749039"/>
            <a:ext cx="914400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79"/>
            <a:ext cx="914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1E2761"/>
                </a:solidFill>
                <a:latin typeface="Calibri"/>
              </a:defRPr>
            </a:pPr>
            <a:r>
              <a:rPr/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76472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rPr/>
              <a:t>多職種ガバナンス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16052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8A95BA"/>
                </a:solidFill>
                <a:latin typeface="Calibri"/>
              </a:defRPr>
            </a:pPr>
            <a:r>
              <a:rPr/>
              <a:t>開発者・臨床医・患者・倫理学者・規制当局の協働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572000"/>
            <a:ext cx="54864" cy="3657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Rectangle 20"/>
          <p:cNvSpPr/>
          <p:nvPr/>
        </p:nvSpPr>
        <p:spPr>
          <a:xfrm>
            <a:off x="1024128" y="4572000"/>
            <a:ext cx="720547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1143000" y="4645152"/>
            <a:ext cx="694944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あなたの病院でAI導入を検討するとき、この4つのうちどれが最も不足しているか？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持ち帰りの問い — 明日からの臨床で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914400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123443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1E2761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234439"/>
            <a:ext cx="68580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0">
                <a:solidFill>
                  <a:srgbClr val="F0F4FC"/>
                </a:solidFill>
                <a:latin typeface="Calibri"/>
              </a:defRPr>
            </a:pPr>
            <a:r>
              <a:rPr/>
              <a:t>AIツールの判断根拠を、患者に説明できるか？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914400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1E2761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23160"/>
            <a:ext cx="68580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0">
                <a:solidFill>
                  <a:srgbClr val="F0F4FC"/>
                </a:solidFill>
                <a:latin typeface="Calibri"/>
              </a:defRPr>
            </a:pPr>
            <a:r>
              <a:rPr/>
              <a:t>訓練データに、目の前の患者と同じ集団は含まれているか？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474720"/>
            <a:ext cx="914400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31520" y="361187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1E2761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611879"/>
            <a:ext cx="68580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0">
                <a:solidFill>
                  <a:srgbClr val="F0F4FC"/>
                </a:solidFill>
                <a:latin typeface="Calibri"/>
              </a:defRPr>
            </a:pPr>
            <a:r>
              <a:rPr/>
              <a:t>AIと自分の判断が食い違ったとき、思考プロセスを言語化できるか？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