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4A03C"/>
                </a:solidFill>
                <a:latin typeface="Georgia"/>
              </a:defRPr>
            </a:pPr>
            <a:r>
              <a:rPr/>
              <a:t>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22248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5ED"/>
                </a:solidFill>
                <a:latin typeface="Georgia"/>
              </a:defRPr>
            </a:pPr>
            <a:r>
              <a:rPr/>
              <a:t>オーケストレーターとしての家庭医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A88C"/>
                </a:solidFill>
                <a:latin typeface="Calibri"/>
              </a:defRPr>
            </a:pPr>
            <a:r>
              <a:rPr/>
              <a:t>AI研究が証明した「統合者」の価値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E82"/>
                </a:solidFill>
                <a:latin typeface="Calibri"/>
              </a:defRPr>
            </a:pPr>
            <a:r>
              <a:rPr/>
              <a:t>Google/MIT マルチエージェント研究 x 家庭医療のエビデンス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7432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E82"/>
                </a:solidFill>
                <a:latin typeface="Calibri"/>
              </a:defRPr>
            </a:pPr>
            <a:r>
              <a:rPr/>
              <a:t>2026-03-24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5ED"/>
                </a:solidFill>
                <a:latin typeface="Georgia"/>
              </a:defRPr>
            </a:pPr>
            <a:r>
              <a:rPr/>
              <a:t>AIが証明したこと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54864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E82"/>
                </a:solidFill>
                <a:latin typeface="Calibri"/>
              </a:defRPr>
            </a:pPr>
            <a:r>
              <a:rPr/>
              <a:t>Google / MIT / DeepMind 共同研究 (2025-2026)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E82"/>
                </a:solidFill>
                <a:latin typeface="Calibri"/>
              </a:defRPr>
            </a:pPr>
            <a:r>
              <a:rPr/>
              <a:t>単一AIのエラー率を 1 としたとき、専門AIを增やすと…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3A1B1B"/>
          </a:solidFill>
          <a:ln w="12700">
            <a:solidFill>
              <a:srgbClr val="D4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338328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5B47"/>
                </a:solidFill>
                <a:latin typeface="Calibri"/>
              </a:defRPr>
            </a:pPr>
            <a:r>
              <a:rPr/>
              <a:t>統合者なし（Bag of Agents）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66747"/>
            <a:ext cx="338328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5B47"/>
                </a:solidFill>
                <a:latin typeface="Calibri"/>
              </a:defRPr>
            </a:pPr>
            <a:r>
              <a:rPr/>
              <a:t>エラー 17倍に增幅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9875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5ED"/>
                </a:solidFill>
                <a:latin typeface="Calibri"/>
              </a:defRPr>
            </a:pPr>
            <a:r>
              <a:rPr/>
              <a:t>専門家が個別に動くと</a:t>
            </a:r>
            <a:br/>
            <a:r>
              <a:rPr/>
              <a:t>矛盾・重複・欠落が雪だるま式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657600" cy="1828800"/>
          </a:xfrm>
          <a:prstGeom prst="rect">
            <a:avLst/>
          </a:prstGeom>
          <a:solidFill>
            <a:srgbClr val="1B3A2D"/>
          </a:solidFill>
          <a:ln w="12700">
            <a:solidFill>
              <a:srgbClr val="4E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892040" y="1325880"/>
            <a:ext cx="338328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B86B"/>
                </a:solidFill>
                <a:latin typeface="Calibri"/>
              </a:defRPr>
            </a:pPr>
            <a:r>
              <a:rPr/>
              <a:t>統合者あり（Orchestrated）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66747"/>
            <a:ext cx="338328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EB86B"/>
                </a:solidFill>
                <a:latin typeface="Calibri"/>
              </a:defRPr>
            </a:pPr>
            <a:r>
              <a:rPr/>
              <a:t>エラー 4倍に抑制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09875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5ED"/>
                </a:solidFill>
                <a:latin typeface="Calibri"/>
              </a:defRPr>
            </a:pPr>
            <a:r>
              <a:rPr/>
              <a:t>統合者が全体を調整すると</a:t>
            </a:r>
            <a:br/>
            <a:r>
              <a:rPr/>
              <a:t>エラーの增幅を約75%抑制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5ED"/>
                </a:solidFill>
                <a:latin typeface="Georgia"/>
              </a:defRPr>
            </a:pPr>
            <a:r>
              <a:rPr/>
              <a:t>「専門家の数」より「調整の構造」が重要。</a:t>
            </a:r>
            <a:br/>
            <a:r>
              <a:rPr/>
              <a:t>これは、まさに医療の話だ。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AIの発見 = 医療の現実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AIマルチエージェント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日本の医療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専門AIがバラバラに動く</a:t>
                      </a:r>
                    </a:p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(「Bag of Agents」)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専門医がバラバラに診る</a:t>
                      </a:r>
                    </a:p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(ポリドクタリング)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オーケストレーターAIが</a:t>
                      </a:r>
                    </a:p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全体を統合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家庭医がオーケストレーター</a:t>
                      </a:r>
                    </a:p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として統合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エラー17倍 → 4倍に抑制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ポリファーマシー2.18倍 → 抑制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コスト80%削減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外来費用約2倍 → 抑制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3017520"/>
            <a:ext cx="54864" cy="13716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3017520"/>
            <a:ext cx="75712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3090672"/>
            <a:ext cx="73152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1D"/>
                </a:solidFill>
                <a:latin typeface="Georgia"/>
              </a:defRPr>
            </a:pPr>
            <a:r>
              <a:rPr/>
              <a:t>1975年、日野原重明が「プライマリケアのニードはきわめて高い」と意見具申。</a:t>
            </a:r>
            <a:br/>
            <a:r>
              <a:rPr/>
              <a:t>2004年、岩崎榄が「分化ばかり進んで統合がなおざり」と指摘。</a:t>
            </a:r>
            <a:br/>
            <a:r>
              <a:rPr/>
              <a:t>2009年、Huttが「患者のオーケストラの指揮者がいない」と論考。</a:t>
            </a:r>
            <a:br/>
            <a:r>
              <a:rPr/>
              <a:t>→ 50年間の警告が、2026年のAI研究で科学的に裏付けられた。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日本の現実 — 数字が語る断片化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965960" cy="54864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78308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47"/>
                </a:solidFill>
                <a:latin typeface="Calibri"/>
              </a:defRPr>
            </a:pPr>
            <a:r>
              <a:rPr/>
              <a:t>0.3%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7624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全医師に対する</a:t>
            </a:r>
            <a:br/>
            <a:r>
              <a:rPr/>
              <a:t>家庭医の割合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43175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E82"/>
                </a:solidFill>
                <a:latin typeface="Calibri"/>
              </a:defRPr>
            </a:pPr>
            <a:r>
              <a:rPr/>
              <a:t>1,126人 / 339,623人</a:t>
            </a:r>
            <a:br/>
            <a:r>
              <a:rPr/>
              <a:t>(2022年)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2606040" y="822960"/>
            <a:ext cx="1965960" cy="54864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97480" y="868680"/>
            <a:ext cx="178308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47"/>
                </a:solidFill>
                <a:latin typeface="Calibri"/>
              </a:defRPr>
            </a:pPr>
            <a:r>
              <a:rPr/>
              <a:t>65.3%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47624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高齢者の</a:t>
            </a:r>
            <a:br/>
            <a:r>
              <a:rPr/>
              <a:t>ポリドクタリング率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43175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E82"/>
                </a:solidFill>
                <a:latin typeface="Calibri"/>
              </a:defRPr>
            </a:pPr>
            <a:r>
              <a:rPr/>
              <a:t>複数施設を定期受診</a:t>
            </a:r>
            <a:br/>
            <a:r>
              <a:rPr/>
              <a:t>(平均併存疾患4.7)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ctangle 13"/>
          <p:cNvSpPr/>
          <p:nvPr/>
        </p:nvSpPr>
        <p:spPr>
          <a:xfrm>
            <a:off x="4754880" y="822960"/>
            <a:ext cx="1965960" cy="54864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846320" y="868680"/>
            <a:ext cx="178308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47"/>
                </a:solidFill>
                <a:latin typeface="Calibri"/>
              </a:defRPr>
            </a:pPr>
            <a:r>
              <a:rPr/>
              <a:t>2.18倍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47624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ポリファーマシー</a:t>
            </a:r>
            <a:br/>
            <a:r>
              <a:rPr/>
              <a:t>のリスク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43175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E82"/>
                </a:solidFill>
                <a:latin typeface="Calibri"/>
              </a:defRPr>
            </a:pPr>
            <a:r>
              <a:rPr/>
              <a:t>3施設以上受診時</a:t>
            </a:r>
            <a:br/>
            <a:r>
              <a:rPr/>
              <a:t>(OR 2.18)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ectangle 18"/>
          <p:cNvSpPr/>
          <p:nvPr/>
        </p:nvSpPr>
        <p:spPr>
          <a:xfrm>
            <a:off x="6903720" y="822960"/>
            <a:ext cx="1965960" cy="54864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995160" y="868680"/>
            <a:ext cx="178308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5B47"/>
                </a:solidFill>
                <a:latin typeface="Calibri"/>
              </a:defRPr>
            </a:pPr>
            <a:r>
              <a:rPr/>
              <a:t>2倍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47624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外来医療費の</a:t>
            </a:r>
            <a:br/>
            <a:r>
              <a:rPr/>
              <a:t>増加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043175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E82"/>
                </a:solidFill>
                <a:latin typeface="Calibri"/>
              </a:defRPr>
            </a:pPr>
            <a:r>
              <a:rPr/>
              <a:t>3施設以上受診時</a:t>
            </a:r>
            <a:br/>
            <a:r>
              <a:rPr/>
              <a:t>vs 1施設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E82"/>
                </a:solidFill>
                <a:latin typeface="Calibri"/>
              </a:defRPr>
            </a:pPr>
            <a:r>
              <a:rPr/>
              <a:t>出典: PMC (2023), BMC Health Services Research (2020), Scientific Reports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スターフィールドのエビデンス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73152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E82"/>
                </a:solidFill>
                <a:latin typeface="Calibri"/>
              </a:defRPr>
            </a:pPr>
            <a:r>
              <a:rPr/>
              <a:t>Barbara Starfield (Johns Hopkins, 2005) — プライマリケアの定量的証明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プライマリケア医</a:t>
            </a:r>
            <a:br/>
            <a:r>
              <a:rPr/>
              <a:t>1人/万人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143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B86B"/>
                </a:solidFill>
                <a:latin typeface="Calibri"/>
              </a:defRPr>
            </a:pPr>
            <a:r>
              <a:rPr/>
              <a:t>死亡率 5.3%↓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43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E82"/>
                </a:solidFill>
                <a:latin typeface="Calibri"/>
              </a:defRPr>
            </a:pPr>
            <a:r>
              <a:rPr/>
              <a:t>年間49人/10万人の</a:t>
            </a:r>
            <a:br/>
            <a:r>
              <a:rPr/>
              <a:t>命が救われる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プライマリケア</a:t>
            </a:r>
            <a:br/>
            <a:r>
              <a:rPr/>
              <a:t>スコア 5点↑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574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B86B"/>
                </a:solidFill>
                <a:latin typeface="Calibri"/>
              </a:defRPr>
            </a:pPr>
            <a:r>
              <a:rPr/>
              <a:t>心疾患早死</a:t>
            </a:r>
            <a:br/>
            <a:r>
              <a:rPr/>
              <a:t>最大15%↓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574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E82"/>
                </a:solidFill>
                <a:latin typeface="Calibri"/>
              </a:defRPr>
            </a:pPr>
            <a:r>
              <a:rPr/>
              <a:t>営入気管炎による</a:t>
            </a:r>
            <a:br/>
            <a:r>
              <a:rPr/>
              <a:t>早死も6.5%↓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54864" cy="777240"/>
          </a:xfrm>
          <a:prstGeom prst="rect">
            <a:avLst/>
          </a:prstGeom>
          <a:solidFill>
            <a:srgbClr val="4E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1D"/>
                </a:solidFill>
                <a:latin typeface="Calibri"/>
              </a:defRPr>
            </a:pPr>
            <a:r>
              <a:rPr/>
              <a:t>米国での試算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9718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B86B"/>
                </a:solidFill>
                <a:latin typeface="Calibri"/>
              </a:defRPr>
            </a:pPr>
            <a:r>
              <a:rPr/>
              <a:t>年間12.8万人</a:t>
            </a:r>
            <a:br/>
            <a:r>
              <a:rPr/>
              <a:t>の死亡を予防可能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718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E82"/>
                </a:solidFill>
                <a:latin typeface="Calibri"/>
              </a:defRPr>
            </a:pPr>
            <a:r>
              <a:rPr/>
              <a:t>プライマリケアを</a:t>
            </a:r>
            <a:br/>
            <a:r>
              <a:rPr/>
              <a:t>充実させることで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E82"/>
                </a:solidFill>
                <a:latin typeface="Calibri"/>
              </a:defRPr>
            </a:pPr>
            <a:r>
              <a:rPr/>
              <a:t>出典: Milbank Quarterly (2005), Macinko et al. (2007) — PMC2690145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世界の「オーケストレーター」モデル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828800"/>
                <a:gridCol w="2926080"/>
              </a:tblGrid>
              <a:tr h="3840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国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家庭医の役割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仕組み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成果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英国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ゲートキーパー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+ QOF(質評価)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NHSにおけるGPシステム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不利な地域の受診率向上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オランダ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ゲートキーパー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(専門医には紹介必須)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包括払い制度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糖尿病・COPD管理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糖尿病の質指標改善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デンマーク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ゲートキーパー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+ グループ診療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OECD最高評価の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PC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予防可能な入院率低下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オースト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ラリア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GPがゲートキーパー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+ チームベース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Medicareのかかりつけ医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(GP)登録制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慣性疾患管理の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国際的成功例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米国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FM/IMがPCPとして機能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保険種でGKの有無が変わる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HMO: 紹介必要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PPO: 自由受診可能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PCP不足が深刻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PC弱い地域で死亡率↑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日本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フリーアクセス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(ゲートキーパーなし)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患者が自由に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専門医を受診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ポリドクタリング65%</a:t>
                      </a:r>
                    </a:p>
                    <a:p>
                      <a:pPr>
                        <a:defRPr sz="8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多剤処2.18倍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3291840"/>
            <a:ext cx="54864" cy="9144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7571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3364992"/>
            <a:ext cx="7315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1D"/>
                </a:solidFill>
                <a:latin typeface="Georgia"/>
              </a:defRPr>
            </a:pPr>
            <a:r>
              <a:rPr/>
              <a:t>ゲートキーパー = AIの「オーケストレーター検証ゲート」。</a:t>
            </a:r>
            <a:br/>
            <a:r>
              <a:rPr/>
              <a:t>家庭医を通さないと専門医に行けない仕組みが、</a:t>
            </a:r>
            <a:br/>
            <a:r>
              <a:rPr/>
              <a:t>構造的に不要な受診を抑制し、ケアの質を上げる。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5ED"/>
                </a:solidFill>
                <a:latin typeface="Georgia"/>
              </a:defRPr>
            </a:pPr>
            <a:r>
              <a:rPr/>
              <a:t>なぜ「統合者」が必要なのか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2743200"/>
          </a:xfrm>
          <a:prstGeom prst="rect">
            <a:avLst/>
          </a:prstGeom>
          <a:solidFill>
            <a:srgbClr val="3A1B1B"/>
          </a:solidFill>
          <a:ln w="12700">
            <a:solidFill>
              <a:srgbClr val="D4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338328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5B47"/>
                </a:solidFill>
                <a:latin typeface="Calibri"/>
              </a:defRPr>
            </a:pPr>
            <a:r>
              <a:rPr/>
              <a:t>断片化したケア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00987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5ED"/>
                </a:solidFill>
                <a:latin typeface="Consolas"/>
              </a:defRPr>
            </a:pPr>
            <a:r>
              <a:rPr/>
              <a:t>  患者</a:t>
            </a:r>
            <a:br/>
            <a:r>
              <a:rPr/>
              <a:t>    ├── 循環器内科</a:t>
            </a:r>
            <a:br/>
            <a:r>
              <a:rPr/>
              <a:t>    ├── 整形外科</a:t>
            </a:r>
            <a:br/>
            <a:r>
              <a:rPr/>
              <a:t>    ├── 糖尿病内科</a:t>
            </a:r>
            <a:br/>
            <a:r>
              <a:rPr/>
              <a:t>    ├── 眼科</a:t>
            </a:r>
            <a:br/>
            <a:r>
              <a:rPr/>
              <a:t>    └── 精神科</a:t>
            </a:r>
            <a:br/>
            <a:br/>
            <a:r>
              <a:rPr/>
              <a:t>  → 誰が全体を見る？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657600" cy="2743200"/>
          </a:xfrm>
          <a:prstGeom prst="rect">
            <a:avLst/>
          </a:prstGeom>
          <a:solidFill>
            <a:srgbClr val="1B3A2D"/>
          </a:solidFill>
          <a:ln w="12700">
            <a:solidFill>
              <a:srgbClr val="4E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892040" y="960120"/>
            <a:ext cx="338328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B86B"/>
                </a:solidFill>
                <a:latin typeface="Calibri"/>
              </a:defRPr>
            </a:pPr>
            <a:r>
              <a:rPr/>
              <a:t>統合されたケア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00987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5ED"/>
                </a:solidFill>
                <a:latin typeface="Consolas"/>
              </a:defRPr>
            </a:pPr>
            <a:r>
              <a:rPr/>
              <a:t>  患者</a:t>
            </a:r>
            <a:br/>
            <a:r>
              <a:rPr/>
              <a:t>    └── 家庭医（統合者）</a:t>
            </a:r>
            <a:br/>
            <a:r>
              <a:rPr/>
              <a:t>          ├── 循環器内科</a:t>
            </a:r>
            <a:br/>
            <a:r>
              <a:rPr/>
              <a:t>          ├── 整形外科</a:t>
            </a:r>
            <a:br/>
            <a:r>
              <a:rPr/>
              <a:t>          ├── 糖尿病内科</a:t>
            </a:r>
            <a:br/>
            <a:r>
              <a:rPr/>
              <a:t>          └── (必要なときだけ)</a:t>
            </a:r>
            <a:br/>
            <a:br/>
            <a:r>
              <a:rPr/>
              <a:t>  → 全体を見る人がいる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03C"/>
                </a:solidFill>
                <a:latin typeface="Calibri"/>
              </a:defRPr>
            </a:pPr>
            <a:r>
              <a:rPr/>
              <a:t>AIも医療も同じ結論: 「専門家の数」ではなく「調整の構造」が質を決める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スターフィールドの4つの柱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54864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E82"/>
                </a:solidFill>
                <a:latin typeface="Calibri"/>
              </a:defRPr>
            </a:pPr>
            <a:r>
              <a:rPr/>
              <a:t>強いプライマリケア = この4つが揃っている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659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13385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1D"/>
                </a:solidFill>
                <a:latin typeface="Calibri"/>
              </a:defRPr>
            </a:pPr>
            <a:r>
              <a:rPr/>
              <a:t>First Contact</a:t>
            </a:r>
            <a:br/>
            <a:r>
              <a:rPr/>
              <a:t>最初の窓口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2A1D"/>
                </a:solidFill>
                <a:latin typeface="Calibri"/>
              </a:defRPr>
            </a:pPr>
            <a:r>
              <a:rPr/>
              <a:t>患者が最初に相談する</a:t>
            </a:r>
            <a:br/>
            <a:r>
              <a:rPr/>
              <a:t>場所がある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0058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2606040" y="1005840"/>
            <a:ext cx="19659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97480" y="113385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1D"/>
                </a:solidFill>
                <a:latin typeface="Calibri"/>
              </a:defRPr>
            </a:pPr>
            <a:r>
              <a:rPr/>
              <a:t>Continuity</a:t>
            </a:r>
            <a:br/>
            <a:r>
              <a:rPr/>
              <a:t>継続性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2A1D"/>
                </a:solidFill>
                <a:latin typeface="Calibri"/>
              </a:defRPr>
            </a:pPr>
            <a:r>
              <a:rPr/>
              <a:t>同じ医師が長期的に</a:t>
            </a:r>
            <a:br/>
            <a:r>
              <a:rPr/>
              <a:t>一人の患者を診る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4754880" y="1005840"/>
            <a:ext cx="19659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846320" y="113385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1D"/>
                </a:solidFill>
                <a:latin typeface="Calibri"/>
              </a:defRPr>
            </a:pPr>
            <a:r>
              <a:rPr/>
              <a:t>Comprehensiveness</a:t>
            </a:r>
            <a:br/>
            <a:r>
              <a:rPr/>
              <a:t>包括性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2A1D"/>
                </a:solidFill>
                <a:latin typeface="Calibri"/>
              </a:defRPr>
            </a:pPr>
            <a:r>
              <a:rPr/>
              <a:t>幅広い問題に</a:t>
            </a:r>
            <a:br/>
            <a:r>
              <a:rPr/>
              <a:t>対応できる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0058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6903720" y="1005840"/>
            <a:ext cx="19659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95160" y="10972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1D"/>
                </a:solidFill>
                <a:latin typeface="Calibri"/>
              </a:defRPr>
            </a:pPr>
            <a:r>
              <a:rPr/>
              <a:t>Coordination</a:t>
            </a:r>
            <a:br/>
            <a:r>
              <a:rPr/>
              <a:t>調整機能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8288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2A1D"/>
                </a:solidFill>
                <a:latin typeface="Calibri"/>
              </a:defRPr>
            </a:pPr>
            <a:r>
              <a:rPr/>
              <a:t>専門医との連携を</a:t>
            </a:r>
            <a:br/>
            <a:r>
              <a:rPr/>
              <a:t>統合する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3C"/>
                </a:solidFill>
                <a:latin typeface="Calibri"/>
              </a:defRPr>
            </a:pPr>
            <a:r>
              <a:rPr/>
              <a:t>AIのオーケストレーター = 「Coordination」の役割。家庭医 = 4つ全てを担う「システムの専門医」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5ED"/>
                </a:solidFill>
                <a:latin typeface="Georgia"/>
              </a:defRPr>
            </a:pPr>
            <a:r>
              <a:rPr/>
              <a:t>ディスカッション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03C"/>
                </a:solidFill>
                <a:latin typeface="Calibri"/>
              </a:defRPr>
            </a:pPr>
            <a:r>
              <a:rPr/>
              <a:t>4分間 → 全体共有 3分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A1D"/>
                </a:solidFill>
                <a:latin typeface="Georgia"/>
              </a:defRPr>
            </a:pPr>
            <a:r>
              <a:rPr/>
              <a:t>あなたの現場で、「オーケストレーターが</a:t>
            </a:r>
            <a:br/>
            <a:r>
              <a:rPr/>
              <a:t>いないせいで起きている問題」は何か？</a:t>
            </a:r>
            <a:br/>
            <a:r>
              <a:rPr/>
              <a:t>それを解決するには何が必要？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3C"/>
                </a:solidFill>
                <a:latin typeface="Calibri"/>
              </a:defRPr>
            </a:pPr>
            <a:r>
              <a:rPr/>
              <a:t>考えるヒント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27528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5ED"/>
                </a:solidFill>
                <a:latin typeface="Calibri"/>
              </a:defRPr>
              <a:buChar char="●"/>
            </a:pPr>
            <a:r>
              <a:rPr/>
              <a:t>ポリドクタリングで困った患者さんの経験は？</a:t>
            </a:r>
          </a:p>
          <a:p>
            <a:pPr>
              <a:defRPr sz="1300">
                <a:solidFill>
                  <a:srgbClr val="F8F5ED"/>
                </a:solidFill>
                <a:latin typeface="Calibri"/>
              </a:defRPr>
              <a:buChar char="●"/>
            </a:pPr>
            <a:r>
              <a:rPr/>
              <a:t>「全体を見る人」がいたら何が変わる？</a:t>
            </a:r>
          </a:p>
          <a:p>
            <a:pPr>
              <a:defRPr sz="1300">
                <a:solidFill>
                  <a:srgbClr val="F8F5ED"/>
                </a:solidFill>
                <a:latin typeface="Calibri"/>
              </a:defRPr>
              <a:buChar char="●"/>
            </a:pPr>
            <a:r>
              <a:rPr/>
              <a:t>日本のフリーアクセス制度をどう思う？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1D"/>
                </a:solidFill>
                <a:latin typeface="Georgia"/>
              </a:defRPr>
            </a:pPr>
            <a:r>
              <a:rPr/>
              <a:t>家庭医は「システムの専門医」である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専門医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5ED"/>
                          </a:solidFill>
                          <a:latin typeface="Calibri"/>
                        </a:defRPr>
                      </a:pPr>
                      <a:r>
                        <a:t>家庭医</a:t>
                      </a:r>
                    </a:p>
                  </a:txBody>
                  <a:tcPr>
                    <a:solidFill>
                      <a:srgbClr val="1B3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臓器の専門家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「人」の専門家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深く狭く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広くつなぐ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各パーツを最適化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システム全体を最適化</a:t>
                      </a:r>
                    </a:p>
                  </a:txBody>
                  <a:tcPr>
                    <a:solidFill>
                      <a:srgbClr val="E8F0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AIの専門エージェント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2A1D"/>
                          </a:solidFill>
                          <a:latin typeface="Calibri"/>
                        </a:defRPr>
                      </a:pPr>
                      <a:r>
                        <a:t>AIのオーケストレーター</a:t>
                      </a:r>
                    </a:p>
                  </a:txBody>
                  <a:tcPr>
                    <a:solidFill>
                      <a:srgbClr val="F8F5ED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926080"/>
            <a:ext cx="76809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B2A1D"/>
                </a:solidFill>
                <a:latin typeface="Georgia"/>
              </a:defRPr>
            </a:pPr>
            <a:r>
              <a:rPr/>
              <a:t>Google/MITが証明したこと:</a:t>
            </a:r>
            <a:br/>
            <a:r>
              <a:rPr/>
              <a:t>「専門家の数」より「統合の質」が成果を決める。</a:t>
            </a:r>
            <a:br/>
            <a:br/>
            <a:r>
              <a:rPr/>
              <a:t>家庭医は、「何でも診る医師」ではない。</a:t>
            </a:r>
            <a:br/>
            <a:r>
              <a:rPr/>
              <a:t>「全体を見て、つないで、守る」システムの専門家だ。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