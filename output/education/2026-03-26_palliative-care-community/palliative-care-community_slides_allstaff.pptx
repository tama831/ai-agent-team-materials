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地域で支える緩和ケア — 私たちにできること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対象: 全スタッフ（看護師・介護士・事務職員・リハビリ職等）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所要時間: 20分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IDモデル: ガニェの9教授事象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作成日: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スライド1: タイトル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所要時間: 20分</a:t>
            </a:r>
            <a:br/>
            <a:r>
              <a:rPr/>
              <a:t>今日のルール: 正解を求めません。感じたことを大切にしてください。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スライド2: 問いかけ（注意の喚起）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「この方、最近つらそうだな」</a:t>
            </a:r>
            <a:br/>
            <a:r>
              <a:rPr/>
              <a:t>「もう少し何かできることがあるんじゃないかな」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と感じたことはありませんか？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rPr/>
              <a:t>→ その「気づき」こそが、緩和ケアの出発点です。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🎯 ガニェ第1事象: 学習者の注意を喚起する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スライド3: 今日のゴール（学習目標の提示）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緩和ケアは「終末期だけのもの」ではないとわかる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あなたの職種でできる緩和ケアが1つ見つかる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困ったときに誰に相談すればいいかがわかる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「自分には関係ない」→「自分にもできることがある」</a:t>
            </a:r>
            <a:br/>
            <a:r>
              <a:rPr/>
              <a:t>この変化が今日のゴールです。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🎯 ガニェ第2事象: 学習目標を知らせる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スライド4: まず、誤解を解きましょう（前提条件の想起）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よくある誤解：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43000"/>
          <a:ext cx="77724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誤解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実際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終末期の人だけが受けるもの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診断されたときから始められる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がんの人だけが対象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心不全、認知症、呼吸器疾患なども対象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特別な専門家だけがやること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すべての職種が関われる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「もう何もできない」ということ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「できることはまだたくさんある」ということ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92607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🎯 ガニェ第3事象: 前提条件を思い出させる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スライド5: WHOの定義をやさしく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549859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549859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403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重い病気に向き合う患者さんとご家族の</a:t>
            </a:r>
            <a:br/>
            <a:r>
              <a:rPr/>
              <a:t>「つらさ」を和らげて</a:t>
            </a:r>
            <a:br/>
            <a:r>
              <a:rPr/>
              <a:t>その人らしい生活を支えること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997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「つらさ」には4つの種類があります：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30019"/>
            <a:ext cx="54864" cy="2571597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658368" y="1830019"/>
            <a:ext cx="7662672" cy="257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77240" y="1903171"/>
            <a:ext cx="7406640" cy="2425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┌──────────────────────────┐</a:t>
            </a:r>
            <a:br/>
            <a:r>
              <a:rPr/>
              <a:t>│     体のつらさ            │  痛み、息苦しさ、だるさ</a:t>
            </a:r>
            <a:br/>
            <a:r>
              <a:rPr/>
              <a:t>├──────────────────────────┤</a:t>
            </a:r>
            <a:br/>
            <a:r>
              <a:rPr/>
              <a:t>│     心のつらさ            │  不安、悲しみ、怒り</a:t>
            </a:r>
            <a:br/>
            <a:r>
              <a:rPr/>
              <a:t>├──────────────────────────┤</a:t>
            </a:r>
            <a:br/>
            <a:r>
              <a:rPr/>
              <a:t>│  人とのつながりのつらさ    │  孤独、家族との関係</a:t>
            </a:r>
            <a:br/>
            <a:r>
              <a:rPr/>
              <a:t>├──────────────────────────┤</a:t>
            </a:r>
            <a:br/>
            <a:r>
              <a:rPr/>
              <a:t>│  生きる意味のつらさ        │  「何のために生きているのか」</a:t>
            </a:r>
            <a:br/>
            <a:r>
              <a:rPr/>
              <a:t>└──────────────────────────┘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38776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3A3A"/>
                </a:solidFill>
                <a:latin typeface="Calibri"/>
              </a:defRPr>
            </a:pPr>
            <a:r>
              <a:rPr/>
              <a:t>体のつらさだけが緩和ケアではありません。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スライド6: 地域包括ケアの中の緩和ケア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1666341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1666341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1520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        ┌─ 医療（病院・診療所・訪問診療）</a:t>
            </a:r>
            <a:br/>
            <a:r>
              <a:rPr/>
              <a:t>        │</a:t>
            </a:r>
            <a:br/>
            <a:r>
              <a:rPr/>
              <a:t>地域包括 ─┼─ 介護（施設・在宅サービス）  ← ここにいるのが皆さん</a:t>
            </a:r>
            <a:br/>
            <a:r>
              <a:rPr/>
              <a:t>ケア    │</a:t>
            </a:r>
            <a:br/>
            <a:r>
              <a:rPr/>
              <a:t>        ├─ 予防（健康づくり）</a:t>
            </a:r>
            <a:br/>
            <a:r>
              <a:rPr/>
              <a:t>        │</a:t>
            </a:r>
            <a:br/>
            <a:r>
              <a:rPr/>
              <a:t>        └─ 生活支援（住まい・見守り）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26461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rPr/>
              <a:t>緩和ケアは、このすべてに横串を通すもの。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92221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利用者さんの「つらさ」は、医療の場だけでなく、介護の場、生活の場で日々感じられている。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スライド7: 衝撃のデータ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日本緩和医療学会の全国調査（528施設）によると...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58368" y="114300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121615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■■■■■■■■■■ 50%   医療従事者向けの緩和ケア教育を実施</a:t>
            </a:r>
            <a:br/>
            <a:r>
              <a:rPr/>
              <a:t>■                10%   介護職向けの緩和ケア教育を実施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**介護職は、利用者さんと最も長い時間を過ごしているのに、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緩和ケアについて学ぶ機会が最も少ない。**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7772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1日の接触時間（施設の場合）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介護職: 8-16時間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看護師: 1-2時間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医師: 数分-数十分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611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→ 一番近くにいるあなたの「気づき」が、一番大切。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🎯 ガニェ第4事象: 新しい内容を提示する（データで実感を促す）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スライド8: あなたの職種でできること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822960"/>
          <a:ext cx="7772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あなたにできる緩和ケア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日常の変化に気づく。「いつもと違う」を伝える。声かけ、傾聴、安楽な姿勢の工夫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症状の評価、医師への報告、ケアプランへの反映、介護職の相談窓口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リハビリ職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「できること」を維持する支援、動作時の痛みの評価、リラクゼーション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事務職員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家族への丁寧な対応、環境整備、情報連携のサポート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栄養士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食べたいものを聞く、食べやすい形態の工夫、栄養より「楽しみ」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相談員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家族の不安への寄り添い、社会資源の紹介、意思決定の支援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154679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rPr/>
              <a:t>「自分の仕事の延長線上」に緩和ケアはあります。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🎯 ガニェ第5事象: 学習の指針を与える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スライド9: 具体的な場面で考えてみましょう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いつもの「おはようございます、よく眠れましたか？」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これだけで立派な緩和ケアのアセスメントです。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+ひと言の例：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1368"/>
            <a:ext cx="777240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「体のどこか痛いところはありませんか？」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「何か気になっていることはありますか？」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「昨日のお薬は楽になりましたか？」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食事量が減ってきた利用者さんに：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❌ 「ちゃんと食べないと元気になれませんよ」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✅ 「食べたいものはありますか？少しでも好きなものを」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入浴を嫌がるようになった利用者さん：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痛みで動くのがつらい？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裸になることへの抵抗？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体力が落ちて疲れる？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→ 「嫌がる」の背景を考えること = 緩和ケア的思考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スライド10: グループワーク（5分間）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**「あなたが関わった利用者さん（患者さん）で、</a:t>
            </a:r>
            <a:br/>
            <a:r>
              <a:rPr/>
              <a:t>もっとこうできたらよかったな、と思ったことは？」**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7772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rPr/>
              <a:t>正解はありません</a:t>
            </a:r>
          </a:p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rPr/>
              <a:t>批判しない、聞くことに集中</a:t>
            </a:r>
          </a:p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rPr/>
              <a:t>「自分だったらどうする？」を考えてみる</a:t>
            </a:r>
          </a:p>
          <a:p>
            <a:pPr>
              <a:defRPr sz="1200">
                <a:solidFill>
                  <a:srgbClr val="FDF5EB"/>
                </a:solidFill>
                <a:latin typeface="Calibri"/>
              </a:defRPr>
              <a:buChar char="●"/>
            </a:pPr>
            <a:r>
              <a:rPr/>
              <a:t>個人情報に配慮（名前は出さない）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rPr/>
              <a:t>1人1分ずつ話して、残り1分で「共通点」を見つけてください。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🎯 ガニェ第6事象: 練習の機会を与える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スライド11: グループワークの共有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1411528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1411528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1265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ファシリテーターが2-3グループに発表を依頼</a:t>
            </a:r>
            <a:br/>
            <a:br/>
            <a:r>
              <a:rPr/>
              <a:t>ポイント:</a:t>
            </a:r>
            <a:br/>
            <a:r>
              <a:rPr/>
              <a:t>- 「気づいていた」のに「何もできなかった」経験が多い</a:t>
            </a:r>
            <a:br/>
            <a:r>
              <a:rPr/>
              <a:t>- → それは「知識がなかった」のではなく「伝え方を知らなかった」だけ</a:t>
            </a:r>
            <a:br/>
            <a:r>
              <a:rPr/>
              <a:t>- 今日からその「伝え方」を一つずつ学んでいきましょう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164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🎯 ガニェ第7事象: フィードバックを与える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スライド12: 困ったときの相談先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2380488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2380488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2234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あなたが「何かおかしい」と感じたら：</a:t>
            </a:r>
            <a:br/>
            <a:br/>
            <a:r>
              <a:rPr/>
              <a:t>Step 1: まず看護師に伝える</a:t>
            </a:r>
            <a:br/>
            <a:r>
              <a:rPr/>
              <a:t>        「〇〇さん、いつもと違って△△な様子です」</a:t>
            </a:r>
            <a:br/>
            <a:br/>
            <a:r>
              <a:rPr/>
              <a:t>Step 2: 看護師が判断して医師に報告</a:t>
            </a:r>
            <a:br/>
            <a:r>
              <a:rPr/>
              <a:t>        → 必要に応じて緩和ケアチームに相談</a:t>
            </a:r>
            <a:br/>
            <a:br/>
            <a:r>
              <a:rPr/>
              <a:t>Step 3: カンファレンスで情報共有</a:t>
            </a:r>
            <a:br/>
            <a:r>
              <a:rPr/>
              <a:t>        あなたの「気づき」がチーム全体のケアを変える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4060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**大切なのは「正確な医学的判断」ではなく、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78935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「いつもと違う」と感じたことを伝えること。**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980687"/>
          <a:ext cx="777240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連絡先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スライド13: 多職種で支えるということ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3610965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3610965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3464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利用者さん・ご家族</a:t>
            </a:r>
            <a:br/>
            <a:r>
              <a:rPr/>
              <a:t>      ↑</a:t>
            </a:r>
            <a:br/>
            <a:r>
              <a:rPr/>
              <a:t>  ┌───┼───┐</a:t>
            </a:r>
            <a:br/>
            <a:r>
              <a:rPr/>
              <a:t>  │   │   │</a:t>
            </a:r>
            <a:br/>
            <a:r>
              <a:rPr/>
              <a:t>介護  看護  医師</a:t>
            </a:r>
            <a:br/>
            <a:r>
              <a:rPr/>
              <a:t>  │   │   │</a:t>
            </a:r>
            <a:br/>
            <a:r>
              <a:rPr/>
              <a:t>  ├───┼───┤</a:t>
            </a:r>
            <a:br/>
            <a:r>
              <a:rPr/>
              <a:t>  │   │   │</a:t>
            </a:r>
            <a:br/>
            <a:r>
              <a:rPr/>
              <a:t>リハ  栄養  相談員</a:t>
            </a:r>
            <a:br/>
            <a:r>
              <a:rPr/>
              <a:t>  │   │   │</a:t>
            </a:r>
            <a:br/>
            <a:r>
              <a:rPr/>
              <a:t>  └───┼───┘</a:t>
            </a:r>
            <a:br/>
            <a:r>
              <a:rPr/>
              <a:t>      │</a:t>
            </a:r>
            <a:br/>
            <a:r>
              <a:rPr/>
              <a:t>  事務・その他</a:t>
            </a:r>
            <a:br/>
            <a:br/>
            <a:r>
              <a:rPr/>
              <a:t>全員の「気づき」が集まって、</a:t>
            </a:r>
            <a:br/>
            <a:r>
              <a:rPr/>
              <a:t>はじめて「その人らしいケア」が実現する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1085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**介護職の「気づき」は、医師や看護師には見えないものを含んでいます。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スライド14: 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1944623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1944623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1. 緩和ケアは「終末期だけ」「がんだけ」のものではない</a:t>
            </a:r>
            <a:br/>
            <a:r>
              <a:rPr/>
              <a:t>   → つらさを和らげること、すべてが緩和ケア</a:t>
            </a:r>
            <a:br/>
            <a:br/>
            <a:r>
              <a:rPr/>
              <a:t>2. あなたの「いつもと違う」という気づきが出発点</a:t>
            </a:r>
            <a:br/>
            <a:r>
              <a:rPr/>
              <a:t>   → 専門知識がなくても大丈夫。感じたことを伝えよう</a:t>
            </a:r>
            <a:br/>
            <a:br/>
            <a:r>
              <a:rPr/>
              <a:t>3. 一人で抱えない。看護師に伝えることから始めよう</a:t>
            </a:r>
            <a:br/>
            <a:r>
              <a:rPr/>
              <a:t>   → あなたの一言がチームのケアを変える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スライド15: 小さな一歩から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A3A3A"/>
                </a:solidFill>
                <a:latin typeface="Calibri"/>
              </a:defRPr>
            </a:pPr>
            <a:r>
              <a:rPr/>
              <a:t>今日のワーク: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4864" cy="113324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58368" y="1188720"/>
            <a:ext cx="7662672" cy="1133246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777240" y="1261872"/>
            <a:ext cx="7406640" cy="986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明日から、利用者さんに一つだけ</a:t>
            </a:r>
            <a:br/>
            <a:r>
              <a:rPr/>
              <a:t>いつもの声かけに「＋ひと言」を加えてみてください。</a:t>
            </a:r>
            <a:br/>
            <a:r>
              <a:rPr/>
              <a:t>例: 「痛いところはありませんか？」</a:t>
            </a:r>
            <a:br/>
            <a:r>
              <a:rPr/>
              <a:t>例: 「何か気になることはありますか？」</a:t>
            </a:r>
            <a:br/>
            <a:r>
              <a:rPr/>
              <a:t>例: 「最近、眠れていますか？」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5912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📝 ワークシート（配布）に書いてください：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79166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「明日から試してみたい＋ひと言」を1つ</a:t>
            </a:r>
          </a:p>
          <a:p>
            <a:pPr>
              <a:defRPr sz="12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1週間後に「やってみてどうだったか」を共有する時間を設けます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1068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🎯 ガニェ第8・9事象: 学習の成果を評価する / 保持と転移を促進する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スライド16: おわりに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54864" cy="583387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658368" y="822960"/>
            <a:ext cx="7662672" cy="583387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96112"/>
            <a:ext cx="7406640" cy="437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Georgia"/>
              </a:defRPr>
            </a:pPr>
            <a:r>
              <a:rPr/>
              <a:t>目の前の人の「つらさ」に気づき、</a:t>
            </a:r>
            <a:br/>
            <a:r>
              <a:rPr/>
              <a:t>寄り添い、伝える。</a:t>
            </a:r>
            <a:br/>
            <a:r>
              <a:rPr/>
              <a:t>それは、皆さんが毎日していることの延長線上にあります。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43507"/>
            <a:ext cx="7772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F5EB"/>
                </a:solidFill>
                <a:latin typeface="Calibri"/>
              </a:defRPr>
            </a:pPr>
            <a:r>
              <a:rPr/>
              <a:t>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9267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質問・感想があればいつでもお声がけください。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本スライドの出典: 日本緩和医療学会全国調査 Palliative Care Research (J-STAGE), WHO緩和ケアの定義(2002改訂)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作成: Learning Design Lab / AI Agent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