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FF8F0"/>
                </a:solidFill>
                <a:latin typeface="Calibri"/>
              </a:defRPr>
            </a:pPr>
            <a:r>
              <a:t>最期の場所が「希望通り」であること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A84C"/>
                </a:solidFill>
                <a:latin typeface="Calibri"/>
              </a:defRPr>
            </a:pPr>
            <a:r>
              <a:t>— 患者さんとご家族にとっての意味 —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患者さんにとって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t>「自分で選んだ場所で最期を迎えられた」</a:t>
            </a:r>
            <a:br/>
            <a:r>
              <a:t>という安心感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8328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ご家族にとって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t>「約束を守れた」という心の支え。</a:t>
            </a:r>
            <a:br/>
            <a:r>
              <a:t>逆に不一致は後悔につながることも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5603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1728" y="2560320"/>
            <a:ext cx="40050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633472"/>
            <a:ext cx="3749039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あなたが関わった患者さん・利用者さんは、</a:t>
            </a:r>
            <a:br/>
            <a:r>
              <a:t>希望通りの場所で最期を迎えられましたか？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自分の職種の役割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場の移行（トランジション）で</a:t>
            </a:r>
            <a:br/>
            <a:r>
              <a:t>自分の職種が何をできるか説明できる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家族支援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ご家族への支援アプローチを</a:t>
            </a:r>
            <a:br/>
            <a:r>
              <a:t>3つ挙げられる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急変時の連携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急変が起きたとき、</a:t>
            </a:r>
            <a:br/>
            <a:r>
              <a:t>自分がとるべき行動を理解する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8C"/>
                </a:solidFill>
                <a:latin typeface="Calibri"/>
              </a:defRPr>
            </a:pPr>
            <a:r>
              <a:t>すべての職種に関係するテーマです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t>ACP（アドバンス・ケア・プランニング）とは？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「これからのことを、本人・ご家族・私たちで</a:t>
            </a:r>
            <a:br/>
            <a:r>
              <a:t> 一緒に話し合い続けること」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一度決めたら終わりではなく、状況が変わるたびに何度でも話し合う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「人生会議」という愛称でも知られている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紙に書くことより、対話のプロセスそのものが大切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患者さんの気持ちは変わることがある。だからこそ「繰り返し」が重要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研究が教えてくれたこと — 100人の患者さんがいたら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E8C"/>
                </a:solidFill>
                <a:latin typeface="Calibri"/>
              </a:defRPr>
            </a:pPr>
            <a:r>
              <a:t>緩和ケア病棟から自宅に退院した患者さん359人の遺族への調査（2018年）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931920" cy="16459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自宅で亡くなった方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9319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80人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100人中、希望通り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3931920" cy="164592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緩和ケア病棟で亡くなった方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37360"/>
            <a:ext cx="39319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82人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100人中、希望通り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3832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564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でも裏を返すと…100人のうち約20人は、希望と違う場所で亡くなっています。</a:t>
            </a:r>
            <a:br/>
            <a:r>
              <a:t>しかもこれは最も手厚い支援を受けた方たちの数字です。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なぜ「希望通り」にならないのか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痛みの管理が難しかった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在宅では24時間の対応が難しい場面がある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39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在宅で対応できる医師がいなかった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79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地域によって医師の数に大きな差がある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ご家族の介護負担が限界を超えた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「見ていられない」という心理的つらさも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逆のケースも: 在宅医療に対応してくれる医師・看護師が見つかり、</a:t>
            </a:r>
            <a:br/>
            <a:r>
              <a:t>「病棟の予定だったけど自宅で看取れた」というポジティブな変化もある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あなたの職種でできること（1）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看護師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退院前カンファレンスでの情報引き継ぎ</a:t>
            </a:r>
            <a:br/>
            <a:r>
              <a:t>症状変化の早期発見と医師への報告</a:t>
            </a:r>
            <a:br/>
            <a:r>
              <a:t>ご家族への症状管理の教育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SW / 医療相談員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在宅サービスの調整</a:t>
            </a:r>
            <a:br/>
            <a:r>
              <a:t>ご家族の経済的・社会的不安への対応</a:t>
            </a:r>
            <a:br/>
            <a:r>
              <a:t>バックアップベッドの事前確保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ケアマネジャー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介護サービスの迅速な調整</a:t>
            </a:r>
            <a:br/>
            <a:r>
              <a:t>ご家族のレスパイト支援の計画</a:t>
            </a:r>
            <a:br/>
            <a:r>
              <a:t>在宅チーム全体の連携の要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あなたの職種でできること（2）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t>薬剤師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レスキュー薬の事前配置と使い方の説明</a:t>
            </a:r>
            <a:br/>
            <a:r>
              <a:t>服薬管理のサポート</a:t>
            </a:r>
            <a:br/>
            <a:r>
              <a:t>医師との薬剤調整の橋渡し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59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t>介護職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日々のケアの中での「いつもと違う」の気づき</a:t>
            </a:r>
            <a:br/>
            <a:r>
              <a:t>1日8〜16時間一緒にいるからこそ見える変化</a:t>
            </a:r>
            <a:br/>
            <a:r>
              <a:t>あなたの「気づき」が医療チームへの大切な情報に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介護職への緩和ケア教育は全国で約10%の施設でしか行われていない。</a:t>
            </a:r>
            <a:br/>
            <a:r>
              <a:t>でも、最も長い時間を患者さんと過ごすのはあなたです。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ご家族への声かけ — 明日から使える3つのアプローチ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不安を受け止める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05156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「夜、ひとりで見ているのは不安ですよね。</a:t>
            </a:r>
            <a:br/>
            <a:r>
              <a:t>何かあったらいつでも連絡してください」</a:t>
            </a:r>
            <a:br/>
            <a:r>
              <a:t>「がんばりすぎていませんか？あなたの体も大切です」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急変時に備える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「もし急に痛みが強くなったら、まずこのお薬を使って</a:t>
            </a:r>
            <a:br/>
            <a:r>
              <a:t>ください。そのあと○○に電話してください」</a:t>
            </a:r>
            <a:br/>
            <a:r>
              <a:t>「夜間の連絡先はここに貼っておきますね」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9476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心の準備を支える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11879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「ご本人の希望を、改めて確認しておきましょうか」</a:t>
            </a:r>
            <a:br/>
            <a:r>
              <a:t>「今のお気持ちを聞かせていただけますか？</a:t>
            </a:r>
            <a:br/>
            <a:r>
              <a:t>何でも大丈夫ですよ」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t>グループワーク（5分）「自分の職種でできること」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緩和ケア病棟から自宅に戻った患者さんが、</a:t>
            </a:r>
            <a:br/>
            <a:r>
              <a:t>希望通りの場所で最期を迎えるために、</a:t>
            </a:r>
            <a:br/>
            <a:r>
              <a:t>あなたの職種でできることは何ですか？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退院前にできること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退院直後にできること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在宅療養中にできること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7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急変時にできること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8C"/>
                </a:solidFill>
                <a:latin typeface="Calibri"/>
              </a:defRPr>
            </a:pPr>
            <a:r>
              <a:t>正解はありません。「自分ならこうする」を考えてみてください。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今日から始める、あなたのアクション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明日からの1アクション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退院前カンファレンスで「急変時の連絡先」を必ず確認する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「いつもと違う」を感じたら、その日のうちに看護師に伝える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SW / 相談員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バックアップベッドの確保状況を退院前にチェックする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ケアマネ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家族のレスパイトニーズを月1回は確認する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レスキュー薬の配置と使い方を家族に説明する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840480"/>
            <a:ext cx="54864" cy="4572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81328" y="384048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391363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「自分には関係ない」→「自分にもできることがある」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