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76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FDF5EB"/>
                </a:solidFill>
                <a:latin typeface="Calibri"/>
              </a:defRPr>
            </a:pPr>
            <a:r>
              <a:t>認知バイアスと日常の判断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0">
                <a:solidFill>
                  <a:srgbClr val="E89B6D"/>
                </a:solidFill>
                <a:latin typeface="Calibri"/>
              </a:defRPr>
            </a:pPr>
            <a:r>
              <a:t>— なぜ優秀な人でも間違えるのか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920240"/>
            <a:ext cx="3657600" cy="54864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0">
                <a:solidFill>
                  <a:srgbClr val="8A9E94"/>
                </a:solidFill>
                <a:latin typeface="Calibri"/>
              </a:defRPr>
            </a:pPr>
            <a:r>
              <a:t>20分 | 全スタッフ向け | ガニェ事象1: 注意の獲得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43200"/>
            <a:ext cx="54864" cy="109728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4128" y="2743200"/>
            <a:ext cx="720547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16352"/>
            <a:ext cx="6949440" cy="95097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3A3A3A"/>
                </a:solidFill>
                <a:latin typeface="Georgia"/>
              </a:defRPr>
            </a:pPr>
            <a:r>
              <a:t>ベテランの医師が「完全に確信がある」と言った</a:t>
            </a:r>
            <a:br/>
            <a:r>
              <a:t>診断の40%が間違いだった</a:t>
            </a:r>
            <a:br/>
            <a:r>
              <a:t>——能力の問題ではなく、脳の仕組みの問題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DF5EB"/>
                </a:solidFill>
                <a:latin typeface="Calibri"/>
              </a:defRPr>
            </a:pPr>
            <a:r>
              <a:t>航空業界: パイロットの「ミス」を「ヒューマンファクター」と再定義 → 事故激減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3A3A3A"/>
                </a:solidFill>
                <a:latin typeface="Calibri"/>
              </a:defRPr>
            </a:pPr>
            <a:r>
              <a:t>学習目標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0" y="91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8A9E94"/>
                </a:solidFill>
                <a:latin typeface="Calibri"/>
              </a:defRPr>
            </a:pPr>
            <a:r>
              <a:t>[ガニェ事象2: 目標の提示]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914400" cy="91440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39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600" b="1">
                <a:solidFill>
                  <a:srgbClr val="4A766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143000"/>
            <a:ext cx="7132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3A3A3A"/>
                </a:solidFill>
                <a:latin typeface="Calibri"/>
              </a:defRPr>
            </a:pPr>
            <a:r>
              <a:t>説明できる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08760"/>
            <a:ext cx="71323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8A9E94"/>
                </a:solidFill>
                <a:latin typeface="Calibri"/>
              </a:defRPr>
            </a:pPr>
            <a:r>
              <a:t>認知バイアスが「個人のミス」ではなく</a:t>
            </a:r>
            <a:br/>
            <a:r>
              <a:t>「脳の仕組み」であることを説明できる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914400" cy="91440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600" b="1">
                <a:solidFill>
                  <a:srgbClr val="4A766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7132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3A3A3A"/>
                </a:solidFill>
                <a:latin typeface="Calibri"/>
              </a:defRPr>
            </a:pPr>
            <a:r>
              <a:t>実践できる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697480"/>
            <a:ext cx="71323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8A9E94"/>
                </a:solidFill>
                <a:latin typeface="Calibri"/>
              </a:defRPr>
            </a:pPr>
            <a:r>
              <a:t>日常業務で1つ、バイアスを防ぐ</a:t>
            </a:r>
            <a:br/>
            <a:r>
              <a:t>具体的な方法を実践できる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914400" cy="91440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79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600" b="1">
                <a:solidFill>
                  <a:srgbClr val="4A766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520439"/>
            <a:ext cx="7132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3A3A3A"/>
                </a:solidFill>
                <a:latin typeface="Calibri"/>
              </a:defRPr>
            </a:pPr>
            <a:r>
              <a:t>評価できる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886200"/>
            <a:ext cx="71323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8A9E94"/>
                </a:solidFill>
                <a:latin typeface="Calibri"/>
              </a:defRPr>
            </a:pPr>
            <a:r>
              <a:t>チームでの安全確認の仕組みが</a:t>
            </a:r>
            <a:br/>
            <a:r>
              <a:t>機能しているか振り返れる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76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DF5EB"/>
                </a:solidFill>
                <a:latin typeface="Calibri"/>
              </a:defRPr>
            </a:pPr>
            <a:r>
              <a:t>速い脳と遅い脳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91440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8A9E94"/>
                </a:solidFill>
                <a:latin typeface="Calibri"/>
              </a:defRPr>
            </a:pPr>
            <a:r>
              <a:t>[ガニェ事象3: 前提知識の想起]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solidFill>
            <a:srgbClr val="4A7666"/>
          </a:solidFill>
          <a:ln w="12700">
            <a:solidFill>
              <a:srgbClr val="E8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E89B6D"/>
                </a:solidFill>
                <a:latin typeface="Calibri"/>
              </a:defRPr>
            </a:pPr>
            <a:r>
              <a:t>速い脳（System 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384048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DF5EB"/>
                </a:solidFill>
                <a:latin typeface="Calibri"/>
              </a:defRPr>
            </a:pPr>
            <a:r>
              <a:t>一瞬で判断 / 省エネ</a:t>
            </a:r>
            <a:br/>
            <a:r>
              <a:t>「あ、この人怒ってる」と表情で察する</a:t>
            </a:r>
            <a:br/>
            <a:r>
              <a:t>「いつもと様子が違う」と感じる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097280"/>
            <a:ext cx="4114800" cy="1828800"/>
          </a:xfrm>
          <a:prstGeom prst="rect">
            <a:avLst/>
          </a:prstGeom>
          <a:solidFill>
            <a:srgbClr val="4A7666"/>
          </a:solidFill>
          <a:ln w="12700">
            <a:solidFill>
              <a:srgbClr val="E8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188720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E89B6D"/>
                </a:solidFill>
                <a:latin typeface="Calibri"/>
              </a:defRPr>
            </a:pPr>
            <a:r>
              <a:t>遅い脳（System 2）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691640"/>
            <a:ext cx="384048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DF5EB"/>
                </a:solidFill>
                <a:latin typeface="Calibri"/>
              </a:defRPr>
            </a:pPr>
            <a:r>
              <a:t>じっくり考える / エネルギー大量消費</a:t>
            </a:r>
            <a:br/>
            <a:r>
              <a:t>「78×34は…」と計算する</a:t>
            </a:r>
            <a:br/>
            <a:r>
              <a:t>薬の量をダブルチェックする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DF5EB"/>
                </a:solidFill>
                <a:latin typeface="Calibri"/>
              </a:defRPr>
            </a:pPr>
            <a:r>
              <a:t>速い脳は優秀 — 仕事の大半はこれで回っている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E89B6D"/>
                </a:solidFill>
                <a:latin typeface="Calibri"/>
              </a:defRPr>
            </a:pPr>
            <a:r>
              <a:t>でも時々間違える — それが「認知バイアス」。誰にでも起きる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3A3A3A"/>
                </a:solidFill>
                <a:latin typeface="Calibri"/>
              </a:defRPr>
            </a:pPr>
            <a:r>
              <a:t>日常業務で起きるバイアス4つ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91440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8A9E94"/>
                </a:solidFill>
                <a:latin typeface="Calibri"/>
              </a:defRPr>
            </a:pPr>
            <a:r>
              <a:t>[ガニェ事象4: 新しい内容を提示する]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286000" cy="77724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21945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4A7666"/>
                </a:solidFill>
                <a:latin typeface="Calibri"/>
              </a:defRPr>
            </a:pPr>
            <a:r>
              <a:t>確認バイアス</a:t>
            </a:r>
            <a:br/>
            <a:r>
              <a:t>「思い込みメガネ」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051560"/>
            <a:ext cx="59436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3A3A3A"/>
                </a:solidFill>
                <a:latin typeface="Calibri"/>
              </a:defRPr>
            </a:pPr>
            <a:r>
              <a:t>仕事: 「いつも大げさ」→ 本当の痛みを聞き逃す</a:t>
            </a:r>
            <a:br/>
            <a:r>
              <a:t>日常: 「あの店はまずい」→ 美味しい料理も気づかない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286000" cy="77724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21945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4A7666"/>
                </a:solidFill>
                <a:latin typeface="Calibri"/>
              </a:defRPr>
            </a:pPr>
            <a:r>
              <a:t>アンカリング</a:t>
            </a:r>
            <a:br/>
            <a:r>
              <a:t>「最初に引きずられる」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965960"/>
            <a:ext cx="59436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3A3A3A"/>
                </a:solidFill>
                <a:latin typeface="Calibri"/>
              </a:defRPr>
            </a:pPr>
            <a:r>
              <a:t>仕事: 申し送りで「発熱なし」→ 37.8℃でも軽視</a:t>
            </a:r>
            <a:br/>
            <a:r>
              <a:t>日常: セール「50%OFF」→ 元値が高くてもお得に感じる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2286000" cy="77724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60"/>
            <a:ext cx="21945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4A7666"/>
                </a:solidFill>
                <a:latin typeface="Calibri"/>
              </a:defRPr>
            </a:pPr>
            <a:r>
              <a:t>利用可能性</a:t>
            </a:r>
            <a:br/>
            <a:r>
              <a:t>「最近に引っぱられる」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880360"/>
            <a:ext cx="59436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3A3A3A"/>
                </a:solidFill>
                <a:latin typeface="Calibri"/>
              </a:defRPr>
            </a:pPr>
            <a:r>
              <a:t>仕事: 先週転倒事故 → 転倒ばかり気にして他を見落とす</a:t>
            </a:r>
            <a:br/>
            <a:r>
              <a:t>日常: 飛行機事故のニュース → 飛行機が怖くなる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2286000" cy="77724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794759"/>
            <a:ext cx="21945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1">
                <a:solidFill>
                  <a:srgbClr val="4A7666"/>
                </a:solidFill>
                <a:latin typeface="Calibri"/>
              </a:defRPr>
            </a:pPr>
            <a:r>
              <a:t>過信</a:t>
            </a:r>
            <a:br/>
            <a:r>
              <a:t>「わかったつもり」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794759"/>
            <a:ext cx="59436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3A3A3A"/>
                </a:solidFill>
                <a:latin typeface="Calibri"/>
              </a:defRPr>
            </a:pPr>
            <a:r>
              <a:t>仕事: 「何度も扱った薬」→ 確認省略でインシデント</a:t>
            </a:r>
            <a:br/>
            <a:r>
              <a:t>注意: 経験が増えるほど確認を省きやすくなる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76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FDF5EB"/>
                </a:solidFill>
                <a:latin typeface="Calibri"/>
              </a:defRPr>
            </a:pPr>
            <a:r>
              <a:t>4つのバイアスまとめ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91440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8A9E94"/>
                </a:solidFill>
                <a:latin typeface="Calibri"/>
              </a:defRPr>
            </a:pPr>
            <a:r>
              <a:t>[ガニェ事象5: 学習の指針を与える]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36576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DF5EB"/>
                          </a:solidFill>
                          <a:latin typeface="Calibri"/>
                        </a:defRPr>
                      </a:pPr>
                      <a:r>
                        <a:t>バイアス</a:t>
                      </a:r>
                    </a:p>
                  </a:txBody>
                  <a:tcPr marL="45720" marR="45720" marT="18288" marB="18288">
                    <a:solidFill>
                      <a:srgbClr val="4A7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DF5EB"/>
                          </a:solidFill>
                          <a:latin typeface="Calibri"/>
                        </a:defRPr>
                      </a:pPr>
                      <a:r>
                        <a:t>ひとことで言うと</a:t>
                      </a:r>
                    </a:p>
                  </a:txBody>
                  <a:tcPr marL="45720" marR="45720" marT="18288" marB="18288">
                    <a:solidFill>
                      <a:srgbClr val="4A7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DF5EB"/>
                          </a:solidFill>
                          <a:latin typeface="Calibri"/>
                        </a:defRPr>
                      </a:pPr>
                      <a:r>
                        <a:t>仕事で起きやすい場面</a:t>
                      </a:r>
                    </a:p>
                  </a:txBody>
                  <a:tcPr marL="45720" marR="45720" marT="18288" marB="18288">
                    <a:solidFill>
                      <a:srgbClr val="4A766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確認バイアス</a:t>
                      </a:r>
                    </a:p>
                  </a:txBody>
                  <a:tcPr marL="45720" marR="45720" marT="18288" marB="18288"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思い込みメガネ</a:t>
                      </a:r>
                    </a:p>
                  </a:txBody>
                  <a:tcPr marL="45720" marR="45720" marT="18288" marB="18288"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申し送りの先入観、「いつもの」患者さん</a:t>
                      </a:r>
                    </a:p>
                  </a:txBody>
                  <a:tcPr marL="45720" marR="45720" marT="18288" marB="18288">
                    <a:solidFill>
                      <a:srgbClr val="F0F7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アンカリング</a:t>
                      </a:r>
                    </a:p>
                  </a:txBody>
                  <a:tcPr marL="45720" marR="45720" marT="18288" marB="18288">
                    <a:solidFill>
                      <a:srgbClr val="FD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最初に引きずられる</a:t>
                      </a:r>
                    </a:p>
                  </a:txBody>
                  <a:tcPr marL="45720" marR="45720" marT="18288" marB="18288">
                    <a:solidFill>
                      <a:srgbClr val="FD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前の勤務帯からの情報、紹介状</a:t>
                      </a:r>
                    </a:p>
                  </a:txBody>
                  <a:tcPr marL="45720" marR="45720" marT="18288" marB="18288">
                    <a:solidFill>
                      <a:srgbClr val="FDF5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利用可能性</a:t>
                      </a:r>
                    </a:p>
                  </a:txBody>
                  <a:tcPr marL="45720" marR="45720" marT="18288" marB="18288"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最近に引っぱられる</a:t>
                      </a:r>
                    </a:p>
                  </a:txBody>
                  <a:tcPr marL="45720" marR="45720" marT="18288" marB="18288"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インシデント直後の過剰反応</a:t>
                      </a:r>
                    </a:p>
                  </a:txBody>
                  <a:tcPr marL="45720" marR="45720" marT="18288" marB="18288">
                    <a:solidFill>
                      <a:srgbClr val="F0F7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過信</a:t>
                      </a:r>
                    </a:p>
                  </a:txBody>
                  <a:tcPr marL="45720" marR="45720" marT="18288" marB="18288">
                    <a:solidFill>
                      <a:srgbClr val="FD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わかったつもり</a:t>
                      </a:r>
                    </a:p>
                  </a:txBody>
                  <a:tcPr marL="45720" marR="45720" marT="18288" marB="18288">
                    <a:solidFill>
                      <a:srgbClr val="FD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ルーティン業務の確認省略</a:t>
                      </a:r>
                    </a:p>
                  </a:txBody>
                  <a:tcPr marL="45720" marR="45720" marT="18288" marB="18288">
                    <a:solidFill>
                      <a:srgbClr val="FDF5E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FDF5EB"/>
                </a:solidFill>
                <a:latin typeface="Calibri"/>
              </a:defRPr>
            </a:pPr>
            <a:r>
              <a:t>共通点: どれも速い脳の「省エネモード」が原因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E89B6D"/>
                </a:solidFill>
                <a:latin typeface="Calibri"/>
              </a:defRPr>
            </a:pPr>
            <a:r>
              <a:t>対策の基本: 意識的に遅い脳のスイッチを入れるタイミングを作る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3A3A3A"/>
                </a:solidFill>
                <a:latin typeface="Calibri"/>
              </a:defRPr>
            </a:pPr>
            <a:r>
              <a:t>チームでバイアスを防ぐ — 5つの問い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91440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8A9E94"/>
                </a:solidFill>
                <a:latin typeface="Calibri"/>
              </a:defRPr>
            </a:pPr>
            <a:r>
              <a:t>[ガニェ事象5: 学習の指針を与える]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548640" cy="59436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486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4A766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91440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3A3A3A"/>
                </a:solidFill>
                <a:latin typeface="Calibri"/>
              </a:defRPr>
            </a:pPr>
            <a:r>
              <a:t>「他に何かない？」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91440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1">
                <a:solidFill>
                  <a:srgbClr val="E89B6D"/>
                </a:solidFill>
                <a:latin typeface="Calibri"/>
              </a:defRPr>
            </a:pPr>
            <a:r>
              <a:t>確認バイアス対策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234440"/>
            <a:ext cx="5669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8A9E94"/>
                </a:solidFill>
                <a:latin typeface="Calibri"/>
              </a:defRPr>
            </a:pPr>
            <a:r>
              <a:t>最初の判断以外の可能性を1つ考える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48640" cy="59436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5486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4A766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64592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3A3A3A"/>
                </a:solidFill>
                <a:latin typeface="Calibri"/>
              </a:defRPr>
            </a:pPr>
            <a:r>
              <a:t>「最初の印象に引きずられてない？」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64592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1">
                <a:solidFill>
                  <a:srgbClr val="E89B6D"/>
                </a:solidFill>
                <a:latin typeface="Calibri"/>
              </a:defRPr>
            </a:pPr>
            <a:r>
              <a:t>アンカリング対策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965960"/>
            <a:ext cx="5669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8A9E94"/>
                </a:solidFill>
                <a:latin typeface="Calibri"/>
              </a:defRPr>
            </a:pPr>
            <a:r>
              <a:t>前の情報をリセットして見直す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77440"/>
            <a:ext cx="548640" cy="59436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468880"/>
            <a:ext cx="5486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4A766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37744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3A3A3A"/>
                </a:solidFill>
                <a:latin typeface="Calibri"/>
              </a:defRPr>
            </a:pPr>
            <a:r>
              <a:t>「最近の経験に影響されてない？」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37744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1">
                <a:solidFill>
                  <a:srgbClr val="E89B6D"/>
                </a:solidFill>
                <a:latin typeface="Calibri"/>
              </a:defRPr>
            </a:pPr>
            <a:r>
              <a:t>利用可能性対策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697480"/>
            <a:ext cx="5669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8A9E94"/>
                </a:solidFill>
                <a:latin typeface="Calibri"/>
              </a:defRPr>
            </a:pPr>
            <a:r>
              <a:t>先週の出来事と今回は別物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08960"/>
            <a:ext cx="548640" cy="59436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00400"/>
            <a:ext cx="5486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4A766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1089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3A3A3A"/>
                </a:solidFill>
                <a:latin typeface="Calibri"/>
              </a:defRPr>
            </a:pPr>
            <a:r>
              <a:t>「どれくらい確信がある？根拠は？」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108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1">
                <a:solidFill>
                  <a:srgbClr val="E89B6D"/>
                </a:solidFill>
                <a:latin typeface="Calibri"/>
              </a:defRPr>
            </a:pPr>
            <a:r>
              <a:t>過信対策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429000"/>
            <a:ext cx="5669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8A9E94"/>
                </a:solidFill>
                <a:latin typeface="Calibri"/>
              </a:defRPr>
            </a:pPr>
            <a:r>
              <a:t>「なんとなく大丈夫」を言語化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840480"/>
            <a:ext cx="548640" cy="59436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931920"/>
            <a:ext cx="5486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4A766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84048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3A3A3A"/>
                </a:solidFill>
                <a:latin typeface="Calibri"/>
              </a:defRPr>
            </a:pPr>
            <a:r>
              <a:t>「もし間違っていたら？」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84048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1">
                <a:solidFill>
                  <a:srgbClr val="E89B6D"/>
                </a:solidFill>
                <a:latin typeface="Calibri"/>
              </a:defRPr>
            </a:pPr>
            <a:r>
              <a:t>総合チェック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160520"/>
            <a:ext cx="5669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8A9E94"/>
                </a:solidFill>
                <a:latin typeface="Calibri"/>
              </a:defRPr>
            </a:pPr>
            <a:r>
              <a:t>最悪のケースを先に想像する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76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FDF5EB"/>
                </a:solidFill>
                <a:latin typeface="Calibri"/>
              </a:defRPr>
            </a:pPr>
            <a:r>
              <a:t>ダブルチェックの本当の意味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91440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8A9E94"/>
                </a:solidFill>
                <a:latin typeface="Calibri"/>
              </a:defRPr>
            </a:pPr>
            <a:r>
              <a:t>[ガニェ事象5: 学習の指針を与える]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54864" cy="73152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005840"/>
            <a:ext cx="73883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078992"/>
            <a:ext cx="7132319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3A3A3A"/>
                </a:solidFill>
                <a:latin typeface="Georgia"/>
              </a:defRPr>
            </a:pPr>
            <a:r>
              <a:t>ダブルチェックは「2回確認すること」ではありません。</a:t>
            </a:r>
            <a:br/>
            <a:r>
              <a:t>「別の視点で確認すること」です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3931920" cy="1371600"/>
          </a:xfrm>
          <a:prstGeom prst="rect">
            <a:avLst/>
          </a:prstGeom>
          <a:solidFill>
            <a:srgbClr val="4A7666"/>
          </a:solidFill>
          <a:ln w="12700">
            <a:solidFill>
              <a:srgbClr val="E8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E89B6D"/>
                </a:solidFill>
                <a:latin typeface="Calibri"/>
              </a:defRPr>
            </a:pPr>
            <a:r>
              <a:t>形骸化しやすいパターン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36576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DF5EB"/>
                </a:solidFill>
                <a:latin typeface="Calibri"/>
              </a:defRPr>
            </a:pPr>
            <a:r>
              <a:t>  同じ人が2回見る → 同じバイアスが2回</a:t>
            </a:r>
            <a:br/>
            <a:r>
              <a:t>  サインするだけ → チェックリスト疲れ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2011680"/>
            <a:ext cx="4114800" cy="1371600"/>
          </a:xfrm>
          <a:prstGeom prst="rect">
            <a:avLst/>
          </a:prstGeom>
          <a:solidFill>
            <a:srgbClr val="4A7666"/>
          </a:solidFill>
          <a:ln w="12700">
            <a:solidFill>
              <a:srgbClr val="E8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10312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E89B6D"/>
                </a:solidFill>
                <a:latin typeface="Calibri"/>
              </a:defRPr>
            </a:pPr>
            <a:r>
              <a:t>効果的なダブルチェック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468880"/>
            <a:ext cx="365760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DF5EB"/>
                </a:solidFill>
                <a:latin typeface="Calibri"/>
              </a:defRPr>
            </a:pPr>
            <a:r>
              <a:t>  別の人が独立して確認</a:t>
            </a:r>
            <a:br/>
            <a:r>
              <a:t>  「何を確認するか」を明確に</a:t>
            </a:r>
            <a:br/>
            <a:r>
              <a:t>  「おかしい」と思ったら声を出す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49039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DF5EB"/>
                </a:solidFill>
                <a:latin typeface="Calibri"/>
              </a:defRPr>
            </a:pPr>
            <a:r>
              <a:t>Devil's Advocate: 誰かが「本当にそれで合ってる？」と問う — 批判ではなく安全の仕組み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3A3A3A"/>
                </a:solidFill>
                <a:latin typeface="Calibri"/>
              </a:defRPr>
            </a:pPr>
            <a:r>
              <a:t>「自分もバイアスを持つ」= 強さ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91440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8A9E94"/>
                </a:solidFill>
                <a:latin typeface="Calibri"/>
              </a:defRPr>
            </a:pPr>
            <a:r>
              <a:t>[ガニェ事象5: 学習の指針を与える]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931920" cy="13716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8A9E94"/>
                </a:solidFill>
                <a:latin typeface="Calibri"/>
              </a:defRPr>
            </a:pPr>
            <a:r>
              <a:t>従来の考え方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6576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3A3A3A"/>
                </a:solidFill>
                <a:latin typeface="Calibri"/>
              </a:defRPr>
            </a:pPr>
            <a:r>
              <a:t>「あなたはバイアスに陥っていた」</a:t>
            </a:r>
            <a:br/>
            <a:r>
              <a:t>→ 個人の失敗、恥ずかしいこと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05840"/>
            <a:ext cx="4114800" cy="13716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0515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E89B6D"/>
                </a:solidFill>
                <a:latin typeface="Calibri"/>
              </a:defRPr>
            </a:pPr>
            <a:r>
              <a:t>システムエラーの考え方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371600"/>
            <a:ext cx="36576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3A3A3A"/>
                </a:solidFill>
                <a:latin typeface="Calibri"/>
              </a:defRPr>
            </a:pPr>
            <a:r>
              <a:t>「脳の仕組みとして全員に起きる」</a:t>
            </a:r>
            <a:br/>
            <a:r>
              <a:t>→ 対策可能な特性として理解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3A3A3A"/>
                </a:solidFill>
                <a:latin typeface="Calibri"/>
              </a:defRPr>
            </a:pPr>
            <a:r>
              <a:t>メタ認知 = 自分の考え方について考える力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786384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3A3A3A"/>
                </a:solidFill>
                <a:latin typeface="Calibri"/>
              </a:defRPr>
            </a:pPr>
            <a:r>
              <a:t>バイアスを認められる人 = メタ認知能力が高い人</a:t>
            </a:r>
            <a:br/>
            <a:r>
              <a:t>「私、思い込みで判断してたかも」と言えるチーム = 心理的安全性の高いチーム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76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800" b="1">
                <a:solidFill>
                  <a:srgbClr val="FDF5EB"/>
                </a:solidFill>
                <a:latin typeface="Calibri"/>
              </a:defRPr>
            </a:pPr>
            <a:r>
              <a:t>グループワーク — うちのチームでできること（5分）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91440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8A9E94"/>
                </a:solidFill>
                <a:latin typeface="Calibri"/>
              </a:defRPr>
            </a:pPr>
            <a:r>
              <a:t>[ガニェ事象6/7: 練習＋フィードバック]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4864" cy="109728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097280"/>
            <a:ext cx="75712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170432"/>
            <a:ext cx="7315200" cy="95097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3A3A3A"/>
                </a:solidFill>
                <a:latin typeface="Georgia"/>
              </a:defRPr>
            </a:pPr>
            <a:r>
              <a:t>「あなたの職場で、認知バイアスが原因で</a:t>
            </a:r>
            <a:br/>
            <a:r>
              <a:t>“ヒヤリ”とした経験はありますか？</a:t>
            </a:r>
            <a:br/>
            <a:r>
              <a:t>そのとき、どんな“仕組み”があれば防げましたか？」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76809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DF5EB"/>
                </a:solidFill>
                <a:latin typeface="Calibri"/>
              </a:defRPr>
            </a:pPr>
            <a:r>
              <a:t>ステップ1（2分）: バイアスが入り込みやすい場面を特定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7498079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8A9E94"/>
                </a:solidFill>
                <a:latin typeface="Calibri"/>
              </a:defRPr>
            </a:pPr>
            <a:r>
              <a:t>  例: 申し送り、トリアージ、投薬確認、電話対応...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76809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DF5EB"/>
                </a:solidFill>
                <a:latin typeface="Calibri"/>
              </a:defRPr>
            </a:pPr>
            <a:r>
              <a:t>ステップ2（2分）: 明日からできるバイアス対策を1つ考える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DF5EB"/>
                </a:solidFill>
                <a:latin typeface="Calibri"/>
              </a:defRPr>
            </a:pPr>
            <a:r>
              <a:t>ステップ3（1分）: グループのアイデアを1つ発表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E89B6D"/>
                </a:solidFill>
                <a:latin typeface="Calibri"/>
              </a:defRPr>
            </a:pPr>
            <a:r>
              <a:t>「誰が悪い」ではなく「どんな仕組みが必要か」に焦点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3A3A3A"/>
                </a:solidFill>
                <a:latin typeface="Calibri"/>
              </a:defRPr>
            </a:pPr>
            <a:r>
              <a:t>明日からのアクション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91440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8A9E94"/>
                </a:solidFill>
                <a:latin typeface="Calibri"/>
              </a:defRPr>
            </a:pPr>
            <a:r>
              <a:t>[ガニェ事象8/9: 評価＋保持と転移]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144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008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DF5EB"/>
                          </a:solidFill>
                          <a:latin typeface="Calibri"/>
                        </a:defRPr>
                      </a:pPr>
                      <a:r>
                        <a:t>職種</a:t>
                      </a:r>
                    </a:p>
                  </a:txBody>
                  <a:tcPr marL="45720" marR="45720" marT="18288" marB="18288">
                    <a:solidFill>
                      <a:srgbClr val="4A7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DF5EB"/>
                          </a:solidFill>
                          <a:latin typeface="Calibri"/>
                        </a:defRPr>
                      </a:pPr>
                      <a:r>
                        <a:t>明日からできること</a:t>
                      </a:r>
                    </a:p>
                  </a:txBody>
                  <a:tcPr marL="45720" marR="45720" marT="18288" marB="18288">
                    <a:solidFill>
                      <a:srgbClr val="4A76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看護師</a:t>
                      </a:r>
                    </a:p>
                  </a:txBody>
                  <a:tcPr marL="45720" marR="45720" marT="18288" marB="18288"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申し送りの最後に「他に気になることは？」を追加</a:t>
                      </a:r>
                    </a:p>
                  </a:txBody>
                  <a:tcPr marL="45720" marR="45720" marT="18288" marB="18288">
                    <a:solidFill>
                      <a:srgbClr val="F0F7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薬剤師</a:t>
                      </a:r>
                    </a:p>
                  </a:txBody>
                  <a:tcPr marL="45720" marR="45720" marT="18288" marB="18288">
                    <a:solidFill>
                      <a:srgbClr val="FD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「いつもの薬」でもラベルを読む3秒ルール</a:t>
                      </a:r>
                    </a:p>
                  </a:txBody>
                  <a:tcPr marL="45720" marR="45720" marT="18288" marB="18288">
                    <a:solidFill>
                      <a:srgbClr val="FDF5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リハビリ</a:t>
                      </a:r>
                    </a:p>
                  </a:txBody>
                  <a:tcPr marL="45720" marR="45720" marT="18288" marB="18288"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「前回と同じメニュー」を選ぶ前に状態を再評価</a:t>
                      </a:r>
                    </a:p>
                  </a:txBody>
                  <a:tcPr marL="45720" marR="45720" marT="18288" marB="18288">
                    <a:solidFill>
                      <a:srgbClr val="F0F7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事務</a:t>
                      </a:r>
                    </a:p>
                  </a:txBody>
                  <a:tcPr marL="45720" marR="45720" marT="18288" marB="18288">
                    <a:solidFill>
                      <a:srgbClr val="FD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「いつもの手続き」でも変更点がないか確認</a:t>
                      </a:r>
                    </a:p>
                  </a:txBody>
                  <a:tcPr marL="45720" marR="45720" marT="18288" marB="18288">
                    <a:solidFill>
                      <a:srgbClr val="FDF5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介護職</a:t>
                      </a:r>
                    </a:p>
                  </a:txBody>
                  <a:tcPr marL="45720" marR="45720" marT="18288" marB="18288"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「いつもと違う」を感じたら、まず声に出す</a:t>
                      </a:r>
                    </a:p>
                  </a:txBody>
                  <a:tcPr marL="45720" marR="45720" marT="18288" marB="18288">
                    <a:solidFill>
                      <a:srgbClr val="F0F7F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371600" y="3291840"/>
            <a:ext cx="54864" cy="73152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81328" y="3291840"/>
            <a:ext cx="62910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3364992"/>
            <a:ext cx="60350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3A3A3A"/>
                </a:solidFill>
                <a:latin typeface="Georgia"/>
              </a:defRPr>
            </a:pPr>
            <a:r>
              <a:t>バイアスは脳の仕組み。</a:t>
            </a:r>
            <a:br/>
            <a:r>
              <a:t>「気をつける」だけでは防げない。仕組みで防ぐ。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0">
                <a:solidFill>
                  <a:srgbClr val="8A9E94"/>
                </a:solidFill>
                <a:latin typeface="Calibri"/>
              </a:defRPr>
            </a:pPr>
            <a:r>
              <a:t>参考: Kahneman (2011) ファスト＆スロー / Saposnik et al. (2016) BMC Medical Informatics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