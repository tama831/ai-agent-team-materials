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943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rPr/>
              <a:t>新・家庭医療専門医制度の改訂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32688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7A8A9A"/>
                </a:solidFill>
                <a:latin typeface="Calibri"/>
              </a:defRPr>
            </a:pPr>
            <a:r>
              <a:rPr/>
              <a:t>ポートフォリオ2割削減とかかりつけ医機能報告制度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029200" y="146304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800" b="1">
                <a:solidFill>
                  <a:srgbClr val="0D2B3E"/>
                </a:solidFill>
                <a:latin typeface="Calibri"/>
              </a:defRPr>
            </a:pPr>
            <a:r>
              <a:rPr/>
              <a:t>20 →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37744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0D2B3E"/>
                </a:solidFill>
                <a:latin typeface="Calibri"/>
              </a:defRPr>
            </a:pPr>
            <a:r>
              <a:rPr/>
              <a:t>ポートフォリオ領域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651760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0D2B3E"/>
                </a:solidFill>
                <a:latin typeface="Calibri"/>
              </a:defRPr>
            </a:pPr>
            <a:r>
              <a:rPr/>
              <a:t>2割削減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4592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749808" y="1645920"/>
            <a:ext cx="40050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68680" y="1719072"/>
            <a:ext cx="3749039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rPr/>
              <a:t>これは「楽になった」のか？</a:t>
            </a:r>
            <a:br/>
            <a:r>
              <a:rPr/>
              <a:t>それとも「質がもっと問われる」のか？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43200"/>
            <a:ext cx="45720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rPr/>
              <a:t>今日の学習目標（15分）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50292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説明できる — 制度変更の具体的内容と背景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比較できる — 旧制度と新制度の差分を分析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立案できる — ポートフォリオ戦略を描ける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7A8A9A"/>
                </a:solidFill>
                <a:latin typeface="Calibri"/>
              </a:defRPr>
            </a:pPr>
            <a:r>
              <a:rPr/>
              <a:t>JPCA 2024年6月発表 | 2025年3月修了者より適用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Quick Poll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82296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234439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rPr/>
              <a:t>✋  新・家庭医療専門医制度のポートフォリオを書いたことがある人？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7680960" cy="82296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rPr/>
              <a:t>✋  「かかりつけ医機能報告制度」という言葉を聞いたことがある人？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291839"/>
            <a:ext cx="7680960" cy="82296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914400" y="3428999"/>
            <a:ext cx="73152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rPr/>
              <a:t>✋  第17回JPCA学術大会（2026年5月・京都）に参加予定の人？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38912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841248" y="4389120"/>
            <a:ext cx="757123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60120" y="4462272"/>
            <a:ext cx="731520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rPr/>
              <a:t>専門医制度と医療政策が同時に動いています。</a:t>
            </a:r>
            <a:br/>
            <a:r>
              <a:rPr/>
              <a:t>「制度を知る」ことは、キャリア戦略そのものです。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54864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rPr/>
              <a:t>何が変わった？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3840480" cy="1828800"/>
          </a:xfrm>
          <a:prstGeom prst="rect">
            <a:avLst/>
          </a:prstGeom>
          <a:solidFill>
            <a:srgbClr val="0D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3840480" cy="3017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7A8A9A"/>
                </a:solidFill>
                <a:latin typeface="Calibri"/>
              </a:defRPr>
            </a:pPr>
            <a:r>
              <a:rPr/>
              <a:t>旧制度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38404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000" b="1">
                <a:solidFill>
                  <a:srgbClr val="7A8A9A"/>
                </a:solidFill>
                <a:latin typeface="Calibri"/>
              </a:defRPr>
            </a:pPr>
            <a:r>
              <a:rPr/>
              <a:t>20領域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0">
                <a:solidFill>
                  <a:srgbClr val="7A8A9A"/>
                </a:solidFill>
                <a:latin typeface="Calibri"/>
              </a:defRPr>
            </a:pPr>
            <a:r>
              <a:rPr/>
              <a:t>学会発表 3件以上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4572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600" b="1">
                <a:solidFill>
                  <a:srgbClr val="E89B3B"/>
                </a:solidFill>
                <a:latin typeface="Calibri"/>
              </a:defRPr>
            </a:pPr>
            <a:r>
              <a:rPr/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914400"/>
            <a:ext cx="3840480" cy="18288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029200" y="960120"/>
            <a:ext cx="3840480" cy="3017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0D2B3E"/>
                </a:solidFill>
                <a:latin typeface="Calibri"/>
              </a:defRPr>
            </a:pPr>
            <a:r>
              <a:rPr/>
              <a:t>新制度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280160"/>
            <a:ext cx="38404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000" b="1">
                <a:solidFill>
                  <a:srgbClr val="0D2B3E"/>
                </a:solidFill>
                <a:latin typeface="Calibri"/>
              </a:defRPr>
            </a:pPr>
            <a:r>
              <a:rPr/>
              <a:t>16領域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384048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0">
                <a:solidFill>
                  <a:srgbClr val="0D2B3E"/>
                </a:solidFill>
                <a:latin typeface="Calibri"/>
              </a:defRPr>
            </a:pPr>
            <a:r>
              <a:rPr/>
              <a:t>学会発表 2件以上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566928" y="301752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85800" y="309067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rPr/>
              <a:t>領域が「消えた」のではなく、既存領域に統合された。</a:t>
            </a:r>
            <a:br/>
            <a:r>
              <a:rPr/>
              <a:t>→ 1つのポートフォリオに求められる多面性と深さがむしろ増している。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rPr/>
              <a:t>統合された旧領域: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41148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複雑困難事例 → 多疾患併存(4)等</a:t>
            </a:r>
          </a:p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プロフェッショナリズム → 医療者自身のケア(16)</a:t>
            </a:r>
          </a:p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セクシャルヘルス・思春期 → 各関連領域</a:t>
            </a:r>
          </a:p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緩和ケア・最終段階 → 長期的関係(5)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931920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rPr/>
              <a:t>コア16領域は変更なし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206240"/>
            <a:ext cx="384048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9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1. 未分化な健康問題</a:t>
            </a:r>
          </a:p>
          <a:p>
            <a:pPr>
              <a:defRPr sz="9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2. 予防医学・健康増進</a:t>
            </a:r>
          </a:p>
          <a:p>
            <a:pPr>
              <a:defRPr sz="9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3. 慢性疾患  4. 多疾患併存</a:t>
            </a:r>
          </a:p>
          <a:p>
            <a:pPr>
              <a:defRPr sz="9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5. 長期的全人的関係  6. 患者中心</a:t>
            </a:r>
          </a:p>
          <a:p>
            <a:pPr>
              <a:defRPr sz="9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7. 家族志向  8. 地域志向PC</a:t>
            </a:r>
          </a:p>
          <a:p>
            <a:pPr>
              <a:defRPr sz="9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…16. 医療者自身のケア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かかりつけ医機能報告制度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rPr/>
              <a:t>2025年4月施行 | 初回報告: 2026年1-3月（G-MIS）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931920" cy="137160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3657600" cy="3017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rPr/>
              <a:t>報告制度で求められる能力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17診療領域・40疾患対応力</a:t>
            </a:r>
          </a:p>
          <a:p>
            <a:pPr>
              <a:defRPr sz="11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在宅医療・訪問診療の提供体制</a:t>
            </a:r>
          </a:p>
          <a:p>
            <a:pPr>
              <a:defRPr sz="11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総合診療専門医の配置（報告項目）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54480"/>
            <a:ext cx="457200" cy="66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E89B3B"/>
                </a:solidFill>
                <a:latin typeface="Calibri"/>
              </a:defRPr>
            </a:pPr>
            <a:r>
              <a:rPr/>
              <a:t>≒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1188720"/>
            <a:ext cx="3840480" cy="137160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212080" y="1234440"/>
            <a:ext cx="3657600" cy="3017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rPr/>
              <a:t>家庭医療専門医の研修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54480"/>
            <a:ext cx="347472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16ポートフォリオ領域</a:t>
            </a:r>
          </a:p>
          <a:p>
            <a:pPr>
              <a:defRPr sz="11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包括的なプライマリ・ケア能力</a:t>
            </a:r>
          </a:p>
          <a:p>
            <a:pPr>
              <a:defRPr sz="11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地域志向のアプローチ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56692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8580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rPr/>
              <a:t>あなたの存在が、医療機関の「かかりつけ医機能」を高める。</a:t>
            </a:r>
            <a:br/>
            <a:r>
              <a:rPr/>
              <a:t>家庭医療専門医の研修で培う能力 ≒ 報告制度で求められる能力。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rPr/>
              <a:t>ペアディスカッション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rPr/>
              <a:t>3分ペアワーク + 1分シェア | 問いを1つ選んでください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7680960" cy="100584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20116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rPr/>
              <a:t>問い A</a:t>
            </a:r>
            <a:br/>
            <a:r>
              <a:rPr/>
              <a:t>専攻医向け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280160"/>
            <a:ext cx="5212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16領域になった今、残りの研修期間で</a:t>
            </a:r>
            <a:br/>
            <a:r>
              <a:rPr/>
              <a:t>どの領域を「質の高い事例」として書きたいか？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7680960" cy="100584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0116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rPr/>
              <a:t>問い B</a:t>
            </a:r>
            <a:br/>
            <a:r>
              <a:rPr/>
              <a:t>研修医向け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468880"/>
            <a:ext cx="5212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かかりつけ医機能報告制度で求められる能力のうち</a:t>
            </a:r>
            <a:br/>
            <a:r>
              <a:rPr/>
              <a:t>今の研修で意識的に伸ばせるものは何か？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66160"/>
            <a:ext cx="7680960" cy="100584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20116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rPr/>
              <a:t>問い C</a:t>
            </a:r>
            <a:br/>
            <a:r>
              <a:rPr/>
              <a:t>指導医向け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657600"/>
            <a:ext cx="521208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ポートフォリオ領域が統合された今、</a:t>
            </a:r>
            <a:br/>
            <a:r>
              <a:rPr/>
              <a:t>指導でどんな点を強調するか？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54864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振り返りと持ち帰り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22960"/>
            <a:ext cx="4572000" cy="6400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77240" y="841248"/>
            <a:ext cx="43891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D2B3E"/>
                </a:solidFill>
                <a:latin typeface="Calibri"/>
              </a:defRPr>
            </a:pPr>
            <a:r>
              <a:rPr/>
              <a:t>1. 量から質へ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79576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0D2B3E"/>
                </a:solidFill>
                <a:latin typeface="Calibri"/>
              </a:defRPr>
            </a:pPr>
            <a:r>
              <a:rPr/>
              <a:t>20→16領域の削減は、1事例あたりの深さ・多面性を重視する方向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4572000" cy="6400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1664208"/>
            <a:ext cx="43891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D2B3E"/>
                </a:solidFill>
                <a:latin typeface="Calibri"/>
              </a:defRPr>
            </a:pPr>
            <a:r>
              <a:rPr/>
              <a:t>2. 制度と教育の融合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02536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0D2B3E"/>
                </a:solidFill>
                <a:latin typeface="Calibri"/>
              </a:defRPr>
            </a:pPr>
            <a:r>
              <a:rPr/>
              <a:t>かかりつけ医機能報告制度と専門医研修は同じ方向を向いている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68880"/>
            <a:ext cx="4572000" cy="6400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77240" y="2487168"/>
            <a:ext cx="43891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D2B3E"/>
                </a:solidFill>
                <a:latin typeface="Calibri"/>
              </a:defRPr>
            </a:pPr>
            <a:r>
              <a:rPr/>
              <a:t>3. あなたの価値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496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0D2B3E"/>
                </a:solidFill>
                <a:latin typeface="Calibri"/>
              </a:defRPr>
            </a:pPr>
            <a:r>
              <a:rPr/>
              <a:t>総合診療/家庭医療専門医は、これからの医療制度で求められる存在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822960"/>
            <a:ext cx="338328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次のアクション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1188720"/>
            <a:ext cx="3383280" cy="59436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623560" y="1207008"/>
            <a:ext cx="9144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rPr/>
              <a:t>今週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207008"/>
            <a:ext cx="219456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JPCA公式サイトで新16領域の詳細を確認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1920240"/>
            <a:ext cx="3383280" cy="59436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623560" y="1938528"/>
            <a:ext cx="9144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rPr/>
              <a:t>来月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938528"/>
            <a:ext cx="219456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第17回JPCA学術大会（5/29-31 京都）の演題募集チェック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2651760"/>
            <a:ext cx="3383280" cy="59436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5623560" y="2670048"/>
            <a:ext cx="9144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rPr/>
              <a:t>今月中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670048"/>
            <a:ext cx="219456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rPr/>
              <a:t>指導医とポートフォリオ進捗を振り返る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47472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4" name="Rectangle 23"/>
          <p:cNvSpPr/>
          <p:nvPr/>
        </p:nvSpPr>
        <p:spPr>
          <a:xfrm>
            <a:off x="566928" y="347472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85800" y="354787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rPr/>
              <a:t>自分のポートフォリオで一番自信のある領域と、</a:t>
            </a:r>
            <a:br/>
            <a:r>
              <a:rPr/>
              <a:t>一番苦手な領域は何か？苦手な領域をどの臨床場面で経験できるか？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Scribe Agent | 2026-03-27 | ガニェの9教授事象 | 15分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