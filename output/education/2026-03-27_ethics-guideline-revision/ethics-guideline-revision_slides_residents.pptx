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B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0">
                <a:solidFill>
                  <a:srgbClr val="7A8A9A"/>
                </a:solidFill>
                <a:latin typeface="Calibri"/>
              </a:defRPr>
            </a:pPr>
            <a:r>
              <a:rPr/>
              <a:t>研究倫理指針が変わります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8229600" cy="13716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3200" b="1">
                <a:solidFill>
                  <a:srgbClr val="E89B3B"/>
                </a:solidFill>
                <a:latin typeface="Calibri"/>
              </a:defRPr>
            </a:pPr>
            <a:r>
              <a:rPr/>
              <a:t>あなたの研究計画書</a:t>
            </a:r>
            <a:br/>
            <a:r>
              <a:rPr/>
              <a:t>そのまま通りますか？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0" y="2560320"/>
            <a:ext cx="3657600" cy="54864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1371600" y="2926080"/>
            <a:ext cx="6400800" cy="13716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defRPr sz="1300">
                <a:solidFill>
                  <a:srgbClr val="F5F0E8"/>
                </a:solidFill>
                <a:latin typeface="Calibri"/>
              </a:defRPr>
              <a:buChar char="●"/>
            </a:pPr>
            <a:r>
              <a:rPr/>
              <a:t>文科省・厚労省・経産省の3省合同改正</a:t>
            </a:r>
          </a:p>
          <a:p>
            <a:pPr>
              <a:defRPr sz="1300">
                <a:solidFill>
                  <a:srgbClr val="F5F0E8"/>
                </a:solidFill>
                <a:latin typeface="Calibri"/>
              </a:defRPr>
              <a:buChar char="●"/>
            </a:pPr>
            <a:r>
              <a:rPr/>
              <a:t>パブコメ: 2025年12月〜2026年1月（終了済み）</a:t>
            </a:r>
          </a:p>
          <a:p>
            <a:pPr>
              <a:defRPr sz="1300">
                <a:solidFill>
                  <a:srgbClr val="F5F0E8"/>
                </a:solidFill>
                <a:latin typeface="Calibri"/>
              </a:defRPr>
              <a:buChar char="●"/>
            </a:pPr>
            <a:r>
              <a:rPr/>
              <a:t>2026年度中に施行予定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4389120"/>
            <a:ext cx="54864" cy="548640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Rectangle 6"/>
          <p:cNvSpPr/>
          <p:nvPr/>
        </p:nvSpPr>
        <p:spPr>
          <a:xfrm>
            <a:off x="566928" y="4389120"/>
            <a:ext cx="8119872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4E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685800" y="4462272"/>
            <a:ext cx="7863840" cy="402335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Georgia"/>
              </a:defRPr>
            </a:pPr>
            <a:r>
              <a:rPr/>
              <a:t>指針が「複雑かつ難解」で研究を停滞させていた → シンプルに再設計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8463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400" b="1">
                <a:solidFill>
                  <a:srgbClr val="1A1A2E"/>
                </a:solidFill>
                <a:latin typeface="Calibri"/>
              </a:defRPr>
            </a:pPr>
            <a:r>
              <a:rPr/>
              <a:t>今日の学習目標（15分）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828800" cy="54864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76809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4E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82880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000" b="1">
                <a:solidFill>
                  <a:srgbClr val="E89B3B"/>
                </a:solidFill>
                <a:latin typeface="Calibri"/>
              </a:defRPr>
            </a:pPr>
            <a:r>
              <a:rPr/>
              <a:t>説明できる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0" y="1508760"/>
            <a:ext cx="548640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0">
                <a:solidFill>
                  <a:srgbClr val="1A1A2E"/>
                </a:solidFill>
                <a:latin typeface="Calibri"/>
              </a:defRPr>
            </a:pPr>
            <a:r>
              <a:rPr/>
              <a:t>改正の3つの柱を述べられる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377440"/>
            <a:ext cx="76809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4E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14400" y="2468880"/>
            <a:ext cx="182880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000" b="1">
                <a:solidFill>
                  <a:srgbClr val="E89B3B"/>
                </a:solidFill>
                <a:latin typeface="Calibri"/>
              </a:defRPr>
            </a:pPr>
            <a:r>
              <a:rPr/>
              <a:t>分析できる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0" y="2514600"/>
            <a:ext cx="548640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0">
                <a:solidFill>
                  <a:srgbClr val="1A1A2E"/>
                </a:solidFill>
                <a:latin typeface="Calibri"/>
              </a:defRPr>
            </a:pPr>
            <a:r>
              <a:rPr/>
              <a:t>自分の研究に影響する変更点を特定できる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383280"/>
            <a:ext cx="76809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4E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914400" y="3474720"/>
            <a:ext cx="182880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000" b="1">
                <a:solidFill>
                  <a:srgbClr val="E89B3B"/>
                </a:solidFill>
                <a:latin typeface="Calibri"/>
              </a:defRPr>
            </a:pPr>
            <a:r>
              <a:rPr/>
              <a:t>書ける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0" y="3520440"/>
            <a:ext cx="548640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0">
                <a:solidFill>
                  <a:srgbClr val="1A1A2E"/>
                </a:solidFill>
                <a:latin typeface="Calibri"/>
              </a:defRPr>
            </a:pPr>
            <a:r>
              <a:rPr/>
              <a:t>新指針に準拠した研究計画書の骨子を書き始められる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B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8463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400" b="1">
                <a:solidFill>
                  <a:srgbClr val="F5F0E8"/>
                </a:solidFill>
                <a:latin typeface="Calibri"/>
              </a:defRPr>
            </a:pPr>
            <a:r>
              <a:rPr/>
              <a:t>Quick Poll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828800" cy="54864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7680960" cy="640080"/>
          </a:xfrm>
          <a:prstGeom prst="rect">
            <a:avLst/>
          </a:prstGeom>
          <a:solidFill>
            <a:srgbClr val="0D2B3E"/>
          </a:solidFill>
          <a:ln w="12700">
            <a:solidFill>
              <a:srgbClr val="4E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914400" y="1371600"/>
            <a:ext cx="73152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600" b="0">
                <a:solidFill>
                  <a:srgbClr val="F5F0E8"/>
                </a:solidFill>
                <a:latin typeface="Calibri"/>
              </a:defRPr>
            </a:pPr>
            <a:r>
              <a:rPr/>
              <a:t>✋  倫理指針を読んだことがある人？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03120"/>
            <a:ext cx="7680960" cy="640080"/>
          </a:xfrm>
          <a:prstGeom prst="rect">
            <a:avLst/>
          </a:prstGeom>
          <a:solidFill>
            <a:srgbClr val="0D2B3E"/>
          </a:solidFill>
          <a:ln w="12700">
            <a:solidFill>
              <a:srgbClr val="4E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73152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600" b="0">
                <a:solidFill>
                  <a:srgbClr val="F5F0E8"/>
                </a:solidFill>
                <a:latin typeface="Calibri"/>
              </a:defRPr>
            </a:pPr>
            <a:r>
              <a:rPr/>
              <a:t>✋  ICとオプトアウトの違いを説明できる人？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926080"/>
            <a:ext cx="7680960" cy="640080"/>
          </a:xfrm>
          <a:prstGeom prst="rect">
            <a:avLst/>
          </a:prstGeom>
          <a:solidFill>
            <a:srgbClr val="0D2B3E"/>
          </a:solidFill>
          <a:ln w="12700">
            <a:solidFill>
              <a:srgbClr val="4E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914400" y="3017520"/>
            <a:ext cx="73152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600" b="0">
                <a:solidFill>
                  <a:srgbClr val="F5F0E8"/>
                </a:solidFill>
                <a:latin typeface="Calibri"/>
              </a:defRPr>
            </a:pPr>
            <a:r>
              <a:rPr/>
              <a:t>✋  仮名加工情報を扱ったことがある人？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931920"/>
            <a:ext cx="54864" cy="548640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Rectangle 10"/>
          <p:cNvSpPr/>
          <p:nvPr/>
        </p:nvSpPr>
        <p:spPr>
          <a:xfrm>
            <a:off x="566928" y="3931920"/>
            <a:ext cx="8119872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4E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85800" y="4005072"/>
            <a:ext cx="7863840" cy="402335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1A1A2E"/>
                </a:solidFill>
                <a:latin typeface="Georgia"/>
              </a:defRPr>
            </a:pPr>
            <a:r>
              <a:rPr/>
              <a:t>今日は「同意のとり方」と「個人情報の種類」の2軸で整理します。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400" b="1">
                <a:solidFill>
                  <a:srgbClr val="1A1A2E"/>
                </a:solidFill>
                <a:latin typeface="Calibri"/>
              </a:defRPr>
            </a:pPr>
            <a:r>
              <a:rPr/>
              <a:t>改正の3つの柱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58368"/>
            <a:ext cx="1828800" cy="54864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" name="Rectangle 3"/>
          <p:cNvSpPr/>
          <p:nvPr/>
        </p:nvSpPr>
        <p:spPr>
          <a:xfrm>
            <a:off x="457200" y="914400"/>
            <a:ext cx="8229600" cy="1188720"/>
          </a:xfrm>
          <a:prstGeom prst="rect">
            <a:avLst/>
          </a:prstGeom>
          <a:solidFill>
            <a:srgbClr val="E8F0F0"/>
          </a:solidFill>
          <a:ln w="12700">
            <a:solidFill>
              <a:srgbClr val="4E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" name="Rectangle 4"/>
          <p:cNvSpPr/>
          <p:nvPr/>
        </p:nvSpPr>
        <p:spPr>
          <a:xfrm>
            <a:off x="640080" y="1051560"/>
            <a:ext cx="548640" cy="548640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40080" y="1051560"/>
            <a:ext cx="54864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2400" b="1">
                <a:solidFill>
                  <a:srgbClr val="0D2B3E"/>
                </a:solidFill>
                <a:latin typeface="Calibri"/>
              </a:defRPr>
            </a:pPr>
            <a:r>
              <a:rPr/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005840"/>
            <a:ext cx="36576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600" b="1">
                <a:solidFill>
                  <a:srgbClr val="1A1A2E"/>
                </a:solidFill>
                <a:latin typeface="Calibri"/>
              </a:defRPr>
            </a:pPr>
            <a:r>
              <a:rPr/>
              <a:t>同意手続きの簡素化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685800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Calibri"/>
              </a:defRPr>
            </a:pPr>
            <a:r>
              <a:rPr/>
              <a:t>ICとオプトアウトの二元化</a:t>
            </a:r>
            <a:br/>
            <a:r>
              <a:rPr/>
              <a:t>場面ごとの分岐ルール → シンプルに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286000"/>
            <a:ext cx="8229600" cy="1188720"/>
          </a:xfrm>
          <a:prstGeom prst="rect">
            <a:avLst/>
          </a:prstGeom>
          <a:solidFill>
            <a:srgbClr val="E8F0F0"/>
          </a:solidFill>
          <a:ln w="12700">
            <a:solidFill>
              <a:srgbClr val="4E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0" name="Rectangle 9"/>
          <p:cNvSpPr/>
          <p:nvPr/>
        </p:nvSpPr>
        <p:spPr>
          <a:xfrm>
            <a:off x="640080" y="2423160"/>
            <a:ext cx="548640" cy="548640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2423160"/>
            <a:ext cx="54864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2400" b="1">
                <a:solidFill>
                  <a:srgbClr val="0D2B3E"/>
                </a:solidFill>
                <a:latin typeface="Calibri"/>
              </a:defRPr>
            </a:pPr>
            <a:r>
              <a:rPr/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77440"/>
            <a:ext cx="36576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600" b="1">
                <a:solidFill>
                  <a:srgbClr val="1A1A2E"/>
                </a:solidFill>
                <a:latin typeface="Calibri"/>
              </a:defRPr>
            </a:pPr>
            <a:r>
              <a:rPr/>
              <a:t>仮名加工情報の活用拡大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852928"/>
            <a:ext cx="685800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Calibri"/>
              </a:defRPr>
            </a:pPr>
            <a:r>
              <a:rPr/>
              <a:t>自機関で作成 → ICなし（オプトアウト）でOK</a:t>
            </a:r>
            <a:br/>
            <a:r>
              <a:rPr/>
              <a:t>匿名加工情報の利用制限を撤廃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657600"/>
            <a:ext cx="8229600" cy="1188720"/>
          </a:xfrm>
          <a:prstGeom prst="rect">
            <a:avLst/>
          </a:prstGeom>
          <a:solidFill>
            <a:srgbClr val="E8F0F0"/>
          </a:solidFill>
          <a:ln w="12700">
            <a:solidFill>
              <a:srgbClr val="4E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5" name="Rectangle 14"/>
          <p:cNvSpPr/>
          <p:nvPr/>
        </p:nvSpPr>
        <p:spPr>
          <a:xfrm>
            <a:off x="640080" y="3794760"/>
            <a:ext cx="548640" cy="548640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640080" y="3794760"/>
            <a:ext cx="54864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2400" b="1">
                <a:solidFill>
                  <a:srgbClr val="0D2B3E"/>
                </a:solidFill>
                <a:latin typeface="Calibri"/>
              </a:defRPr>
            </a:pPr>
            <a:r>
              <a:rPr/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3749039"/>
            <a:ext cx="36576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600" b="1">
                <a:solidFill>
                  <a:srgbClr val="1A1A2E"/>
                </a:solidFill>
                <a:latin typeface="Calibri"/>
              </a:defRPr>
            </a:pPr>
            <a:r>
              <a:rPr/>
              <a:t>包括同意のルール明確化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4224527"/>
            <a:ext cx="685800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Calibri"/>
              </a:defRPr>
            </a:pPr>
            <a:r>
              <a:rPr/>
              <a:t>包括同意だけでは不十分</a:t>
            </a:r>
            <a:br/>
            <a:r>
              <a:rPr/>
              <a:t>+ オプトアウト手続きが必要に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B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200" b="1">
                <a:solidFill>
                  <a:srgbClr val="F5F0E8"/>
                </a:solidFill>
                <a:latin typeface="Calibri"/>
              </a:defRPr>
            </a:pPr>
            <a:r>
              <a:rPr/>
              <a:t>あなたの研究、どの同意が必要？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58368"/>
            <a:ext cx="1828800" cy="54864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" name="Rectangle 3"/>
          <p:cNvSpPr/>
          <p:nvPr/>
        </p:nvSpPr>
        <p:spPr>
          <a:xfrm>
            <a:off x="2286000" y="914400"/>
            <a:ext cx="4572000" cy="548640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2286000" y="960120"/>
            <a:ext cx="45720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600" b="1">
                <a:solidFill>
                  <a:srgbClr val="0D2B3E"/>
                </a:solidFill>
                <a:latin typeface="Calibri"/>
              </a:defRPr>
            </a:pPr>
            <a:r>
              <a:rPr/>
              <a:t>研究で使うデータは？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828800"/>
            <a:ext cx="3840480" cy="822960"/>
          </a:xfrm>
          <a:prstGeom prst="rect">
            <a:avLst/>
          </a:prstGeom>
          <a:solidFill>
            <a:srgbClr val="0D2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457200" y="1874519"/>
            <a:ext cx="2286000" cy="7315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F5F0E8"/>
                </a:solidFill>
                <a:latin typeface="Calibri"/>
              </a:defRPr>
            </a:pPr>
            <a:r>
              <a:rPr/>
              <a:t>新規に採取する試料</a:t>
            </a:r>
            <a:br/>
            <a:r>
              <a:rPr/>
              <a:t>侵襲を伴う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1965960"/>
            <a:ext cx="118872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1">
                <a:solidFill>
                  <a:srgbClr val="E89B3B"/>
                </a:solidFill>
                <a:latin typeface="Calibri"/>
              </a:defRPr>
            </a:pPr>
            <a:r>
              <a:rPr/>
              <a:t>→ IC必須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0" y="1828800"/>
            <a:ext cx="4297680" cy="822960"/>
          </a:xfrm>
          <a:prstGeom prst="rect">
            <a:avLst/>
          </a:prstGeom>
          <a:solidFill>
            <a:srgbClr val="0D2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4754880" y="1874519"/>
            <a:ext cx="2286000" cy="7315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F5F0E8"/>
                </a:solidFill>
                <a:latin typeface="Calibri"/>
              </a:defRPr>
            </a:pPr>
            <a:r>
              <a:rPr/>
              <a:t>既存の試料・情報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0" y="1965960"/>
            <a:ext cx="13716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1">
                <a:solidFill>
                  <a:srgbClr val="E89B3B"/>
                </a:solidFill>
                <a:latin typeface="Calibri"/>
              </a:defRPr>
            </a:pPr>
            <a:r>
              <a:rPr/>
              <a:t>→ 下へ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926080"/>
            <a:ext cx="41148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F5F0E8"/>
                </a:solidFill>
                <a:latin typeface="Calibri"/>
              </a:defRPr>
            </a:pPr>
            <a:r>
              <a:rPr/>
              <a:t>匿名加工情報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0" y="2926080"/>
            <a:ext cx="3657600" cy="411480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5029200" y="2944368"/>
            <a:ext cx="36576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200" b="1">
                <a:solidFill>
                  <a:srgbClr val="0D2B3E"/>
                </a:solidFill>
                <a:latin typeface="Calibri"/>
              </a:defRPr>
            </a:pPr>
            <a:r>
              <a:rPr/>
              <a:t>同意不要（制限撤廃）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429000"/>
            <a:ext cx="41148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F5F0E8"/>
                </a:solidFill>
                <a:latin typeface="Calibri"/>
              </a:defRPr>
            </a:pPr>
            <a:r>
              <a:rPr/>
              <a:t>仮名加工情報（自機関作成）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0" y="3429000"/>
            <a:ext cx="3657600" cy="411480"/>
          </a:xfrm>
          <a:prstGeom prst="rect">
            <a:avLst/>
          </a:prstGeom>
          <a:solidFill>
            <a:srgbClr val="4EB8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5029200" y="3447288"/>
            <a:ext cx="36576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200" b="1">
                <a:solidFill>
                  <a:srgbClr val="0D2B3E"/>
                </a:solidFill>
                <a:latin typeface="Calibri"/>
              </a:defRPr>
            </a:pPr>
            <a:r>
              <a:rPr/>
              <a:t>オプトアウトでOK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3931920"/>
            <a:ext cx="41148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F5F0E8"/>
                </a:solidFill>
                <a:latin typeface="Calibri"/>
              </a:defRPr>
            </a:pPr>
            <a:r>
              <a:rPr/>
              <a:t>包括同意取得済み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0" y="3931920"/>
            <a:ext cx="3657600" cy="411480"/>
          </a:xfrm>
          <a:prstGeom prst="rect">
            <a:avLst/>
          </a:prstGeom>
          <a:solidFill>
            <a:srgbClr val="4EB8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029200" y="3950208"/>
            <a:ext cx="36576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200" b="1">
                <a:solidFill>
                  <a:srgbClr val="0D2B3E"/>
                </a:solidFill>
                <a:latin typeface="Calibri"/>
              </a:defRPr>
            </a:pPr>
            <a:r>
              <a:rPr/>
              <a:t>範囲内ならオプトアウト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434840"/>
            <a:ext cx="41148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F5F0E8"/>
                </a:solidFill>
                <a:latin typeface="Calibri"/>
              </a:defRPr>
            </a:pPr>
            <a:r>
              <a:rPr/>
              <a:t>その他の既存情報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0" y="4434840"/>
            <a:ext cx="3657600" cy="411480"/>
          </a:xfrm>
          <a:prstGeom prst="rect">
            <a:avLst/>
          </a:prstGeom>
          <a:solidFill>
            <a:srgbClr val="4EB8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5029200" y="4453128"/>
            <a:ext cx="36576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200" b="1">
                <a:solidFill>
                  <a:srgbClr val="0D2B3E"/>
                </a:solidFill>
                <a:latin typeface="Calibri"/>
              </a:defRPr>
            </a:pPr>
            <a:r>
              <a:rPr/>
              <a:t>オプトアウトが基本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400" b="1">
                <a:solidFill>
                  <a:srgbClr val="1A1A2E"/>
                </a:solidFill>
                <a:latin typeface="Calibri"/>
              </a:defRPr>
            </a:pPr>
            <a:r>
              <a:rPr/>
              <a:t>ミニ研究計画書ワーク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58368"/>
            <a:ext cx="1828800" cy="54864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8229600" cy="322579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0">
                <a:solidFill>
                  <a:srgbClr val="7A8A9A"/>
                </a:solidFill>
                <a:latin typeface="Calibri"/>
              </a:defRPr>
            </a:pPr>
            <a:r>
              <a:rPr/>
              <a:t>ペアワーク 4分 — シナリオを1つ選んで骨子を書く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7680960" cy="822960"/>
          </a:xfrm>
          <a:prstGeom prst="rect">
            <a:avLst/>
          </a:prstGeom>
          <a:solidFill>
            <a:srgbClr val="E8F0F0"/>
          </a:solidFill>
          <a:ln w="12700">
            <a:solidFill>
              <a:srgbClr val="4E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914400" y="1417320"/>
            <a:ext cx="22860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500" b="1">
                <a:solidFill>
                  <a:srgbClr val="E89B3B"/>
                </a:solidFill>
                <a:latin typeface="Calibri"/>
              </a:defRPr>
            </a:pPr>
            <a:r>
              <a:rPr/>
              <a:t>A: カルテ後方視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801368"/>
            <a:ext cx="73152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1A1A2E"/>
                </a:solidFill>
                <a:latin typeface="Calibri"/>
              </a:defRPr>
            </a:pPr>
            <a:r>
              <a:rPr/>
              <a:t>自施設の糖尿病患者500名のカルテデータを後方視的に解析したい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377440"/>
            <a:ext cx="7680960" cy="822960"/>
          </a:xfrm>
          <a:prstGeom prst="rect">
            <a:avLst/>
          </a:prstGeom>
          <a:solidFill>
            <a:srgbClr val="E8F0F0"/>
          </a:solidFill>
          <a:ln w="12700">
            <a:solidFill>
              <a:srgbClr val="4E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914400" y="2423160"/>
            <a:ext cx="22860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500" b="1">
                <a:solidFill>
                  <a:srgbClr val="E89B3B"/>
                </a:solidFill>
                <a:latin typeface="Calibri"/>
              </a:defRPr>
            </a:pPr>
            <a:r>
              <a:rPr/>
              <a:t>B: バイオバンク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807208"/>
            <a:ext cx="73152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1A1A2E"/>
                </a:solidFill>
                <a:latin typeface="Calibri"/>
              </a:defRPr>
            </a:pPr>
            <a:r>
              <a:rPr/>
              <a:t>包括同意取得済みの血液検体で新しいバイオマーカーを探索したい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3383280"/>
            <a:ext cx="7680960" cy="822960"/>
          </a:xfrm>
          <a:prstGeom prst="rect">
            <a:avLst/>
          </a:prstGeom>
          <a:solidFill>
            <a:srgbClr val="E8F0F0"/>
          </a:solidFill>
          <a:ln w="12700">
            <a:solidFill>
              <a:srgbClr val="4E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914400" y="3429000"/>
            <a:ext cx="22860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500" b="1">
                <a:solidFill>
                  <a:srgbClr val="E89B3B"/>
                </a:solidFill>
                <a:latin typeface="Calibri"/>
              </a:defRPr>
            </a:pPr>
            <a:r>
              <a:rPr/>
              <a:t>C: AI画像解析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813048"/>
            <a:ext cx="73152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1A1A2E"/>
                </a:solidFill>
                <a:latin typeface="Calibri"/>
              </a:defRPr>
            </a:pPr>
            <a:r>
              <a:rPr/>
              <a:t>匿名化済みの画像データでAI診断ツールの精度を検証したい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389120"/>
            <a:ext cx="2743200" cy="322579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1">
                <a:solidFill>
                  <a:srgbClr val="E89B3B"/>
                </a:solidFill>
                <a:latin typeface="Calibri"/>
              </a:defRPr>
            </a:pPr>
            <a:r>
              <a:rPr/>
              <a:t>決めるべきこと: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0" y="4389120"/>
            <a:ext cx="5943600" cy="304799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1A1A2E"/>
                </a:solidFill>
                <a:latin typeface="Calibri"/>
              </a:defRPr>
            </a:pPr>
            <a:r>
              <a:rPr/>
              <a:t>データの種類（個人情報/仮名加工/匿名加工）× 同意の方法（IC/オプトアウト/不要）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B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200" b="1">
                <a:solidFill>
                  <a:srgbClr val="F5F0E8"/>
                </a:solidFill>
                <a:latin typeface="Calibri"/>
              </a:defRPr>
            </a:pPr>
            <a:r>
              <a:rPr/>
              <a:t>各シナリオの正解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58368"/>
            <a:ext cx="1828800" cy="54864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" name="Rectangle 3"/>
          <p:cNvSpPr/>
          <p:nvPr/>
        </p:nvSpPr>
        <p:spPr>
          <a:xfrm>
            <a:off x="457200" y="914400"/>
            <a:ext cx="8229600" cy="1097280"/>
          </a:xfrm>
          <a:prstGeom prst="rect">
            <a:avLst/>
          </a:prstGeom>
          <a:solidFill>
            <a:srgbClr val="0D2B3E"/>
          </a:solidFill>
          <a:ln w="12700">
            <a:solidFill>
              <a:srgbClr val="E89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640080" y="960120"/>
            <a:ext cx="2743200" cy="320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1">
                <a:solidFill>
                  <a:srgbClr val="E89B3B"/>
                </a:solidFill>
                <a:latin typeface="Calibri"/>
              </a:defRPr>
            </a:pPr>
            <a:r>
              <a:rPr/>
              <a:t>A: カルテ後方視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80160"/>
            <a:ext cx="7772400" cy="322579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0">
                <a:solidFill>
                  <a:srgbClr val="F5F0E8"/>
                </a:solidFill>
                <a:latin typeface="Calibri"/>
              </a:defRPr>
            </a:pPr>
            <a:r>
              <a:rPr/>
              <a:t>仮名加工情報に加工 → オプトアウトでOK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45920"/>
            <a:ext cx="7772400" cy="2870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100" b="0">
                <a:solidFill>
                  <a:srgbClr val="7A8A9A"/>
                </a:solidFill>
                <a:latin typeface="Calibri"/>
              </a:defRPr>
            </a:pPr>
            <a:r>
              <a:rPr/>
              <a:t>改正で: 現行ではICが必要なケースも → 簡素化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194560"/>
            <a:ext cx="8229600" cy="1097280"/>
          </a:xfrm>
          <a:prstGeom prst="rect">
            <a:avLst/>
          </a:prstGeom>
          <a:solidFill>
            <a:srgbClr val="0D2B3E"/>
          </a:solidFill>
          <a:ln w="12700">
            <a:solidFill>
              <a:srgbClr val="E89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0080" y="2240279"/>
            <a:ext cx="2743200" cy="320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1">
                <a:solidFill>
                  <a:srgbClr val="E89B3B"/>
                </a:solidFill>
                <a:latin typeface="Calibri"/>
              </a:defRPr>
            </a:pPr>
            <a:r>
              <a:rPr/>
              <a:t>B: バイオバンク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560320"/>
            <a:ext cx="7772400" cy="322579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0">
                <a:solidFill>
                  <a:srgbClr val="F5F0E8"/>
                </a:solidFill>
                <a:latin typeface="Calibri"/>
              </a:defRPr>
            </a:pPr>
            <a:r>
              <a:rPr/>
              <a:t>包括同意の範囲内 → オプトアウト手続き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926080"/>
            <a:ext cx="7772400" cy="2870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100" b="0">
                <a:solidFill>
                  <a:srgbClr val="7A8A9A"/>
                </a:solidFill>
                <a:latin typeface="Calibri"/>
              </a:defRPr>
            </a:pPr>
            <a:r>
              <a:rPr/>
              <a:t>改正で: 包括同意だけでは不十分 → 組合せが明確化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474720"/>
            <a:ext cx="8229600" cy="1097280"/>
          </a:xfrm>
          <a:prstGeom prst="rect">
            <a:avLst/>
          </a:prstGeom>
          <a:solidFill>
            <a:srgbClr val="0D2B3E"/>
          </a:solidFill>
          <a:ln w="12700">
            <a:solidFill>
              <a:srgbClr val="E89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40080" y="3520439"/>
            <a:ext cx="2743200" cy="320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1">
                <a:solidFill>
                  <a:srgbClr val="E89B3B"/>
                </a:solidFill>
                <a:latin typeface="Calibri"/>
              </a:defRPr>
            </a:pPr>
            <a:r>
              <a:rPr/>
              <a:t>C: AI画像解析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840480"/>
            <a:ext cx="7772400" cy="322579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0">
                <a:solidFill>
                  <a:srgbClr val="F5F0E8"/>
                </a:solidFill>
                <a:latin typeface="Calibri"/>
              </a:defRPr>
            </a:pPr>
            <a:r>
              <a:rPr/>
              <a:t>匿名加工情報 → 同意不要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206240"/>
            <a:ext cx="7772400" cy="2870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100" b="0">
                <a:solidFill>
                  <a:srgbClr val="7A8A9A"/>
                </a:solidFill>
                <a:latin typeface="Calibri"/>
              </a:defRPr>
            </a:pPr>
            <a:r>
              <a:rPr/>
              <a:t>改正で: 「困難な場合」の制限が撤廃 → より自由に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400" b="1">
                <a:solidFill>
                  <a:srgbClr val="1A1A2E"/>
                </a:solidFill>
                <a:latin typeface="Calibri"/>
              </a:defRPr>
            </a:pPr>
            <a:r>
              <a:rPr/>
              <a:t>3つの変更、3つのアクション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58368"/>
            <a:ext cx="1828800" cy="54864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4114800" cy="3403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1">
                <a:solidFill>
                  <a:srgbClr val="E89B3B"/>
                </a:solidFill>
                <a:latin typeface="Calibri"/>
              </a:defRPr>
            </a:pPr>
            <a:r>
              <a:rPr/>
              <a:t>覚えておくこと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80160"/>
            <a:ext cx="3931920" cy="411480"/>
          </a:xfrm>
          <a:prstGeom prst="rect">
            <a:avLst/>
          </a:prstGeom>
          <a:solidFill>
            <a:srgbClr val="E8F0F0"/>
          </a:solidFill>
          <a:ln w="12700">
            <a:solidFill>
              <a:srgbClr val="4E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40080" y="1307592"/>
            <a:ext cx="36576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Calibri"/>
              </a:defRPr>
            </a:pPr>
            <a:r>
              <a:rPr/>
              <a:t>1. 同意手続きの二元化（IC + オプトアウト）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783080"/>
            <a:ext cx="3931920" cy="411480"/>
          </a:xfrm>
          <a:prstGeom prst="rect">
            <a:avLst/>
          </a:prstGeom>
          <a:solidFill>
            <a:srgbClr val="E8F0F0"/>
          </a:solidFill>
          <a:ln w="12700">
            <a:solidFill>
              <a:srgbClr val="4E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640080" y="1810512"/>
            <a:ext cx="36576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Calibri"/>
              </a:defRPr>
            </a:pPr>
            <a:r>
              <a:rPr/>
              <a:t>2. 仮名加工情報はオプトアウトでOK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286000"/>
            <a:ext cx="3931920" cy="411480"/>
          </a:xfrm>
          <a:prstGeom prst="rect">
            <a:avLst/>
          </a:prstGeom>
          <a:solidFill>
            <a:srgbClr val="E8F0F0"/>
          </a:solidFill>
          <a:ln w="12700">
            <a:solidFill>
              <a:srgbClr val="4E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2313432"/>
            <a:ext cx="36576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Calibri"/>
              </a:defRPr>
            </a:pPr>
            <a:r>
              <a:rPr/>
              <a:t>3. 匿名加工情報の利用制限を撤廃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914400"/>
            <a:ext cx="4114800" cy="3403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1">
                <a:solidFill>
                  <a:srgbClr val="E89B3B"/>
                </a:solidFill>
                <a:latin typeface="Calibri"/>
              </a:defRPr>
            </a:pPr>
            <a:r>
              <a:rPr/>
              <a:t>次のアクション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54880" y="1280160"/>
            <a:ext cx="4114800" cy="548640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4892040" y="1298448"/>
            <a:ext cx="1097280" cy="2870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100" b="1">
                <a:solidFill>
                  <a:srgbClr val="0D2B3E"/>
                </a:solidFill>
                <a:latin typeface="Calibri"/>
              </a:defRPr>
            </a:pPr>
            <a:r>
              <a:rPr/>
              <a:t>今すぐ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1298448"/>
            <a:ext cx="27432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000" b="0">
                <a:solidFill>
                  <a:srgbClr val="0D2B3E"/>
                </a:solidFill>
                <a:latin typeface="Calibri"/>
              </a:defRPr>
            </a:pPr>
            <a:r>
              <a:rPr/>
              <a:t>自分の研究の同意手続きが改正でどう変わるか確認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54880" y="1920239"/>
            <a:ext cx="4114800" cy="548640"/>
          </a:xfrm>
          <a:prstGeom prst="rect">
            <a:avLst/>
          </a:prstGeom>
          <a:solidFill>
            <a:srgbClr val="E8F0F0"/>
          </a:solidFill>
          <a:ln w="12700">
            <a:solidFill>
              <a:srgbClr val="4E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4892040" y="1938527"/>
            <a:ext cx="1097280" cy="2870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100" b="1">
                <a:solidFill>
                  <a:srgbClr val="1A1A2E"/>
                </a:solidFill>
                <a:latin typeface="Calibri"/>
              </a:defRPr>
            </a:pPr>
            <a:r>
              <a:rPr/>
              <a:t>今週中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35040" y="1938527"/>
            <a:ext cx="27432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000" b="0">
                <a:solidFill>
                  <a:srgbClr val="1A1A2E"/>
                </a:solidFill>
                <a:latin typeface="Calibri"/>
              </a:defRPr>
            </a:pPr>
            <a:r>
              <a:rPr/>
              <a:t>倫理審査委員会に新指針への移行スケジュールを問い合わせ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754880" y="2560320"/>
            <a:ext cx="4114800" cy="548640"/>
          </a:xfrm>
          <a:prstGeom prst="rect">
            <a:avLst/>
          </a:prstGeom>
          <a:solidFill>
            <a:srgbClr val="E8F0F0"/>
          </a:solidFill>
          <a:ln w="12700">
            <a:solidFill>
              <a:srgbClr val="4E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4892040" y="2578608"/>
            <a:ext cx="1097280" cy="2870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100" b="1">
                <a:solidFill>
                  <a:srgbClr val="1A1A2E"/>
                </a:solidFill>
                <a:latin typeface="Calibri"/>
              </a:defRPr>
            </a:pPr>
            <a:r>
              <a:rPr/>
              <a:t>来月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35040" y="2578608"/>
            <a:ext cx="27432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000" b="0">
                <a:solidFill>
                  <a:srgbClr val="1A1A2E"/>
                </a:solidFill>
                <a:latin typeface="Calibri"/>
              </a:defRPr>
            </a:pPr>
            <a:r>
              <a:rPr/>
              <a:t>新指針準拠の研究計画書ドラフトを書いてみる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474720"/>
            <a:ext cx="54864" cy="548640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22" name="Rectangle 21"/>
          <p:cNvSpPr/>
          <p:nvPr/>
        </p:nvSpPr>
        <p:spPr>
          <a:xfrm>
            <a:off x="566928" y="3474720"/>
            <a:ext cx="8119872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4E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85800" y="3547872"/>
            <a:ext cx="7863840" cy="402335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1A1A2E"/>
                </a:solidFill>
                <a:latin typeface="Georgia"/>
              </a:defRPr>
            </a:pPr>
            <a:r>
              <a:rPr/>
              <a:t>改正は研究を「やりやすくする」方向。</a:t>
            </a:r>
            <a:br/>
            <a:r>
              <a:rPr/>
              <a:t>ただし手続きは変わるので、今のうちに準備を。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