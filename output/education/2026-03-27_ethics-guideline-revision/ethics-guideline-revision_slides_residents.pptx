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7A8A9A"/>
                </a:solidFill>
                <a:latin typeface="Calibri"/>
              </a:defRPr>
            </a:pPr>
            <a:r>
              <a:t>研究倫理指針が変わります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200" b="1">
                <a:solidFill>
                  <a:srgbClr val="E89B3B"/>
                </a:solidFill>
                <a:latin typeface="Calibri"/>
              </a:defRPr>
            </a:pPr>
            <a:r>
              <a:t>あなたの研究計画書</a:t>
            </a:r>
            <a:br/>
            <a:r>
              <a:t>そのまま通りますか？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560320"/>
            <a:ext cx="36576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t>文科省・厚労省・経産省の3省合同改正</a:t>
            </a:r>
          </a:p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t>パブコメ: 2025年12月〜2026年1月（終了済み）</a:t>
            </a:r>
          </a:p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t>2026年度中に施行予定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54864" cy="5486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38912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46227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Georgia"/>
              </a:defRPr>
            </a:pPr>
            <a:r>
              <a:t>指針が「複雑かつ難解」で研究を停滞させていた → シンプルに再設計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今日の学習目標（15分）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E89B3B"/>
                </a:solidFill>
                <a:latin typeface="Calibri"/>
              </a:defRPr>
            </a:pPr>
            <a:r>
              <a:t>説明できる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08760"/>
            <a:ext cx="5486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改正の3つの柱を述べられる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7680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828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E89B3B"/>
                </a:solidFill>
                <a:latin typeface="Calibri"/>
              </a:defRPr>
            </a:pPr>
            <a:r>
              <a:t>分析できる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14600"/>
            <a:ext cx="5486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自分の研究に影響する変更点を特定できる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7680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828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E89B3B"/>
                </a:solidFill>
                <a:latin typeface="Calibri"/>
              </a:defRPr>
            </a:pPr>
            <a:r>
              <a:t>書ける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520440"/>
            <a:ext cx="5486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新指針に準拠した研究計画書の骨子を書き始められる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F5F0E8"/>
                </a:solidFill>
                <a:latin typeface="Calibri"/>
              </a:defRPr>
            </a:pPr>
            <a:r>
              <a:t>Quick Poll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F5F0E8"/>
                </a:solidFill>
                <a:latin typeface="Calibri"/>
              </a:defRPr>
            </a:pPr>
            <a:r>
              <a:t>✋  倫理指針を読んだことがある人？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F5F0E8"/>
                </a:solidFill>
                <a:latin typeface="Calibri"/>
              </a:defRPr>
            </a:pPr>
            <a:r>
              <a:t>✋  ICとオプトアウトの違いを説明できる人？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F5F0E8"/>
                </a:solidFill>
                <a:latin typeface="Calibri"/>
              </a:defRPr>
            </a:pPr>
            <a:r>
              <a:t>✋  仮名加工情報を扱ったことがある人？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" cy="5486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93192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0507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Georgia"/>
              </a:defRPr>
            </a:pPr>
            <a:r>
              <a:t>今日は「同意のとり方」と「個人情報の種類」の2軸で整理します。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改正の3つの柱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548640" cy="5486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0D2B3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05840"/>
            <a:ext cx="3657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同意手続きの簡素化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17320"/>
            <a:ext cx="6858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ICとオプトアウトの二元化</a:t>
            </a:r>
            <a:br/>
            <a:r>
              <a:t>場面ごとの分岐ルール → シンプルに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0D2B3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77440"/>
            <a:ext cx="3657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仮名加工情報の活用拡大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88920"/>
            <a:ext cx="6858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自機関で作成 → ICなし（オプトアウト）でOK</a:t>
            </a:r>
            <a:br/>
            <a:r>
              <a:t>匿名加工情報の利用制限を撤廃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0D2B3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49039"/>
            <a:ext cx="3657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包括同意のルール明確化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60520"/>
            <a:ext cx="6858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包括同意だけでは不十分</a:t>
            </a:r>
            <a:br/>
            <a:r>
              <a:t>+ オプトアウト手続きが必要に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5F0E8"/>
                </a:solidFill>
                <a:latin typeface="Calibri"/>
              </a:defRPr>
            </a:pPr>
            <a:r>
              <a:t>あなたの研究、どの同意が必要？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914400"/>
            <a:ext cx="4572000" cy="5486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960120"/>
            <a:ext cx="4572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0D2B3E"/>
                </a:solidFill>
                <a:latin typeface="Calibri"/>
              </a:defRPr>
            </a:pPr>
            <a:r>
              <a:t>研究で使うデータは？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3840480" cy="82296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2286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t>新規に採取する試料</a:t>
            </a:r>
            <a:br/>
            <a:r>
              <a:t>侵襲を伴う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65960"/>
            <a:ext cx="1188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→ IC必須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4297680" cy="82296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74519"/>
            <a:ext cx="2286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t>既存の試料・情報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6596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→ 下へ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t>匿名加工情報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926080"/>
            <a:ext cx="3657600" cy="41148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44368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0D2B3E"/>
                </a:solidFill>
                <a:latin typeface="Calibri"/>
              </a:defRPr>
            </a:pPr>
            <a:r>
              <a:t>同意不要（制限撤廃）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t>仮名加工情報（自機関作成）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429000"/>
            <a:ext cx="3657600" cy="411480"/>
          </a:xfrm>
          <a:prstGeom prst="rect">
            <a:avLst/>
          </a:prstGeom>
          <a:solidFill>
            <a:srgbClr val="4E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447288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0D2B3E"/>
                </a:solidFill>
                <a:latin typeface="Calibri"/>
              </a:defRPr>
            </a:pPr>
            <a:r>
              <a:t>オプトアウトでOK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t>包括同意取得済み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931920"/>
            <a:ext cx="3657600" cy="411480"/>
          </a:xfrm>
          <a:prstGeom prst="rect">
            <a:avLst/>
          </a:prstGeom>
          <a:solidFill>
            <a:srgbClr val="4E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950208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0D2B3E"/>
                </a:solidFill>
                <a:latin typeface="Calibri"/>
              </a:defRPr>
            </a:pPr>
            <a:r>
              <a:t>範囲内ならオプトアウト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3484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t>その他の既存情報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4434840"/>
            <a:ext cx="3657600" cy="411480"/>
          </a:xfrm>
          <a:prstGeom prst="rect">
            <a:avLst/>
          </a:prstGeom>
          <a:solidFill>
            <a:srgbClr val="4E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4453128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0D2B3E"/>
                </a:solidFill>
                <a:latin typeface="Calibri"/>
              </a:defRPr>
            </a:pPr>
            <a:r>
              <a:t>オプトアウトが基本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ミニ研究計画書ワーク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7A8A9A"/>
                </a:solidFill>
                <a:latin typeface="Calibri"/>
              </a:defRPr>
            </a:pPr>
            <a:r>
              <a:t>ペアワーク 4分 — シナリオを1つ選んで骨子を書く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E89B3B"/>
                </a:solidFill>
                <a:latin typeface="Calibri"/>
              </a:defRPr>
            </a:pPr>
            <a:r>
              <a:t>A: カルテ後方視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自施設の糖尿病患者500名のカルテデータを後方視的に解析したい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7680960" cy="82296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E89B3B"/>
                </a:solidFill>
                <a:latin typeface="Calibri"/>
              </a:defRPr>
            </a:pPr>
            <a:r>
              <a:t>B: バイオバンク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包括同意取得済みの血液検体で新しいバイオマーカーを探索したい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7680960" cy="82296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E89B3B"/>
                </a:solidFill>
                <a:latin typeface="Calibri"/>
              </a:defRPr>
            </a:pPr>
            <a:r>
              <a:t>C: AI画像解析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匿名化済みの画像データでAI診断ツールの精度を検証したい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t>決めるべきこと: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389120"/>
            <a:ext cx="5943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データの種類（個人情報/仮名加工/匿名加工）× 同意の方法（IC/オプトアウト/不要）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5F0E8"/>
                </a:solidFill>
                <a:latin typeface="Calibri"/>
              </a:defRPr>
            </a:pPr>
            <a:r>
              <a:t>各シナリオの正解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A: カルテ後方視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t>仮名加工情報に加工 → オプトアウトでOK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772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7A8A9A"/>
                </a:solidFill>
                <a:latin typeface="Calibri"/>
              </a:defRPr>
            </a:pPr>
            <a:r>
              <a:t>改正で: 現行ではICが必要なケースも → 簡素化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79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B: バイオバンク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t>包括同意の範囲内 → オプトアウト手続き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7772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7A8A9A"/>
                </a:solidFill>
                <a:latin typeface="Calibri"/>
              </a:defRPr>
            </a:pPr>
            <a:r>
              <a:t>改正で: 包括同意だけでは不十分 → 組合せが明確化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39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C: AI画像解析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t>匿名加工情報 → 同意不要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7772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7A8A9A"/>
                </a:solidFill>
                <a:latin typeface="Calibri"/>
              </a:defRPr>
            </a:pPr>
            <a:r>
              <a:t>改正で: 「困難な場合」の制限が撤廃 → より自由に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3つの変更、3つのアクション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覚えておくこと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1. 同意手続きの二元化（IC + オプトアウト）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931920" cy="41148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2. 仮名加工情報はオプトアウトでOK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931920" cy="41148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3. 匿名加工情報の利用制限を撤廃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t>次のアクション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280160"/>
            <a:ext cx="4114800" cy="5486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298448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D2B3E"/>
                </a:solidFill>
                <a:latin typeface="Calibri"/>
              </a:defRPr>
            </a:pPr>
            <a:r>
              <a:t>今すぐ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298448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0D2B3E"/>
                </a:solidFill>
                <a:latin typeface="Calibri"/>
              </a:defRPr>
            </a:pPr>
            <a:r>
              <a:t>自分の研究の同意手続きが改正でどう変わるか確認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920239"/>
            <a:ext cx="4114800" cy="54864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938527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今週中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938527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倫理審査委員会に新指針への移行スケジュールを問い合わせ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560320"/>
            <a:ext cx="4114800" cy="548640"/>
          </a:xfrm>
          <a:prstGeom prst="rect">
            <a:avLst/>
          </a:prstGeom>
          <a:solidFill>
            <a:srgbClr val="E8F0F0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578608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来月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78608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新指針準拠の研究計画書ドラフトを書いてみる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54864" cy="5486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7472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4787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Georgia"/>
              </a:defRPr>
            </a:pPr>
            <a:r>
              <a:t>改正は研究を「やりやすくする」方向。</a:t>
            </a:r>
            <a:br/>
            <a:r>
              <a:t>ただし手続きは変わるので、今のうちに準備を。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