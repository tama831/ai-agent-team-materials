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2026年度 診療報酬改定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6400" b="1">
                <a:solidFill>
                  <a:srgbClr val="E89B3B"/>
                </a:solidFill>
                <a:latin typeface="Calibri"/>
              </a:defRPr>
            </a:pPr>
            <a:r>
              <a:t>+3.09%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000" b="0">
                <a:solidFill>
                  <a:srgbClr val="F5F0E8"/>
                </a:solidFill>
                <a:latin typeface="Calibri"/>
              </a:defRPr>
            </a:pPr>
            <a:r>
              <a:t>30年ぶりの大幅引き上げ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743200"/>
            <a:ext cx="36576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017520"/>
            <a:ext cx="1828800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8288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+1.70%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0D2B3E"/>
                </a:solidFill>
                <a:latin typeface="Calibri"/>
              </a:defRPr>
            </a:pPr>
            <a:r>
              <a:t>賃上げ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39" y="3017520"/>
            <a:ext cx="1828800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39" y="3017520"/>
            <a:ext cx="18288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+0.76%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35204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0D2B3E"/>
                </a:solidFill>
                <a:latin typeface="Calibri"/>
              </a:defRPr>
            </a:pPr>
            <a:r>
              <a:t>物価高騰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59" y="3017520"/>
            <a:ext cx="1828800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59" y="3017520"/>
            <a:ext cx="18288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+0.09%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35204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0D2B3E"/>
                </a:solidFill>
                <a:latin typeface="Calibri"/>
              </a:defRPr>
            </a:pPr>
            <a:r>
              <a:t>食費等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79" y="3017520"/>
            <a:ext cx="1828800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79" y="3017520"/>
            <a:ext cx="18288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+0.44%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79" y="35204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0D2B3E"/>
                </a:solidFill>
                <a:latin typeface="Calibri"/>
              </a:defRPr>
            </a:pPr>
            <a:r>
              <a:t>経営難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20624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7939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この改定で「あなたの給料」は上がるのか？「あなたの診療」はどう変わるのか？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今日の学習目標（15分）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E89B3B"/>
                </a:solidFill>
                <a:latin typeface="Calibri"/>
              </a:defRPr>
            </a:pPr>
            <a:r>
              <a:t>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50876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改定の全体像と4つの柱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E89B3B"/>
                </a:solidFill>
                <a:latin typeface="Calibri"/>
              </a:defRPr>
            </a:pPr>
            <a:r>
              <a:t>判断できる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460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自院の設定で何が変わるか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E89B3B"/>
                </a:solidFill>
                <a:latin typeface="Calibri"/>
              </a:defRPr>
            </a:pPr>
            <a:r>
              <a:t>提案できる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20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BCP策定・医療DX対応の具体的アクション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Quick Poll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Calibri"/>
              </a:defRPr>
            </a:pPr>
            <a:r>
              <a:t>✋  前回（2024年度）の改定内容を覚えている人？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Calibri"/>
              </a:defRPr>
            </a:pPr>
            <a:r>
              <a:t>✋  「生活習慣病管理料」を算定したことがある人？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Calibri"/>
              </a:defRPr>
            </a:pPr>
            <a:r>
              <a:t>✋  BCPって何の略？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9319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0507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2024年改定でDX推進体制整備加算が新設。2026年はその延長線上にありつつ大幅再編。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改定の4つの柱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4114800" cy="164592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45720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5156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賃上げ・物価対応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508760"/>
            <a:ext cx="3200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ベースアップ評価料を大幅拡充</a:t>
            </a:r>
            <a:br/>
            <a:r>
              <a:t>全職員対象に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914400"/>
            <a:ext cx="4114800" cy="164592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2040" y="1051560"/>
            <a:ext cx="45720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05156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05156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医療DX推進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508760"/>
            <a:ext cx="3200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既存加算を統合→1本化</a:t>
            </a:r>
            <a:br/>
            <a:r>
              <a:t>マイナ保険証利用率がカギ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4114800" cy="164592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971800"/>
            <a:ext cx="45720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7180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718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かかりつけ医機能強化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29000"/>
            <a:ext cx="3200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地域包括診療加算の再編</a:t>
            </a:r>
            <a:br/>
            <a:r>
              <a:t>BCP策定が施設基準に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2834640"/>
            <a:ext cx="4114800" cy="164592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40" y="2971800"/>
            <a:ext cx="45720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297180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D2B3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9718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急性期再編と連携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429000"/>
            <a:ext cx="3200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入院料の細分化</a:t>
            </a:r>
            <a:br/>
            <a:r>
              <a:t>救急外来の新評価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柱1: あなたの給料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4572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ベースアップ評価料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200400" cy="1828800"/>
          </a:xfrm>
          <a:prstGeom prst="rect">
            <a:avLst/>
          </a:prstGeom>
          <a:solidFill>
            <a:srgbClr val="0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200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7A8A9A"/>
                </a:solidFill>
                <a:latin typeface="Calibri"/>
              </a:defRPr>
            </a:pPr>
            <a:r>
              <a:t>6点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7A8A9A"/>
                </a:solidFill>
                <a:latin typeface="Calibri"/>
              </a:defRPr>
            </a:pPr>
            <a:r>
              <a:t>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914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E89B3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1371600"/>
            <a:ext cx="3200400" cy="18288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463040"/>
            <a:ext cx="3200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0D2B3E"/>
                </a:solidFill>
                <a:latin typeface="Calibri"/>
              </a:defRPr>
            </a:pPr>
            <a:r>
              <a:t>17点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19456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0D2B3E"/>
                </a:solidFill>
                <a:latin typeface="Calibri"/>
              </a:defRPr>
            </a:pPr>
            <a:r>
              <a:t>新（+11点）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対象: 医療従事者 → 事務職員含む全職員に拡大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物価対応料: 初診2点・再診2点（新設、2027年度に倍増予定）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再診料: 75点 → 76点（微増だが全再診に波及）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柱2: 医療DXの再編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既存2加算 → 1つに統合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旧制度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200400" cy="457200"/>
          </a:xfrm>
          <a:prstGeom prst="rect">
            <a:avLst/>
          </a:prstGeom>
          <a:solidFill>
            <a:srgbClr val="E8F0F0"/>
          </a:solidFill>
          <a:ln w="12700">
            <a:solidFill>
              <a:srgbClr val="7A8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医療DX推進体制整備加算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3200400" cy="457200"/>
          </a:xfrm>
          <a:prstGeom prst="rect">
            <a:avLst/>
          </a:prstGeom>
          <a:solidFill>
            <a:srgbClr val="E8F0F0"/>
          </a:solidFill>
          <a:ln w="12700">
            <a:solidFill>
              <a:srgbClr val="7A8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医療情報取得加算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2880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E89B3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新制度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645920"/>
            <a:ext cx="4114800" cy="10058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6916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D2B3E"/>
                </a:solidFill>
                <a:latin typeface="Calibri"/>
              </a:defRPr>
            </a:pPr>
            <a:r>
              <a:t>電子的診療情報連携</a:t>
            </a:r>
            <a:br/>
            <a:r>
              <a:t>体制整備加算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3172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0D2B3E"/>
                </a:solidFill>
                <a:latin typeface="Calibri"/>
              </a:defRPr>
            </a:pPr>
            <a:r>
              <a:t>初診: 最大15点（3区分）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37160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063239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0D2B3E"/>
                </a:solidFill>
                <a:latin typeface="Calibri"/>
              </a:defRPr>
            </a:pPr>
            <a:r>
              <a:t>区分1 15点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06323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マイナ利用率30%以上 + 電子処方箋実績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79"/>
            <a:ext cx="137160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57599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0D2B3E"/>
                </a:solidFill>
                <a:latin typeface="Calibri"/>
              </a:defRPr>
            </a:pPr>
            <a:r>
              <a:t>区分2 9点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65759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電子処方箋体制あり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06240"/>
            <a:ext cx="1371600" cy="4572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251959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0D2B3E"/>
                </a:solidFill>
                <a:latin typeface="Calibri"/>
              </a:defRPr>
            </a:pPr>
            <a:r>
              <a:t>区分3 4点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25195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マイナ保険証基本体制のみ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柱3: かかりつけ医機能強化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800" b="1">
                <a:solidFill>
                  <a:srgbClr val="E89B3B"/>
                </a:solidFill>
                <a:latin typeface="Calibri"/>
              </a:defRPr>
            </a:pPr>
            <a:r>
              <a:t>BCP策定が義務化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7432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0" y="1645920"/>
            <a:ext cx="3657600" cy="13716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0D2B3E"/>
                </a:solidFill>
                <a:latin typeface="Calibri"/>
              </a:defRPr>
            </a:pPr>
            <a:r>
              <a:t>期限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96596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0D2B3E"/>
                </a:solidFill>
                <a:latin typeface="Calibri"/>
              </a:defRPr>
            </a:pPr>
            <a:r>
              <a:t>2027年5月末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51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0D2B3E"/>
                </a:solidFill>
                <a:latin typeface="Calibri"/>
              </a:defRPr>
            </a:pPr>
            <a:r>
              <a:t>（経過措置期限）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F5F0E8"/>
                </a:solidFill>
                <a:latin typeface="Calibri"/>
              </a:defRPr>
            </a:pPr>
            <a:r>
              <a:t>対象となる施設基準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41148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機能強化加算（80点）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在宅療養支援診療所（在支診）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在宅療養支援病院（在支病）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F5F0E8"/>
                </a:solidFill>
                <a:latin typeface="Calibri"/>
              </a:defRPr>
            </a:pPr>
            <a:r>
              <a:t>策定すべき内容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自然災害への対応計画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サイバーセキュリティ対策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ケースディスカッション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22860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005840"/>
            <a:ext cx="81198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78638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t>あなたは地方の200床の病院で総合診療科の専攻医です。</a:t>
            </a:r>
            <a:br/>
            <a:r>
              <a:t>院長から「今回の改定で当院がとるべきアクションをまとめてほしい」と言われました。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7680960" cy="50292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40279"/>
            <a:ext cx="1097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問い1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240279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外来：最優先で対応すべき改定項目は？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834639"/>
            <a:ext cx="7680960" cy="50292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59"/>
            <a:ext cx="1097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問い2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880359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入院：地域包括医療病棟のどの区分を目指す？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474720"/>
            <a:ext cx="7680960" cy="50292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20439"/>
            <a:ext cx="10972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問い3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520439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全体：DXとBCPの優先順位は？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7A8A9A"/>
                </a:solidFill>
                <a:latin typeface="Calibri"/>
              </a:defRPr>
            </a:pPr>
            <a:r>
              <a:t>ペアワーク 3分 → 2-3ペアからシェア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持ち帰りの3アクション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828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0D2B3E"/>
                </a:solidFill>
                <a:latin typeface="Calibri"/>
              </a:defRPr>
            </a:pPr>
            <a:r>
              <a:t>今週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97280"/>
            <a:ext cx="59436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マイナ保険証利用率を確認する</a:t>
            </a:r>
            <a:br/>
            <a:r>
              <a:t>→ 区分1（15点）に届くか？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182880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1828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0D2B3E"/>
                </a:solidFill>
                <a:latin typeface="Calibri"/>
              </a:defRPr>
            </a:pPr>
            <a:r>
              <a:t>来月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286000"/>
            <a:ext cx="59436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BCP策定の現状を上司に確認する</a:t>
            </a:r>
            <a:br/>
            <a:r>
              <a:t>→ 未着手なら着手を提案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182880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1828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0D2B3E"/>
                </a:solidFill>
                <a:latin typeface="Calibri"/>
              </a:defRPr>
            </a:pPr>
            <a:r>
              <a:t>6月まで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74720"/>
            <a:ext cx="59436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自分の診療設定での算定変更を1つ把握する</a:t>
            </a:r>
            <a:br/>
            <a:r>
              <a:t>→ チートシート（配布資料）を参照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572000"/>
            <a:ext cx="54864" cy="3657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4572000"/>
            <a:ext cx="811987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45152"/>
            <a:ext cx="786384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Georgia"/>
              </a:defRPr>
            </a:pPr>
            <a:r>
              <a:t>詳細は配布チートシート（DOCX）を確認してください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