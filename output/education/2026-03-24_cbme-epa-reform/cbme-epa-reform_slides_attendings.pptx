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4A90D9"/>
                </a:solidFill>
                <a:latin typeface="Georgia"/>
              </a:defRPr>
            </a:pPr>
            <a:r>
              <a:t>CBE / EPA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BC67E"/>
                </a:solidFill>
                <a:latin typeface="Calibri"/>
              </a:defRPr>
            </a:pPr>
            <a:r>
              <a:t>Competency-Based Education / Entrustable Professional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2F5"/>
                </a:solidFill>
                <a:latin typeface="Georgia"/>
              </a:defRPr>
            </a:pPr>
            <a:r>
              <a:t>コンピテンシー基盤型教育とEPA -- 「点数」から「できること」へ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2743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AA0"/>
                </a:solidFill>
                <a:latin typeface="Calibri"/>
              </a:defRPr>
            </a:pPr>
            <a:r>
              <a:t>指導医・プログラムディレクター向け｜30分｜2026-03-24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0D9"/>
                </a:solidFill>
                <a:latin typeface="Calibri"/>
              </a:defRPr>
            </a:pPr>
            <a:r>
              <a:t>導入の問い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54864" cy="10972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822960"/>
            <a:ext cx="757123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BC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896112"/>
            <a:ext cx="731520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744"/>
                </a:solidFill>
                <a:latin typeface="Georgia"/>
              </a:defRPr>
            </a:pPr>
            <a:r>
              <a:t>USMLE（米国医師国家試験）で高得点の研修医が、</a:t>
            </a:r>
            <a:br/>
            <a:r>
              <a:t>必ずしも「良い医師」になるとは限らない。</a:t>
            </a:r>
            <a:br/>
            <a:r>
              <a:t>-- では、何で評価すればいいのか？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2F5"/>
                </a:solidFill>
                <a:latin typeface="Calibri"/>
              </a:defRPr>
            </a:pPr>
            <a:r>
              <a:t>この30分の後、あなたは：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0F2F5"/>
                </a:solidFill>
                <a:latin typeface="Calibri"/>
              </a:defRPr>
              <a:buChar char="●"/>
            </a:pPr>
            <a:r>
              <a:t>CBE = Competency-Based Education（コンピテンシー基盤型教育）の基本概念を説明できる</a:t>
            </a:r>
          </a:p>
          <a:p>
            <a:pPr>
              <a:defRPr sz="1300">
                <a:solidFill>
                  <a:srgbClr val="F0F2F5"/>
                </a:solidFill>
                <a:latin typeface="Calibri"/>
              </a:defRPr>
              <a:buChar char="●"/>
            </a:pPr>
            <a:r>
              <a:t>EPA = Entrustable Professional Activity（任せられる専門的活動）とマイルストーン評価を理解できる</a:t>
            </a:r>
          </a:p>
          <a:p>
            <a:pPr>
              <a:defRPr sz="1300">
                <a:solidFill>
                  <a:srgbClr val="F0F2F5"/>
                </a:solidFill>
                <a:latin typeface="Calibri"/>
              </a:defRPr>
              <a:buChar char="●"/>
            </a:pPr>
            <a:r>
              <a:t>自分の指導・研修にCBEの要素を1つ取り入れる計画を立てられる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Georgia"/>
              </a:defRPr>
            </a:pPr>
            <a:r>
              <a:t>試験の点数は何を予測するのか？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822960"/>
          <a:ext cx="7680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92608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2F5"/>
                          </a:solidFill>
                          <a:latin typeface="Calibri"/>
                        </a:defRPr>
                      </a:pPr>
                      <a:r>
                        <a:t>指標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2F5"/>
                          </a:solidFill>
                          <a:latin typeface="Calibri"/>
                        </a:defRPr>
                      </a:pPr>
                      <a:r>
                        <a:t>事実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2F5"/>
                          </a:solidFill>
                          <a:latin typeface="Calibri"/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USMLE Step 1</a:t>
                      </a:r>
                    </a:p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高得点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レジデントの臨床</a:t>
                      </a:r>
                    </a:p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パフォーマンスを予測しない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知識 ≠ 能力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クラークシップ</a:t>
                      </a:r>
                    </a:p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「優秀」評価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施設間で</a:t>
                      </a:r>
                    </a:p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5%〜67%のばらつき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基準が曖昧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筆記試験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「知っている」を測るが</a:t>
                      </a:r>
                    </a:p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「できる」を測らない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評価方法の不整合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31520" y="3017520"/>
            <a:ext cx="54864" cy="7315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3017520"/>
            <a:ext cx="757123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7BC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090672"/>
            <a:ext cx="7315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2744"/>
                </a:solidFill>
                <a:latin typeface="Georgia"/>
              </a:defRPr>
            </a:pPr>
            <a:r>
              <a:t>「試験に受かる力」と「患者を診る力」は別物。</a:t>
            </a:r>
            <a:br/>
            <a:r>
              <a:t>このギャップを埋めるのがCBE。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Georgia"/>
              </a:defRPr>
            </a:pPr>
            <a:r>
              <a:t>CBE（コンピテンシー基盤型教育）とは何か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777240"/>
          <a:ext cx="76809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108960"/>
                <a:gridCol w="3200400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2F5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2F5"/>
                          </a:solidFill>
                          <a:latin typeface="Calibri"/>
                        </a:defRPr>
                      </a:pPr>
                      <a:r>
                        <a:t>従来の教育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2F5"/>
                          </a:solidFill>
                          <a:latin typeface="Calibri"/>
                        </a:defRPr>
                      </a:pPr>
                      <a:r>
                        <a:t>CBE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評価基準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時間（何年間研修したか）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能力（何ができるようになったか）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測定方法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筆記試験・口頭試験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EPA（実際の信頼レベル）+ マイルストーン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指導者の役割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試験官・評価者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コーチ・伴走者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ゴール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合格ラインを越える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一人前の医師として任せられる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90D9"/>
                </a:solidFill>
                <a:latin typeface="Calibri"/>
              </a:defRPr>
            </a:pPr>
            <a:r>
              <a:t>CBE = 「何年研修したか」ではなく「何ができるようになったか」で評価する仕組み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Georgia"/>
              </a:defRPr>
            </a:pPr>
            <a:r>
              <a:t>EPA -- 「任せられる」を段階的に評価する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AA0"/>
                </a:solidFill>
                <a:latin typeface="Calibri"/>
              </a:defRPr>
            </a:pPr>
            <a:r>
              <a:t>EPA = Entrustable Professional Activity（任せられる専門的活動）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680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BC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54864" cy="502920"/>
          </a:xfrm>
          <a:prstGeom prst="rect">
            <a:avLst/>
          </a:prstGeom>
          <a:solidFill>
            <a:srgbClr val="D45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97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744"/>
                </a:solidFill>
                <a:latin typeface="Calibri"/>
              </a:defRPr>
            </a:pPr>
            <a:r>
              <a:t>Level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097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5B47"/>
                </a:solidFill>
                <a:latin typeface="Calibri"/>
              </a:defRPr>
            </a:pPr>
            <a:r>
              <a:t>観察のみ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0972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744"/>
                </a:solidFill>
                <a:latin typeface="Calibri"/>
              </a:defRPr>
            </a:pPr>
            <a:r>
              <a:t>見学している段階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45919"/>
            <a:ext cx="7680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BC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19"/>
            <a:ext cx="54864" cy="502920"/>
          </a:xfrm>
          <a:prstGeom prst="rect">
            <a:avLst/>
          </a:prstGeom>
          <a:solidFill>
            <a:srgbClr val="D4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9163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744"/>
                </a:solidFill>
                <a:latin typeface="Calibri"/>
              </a:defRPr>
            </a:pPr>
            <a:r>
              <a:t>Level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691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8A47"/>
                </a:solidFill>
                <a:latin typeface="Calibri"/>
              </a:defRPr>
            </a:pPr>
            <a:r>
              <a:t>直接指導下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169163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744"/>
                </a:solidFill>
                <a:latin typeface="Calibri"/>
              </a:defRPr>
            </a:pPr>
            <a:r>
              <a:t>指導医が横で見ている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240280"/>
            <a:ext cx="7680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BC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240280"/>
            <a:ext cx="54864" cy="502920"/>
          </a:xfrm>
          <a:prstGeom prst="rect">
            <a:avLst/>
          </a:prstGeom>
          <a:solidFill>
            <a:srgbClr val="D4C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286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744"/>
                </a:solidFill>
                <a:latin typeface="Calibri"/>
              </a:defRPr>
            </a:pPr>
            <a:r>
              <a:t>Level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C447"/>
                </a:solidFill>
                <a:latin typeface="Calibri"/>
              </a:defRPr>
            </a:pPr>
            <a:r>
              <a:t>間接指導下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286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744"/>
                </a:solidFill>
                <a:latin typeface="Calibri"/>
              </a:defRPr>
            </a:pPr>
            <a:r>
              <a:t>一人でやって後で確認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834640"/>
            <a:ext cx="7680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BC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2834640"/>
            <a:ext cx="54864" cy="502920"/>
          </a:xfrm>
          <a:prstGeom prst="rect">
            <a:avLst/>
          </a:prstGeom>
          <a:solidFill>
            <a:srgbClr val="5BB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880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744"/>
                </a:solidFill>
                <a:latin typeface="Calibri"/>
              </a:defRPr>
            </a:pPr>
            <a:r>
              <a:t>Level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2880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B86B"/>
                </a:solidFill>
                <a:latin typeface="Calibri"/>
              </a:defRPr>
            </a:pPr>
            <a:r>
              <a:t>自立実施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880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744"/>
                </a:solidFill>
                <a:latin typeface="Calibri"/>
              </a:defRPr>
            </a:pPr>
            <a:r>
              <a:t>任せられる！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429000"/>
            <a:ext cx="7680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BC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429000"/>
            <a:ext cx="54864" cy="502920"/>
          </a:xfrm>
          <a:prstGeom prst="rect">
            <a:avLst/>
          </a:prstGeom>
          <a:solidFill>
            <a:srgbClr val="2D8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474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744"/>
                </a:solidFill>
                <a:latin typeface="Calibri"/>
              </a:defRPr>
            </a:pPr>
            <a:r>
              <a:t>Level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3474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8E5B"/>
                </a:solidFill>
                <a:latin typeface="Calibri"/>
              </a:defRPr>
            </a:pPr>
            <a:r>
              <a:t>他者を指導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34747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744"/>
                </a:solidFill>
                <a:latin typeface="Calibri"/>
              </a:defRPr>
            </a:pPr>
            <a:r>
              <a:t>教える側になる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A90D9"/>
                </a:solidFill>
                <a:latin typeface="Calibri"/>
              </a:defRPr>
            </a:pPr>
            <a:r>
              <a:t>「この研修医にこの行動を任せられるか？」が評価の核心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Georgia"/>
              </a:defRPr>
            </a:pPr>
            <a:r>
              <a:t>「評価者」から「コーチ」へ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777240"/>
          <a:ext cx="76809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108960"/>
                <a:gridCol w="3200400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2F5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2F5"/>
                          </a:solidFill>
                          <a:latin typeface="Calibri"/>
                        </a:defRPr>
                      </a:pPr>
                      <a:r>
                        <a:t>従来の指導医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2F5"/>
                          </a:solidFill>
                          <a:latin typeface="Calibri"/>
                        </a:defRPr>
                      </a:pPr>
                      <a:r>
                        <a:t>CBEのコーチ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スタンス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「できなかったこと」を指摘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「できるようになったこと」を確認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フィードバック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年に1-2回の総括評価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日常的な短い対話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目的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合否判定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成長支援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関係性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上下関係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伴走・協働</a:t>
                      </a:r>
                    </a:p>
                  </a:txBody>
                  <a:tcPr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31520" y="2926080"/>
            <a:ext cx="54864" cy="7315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2926080"/>
            <a:ext cx="757123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7BC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999232"/>
            <a:ext cx="7315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2744"/>
                </a:solidFill>
                <a:latin typeface="Georgia"/>
              </a:defRPr>
            </a:pPr>
            <a:r>
              <a:t>「あの先生は厳しい」と言われる指導医から、</a:t>
            </a:r>
            <a:br/>
            <a:r>
              <a:t>「あの先生がいると安心」と言われるコーチへ。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Georgia"/>
              </a:defRPr>
            </a:pPr>
            <a:r>
              <a:t>日本での動き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A2744"/>
                </a:solidFill>
                <a:latin typeface="Calibri"/>
              </a:defRPr>
              <a:buChar char="●"/>
            </a:pPr>
            <a:r>
              <a:t>総合診療専門医制度（2017年〜）でEPA的評価が導入され始めている</a:t>
            </a:r>
          </a:p>
          <a:p>
            <a:pPr>
              <a:defRPr sz="1300">
                <a:solidFill>
                  <a:srgbClr val="1A2744"/>
                </a:solidFill>
                <a:latin typeface="Calibri"/>
              </a:defRPr>
              <a:buChar char="●"/>
            </a:pPr>
            <a:r>
              <a:t>初期研修の「行動目標」が実質的なEPAに相当</a:t>
            </a:r>
          </a:p>
          <a:p>
            <a:pPr>
              <a:defRPr sz="1300">
                <a:solidFill>
                  <a:srgbClr val="1A2744"/>
                </a:solidFill>
                <a:latin typeface="Calibri"/>
              </a:defRPr>
              <a:buChar char="●"/>
            </a:pPr>
            <a:r>
              <a:t>USMLE Step 1の「Pass/Fail」化（2022年）が全米で「点数から能力へ」の潮流を加速</a:t>
            </a:r>
          </a:p>
          <a:p>
            <a:pPr>
              <a:defRPr sz="1300">
                <a:solidFill>
                  <a:srgbClr val="1A2744"/>
                </a:solidFill>
                <a:latin typeface="Calibri"/>
              </a:defRPr>
              <a:buChar char="●"/>
            </a:pPr>
            <a:r>
              <a:t>日本のOSCE（客観的臨床能力試験）も「できる」を測る方向へ進化中</a:t>
            </a:r>
          </a:p>
          <a:p>
            <a:pPr>
              <a:defRPr sz="1300">
                <a:solidFill>
                  <a:srgbClr val="1A2744"/>
                </a:solidFill>
                <a:latin typeface="Calibri"/>
              </a:defRPr>
              <a:buChar char="●"/>
            </a:pPr>
            <a:r>
              <a:t>3/22のAI教育RCT（保持率91%）が示すように、AIがCBEを支援する時代が来ている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A90D9"/>
                </a:solidFill>
                <a:latin typeface="Calibri"/>
              </a:defRPr>
            </a:pPr>
            <a:r>
              <a:t>「点数で評価」から「任せられるかで評価」への転換は、日本でも始まっている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2F5"/>
                </a:solidFill>
                <a:latin typeface="Georgia"/>
              </a:defRPr>
            </a:pPr>
            <a:r>
              <a:t>ディスカッション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90D9"/>
                </a:solidFill>
                <a:latin typeface="Calibri"/>
              </a:defRPr>
            </a:pPr>
            <a:r>
              <a:t>4分間 → 全体共有 2分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4864" cy="10058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188720"/>
            <a:ext cx="757123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7BC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261872"/>
            <a:ext cx="73152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2744"/>
                </a:solidFill>
                <a:latin typeface="Georgia"/>
              </a:defRPr>
            </a:pPr>
            <a:r>
              <a:t>あなたの研修現場で、</a:t>
            </a:r>
            <a:br/>
            <a:r>
              <a:t>「点数では測れないが、医師として重要な能力」は何か？</a:t>
            </a:r>
            <a:br/>
            <a:r>
              <a:t>それをどう評価すればいい？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0D9"/>
                </a:solidFill>
                <a:latin typeface="Calibri"/>
              </a:defRPr>
            </a:pPr>
            <a:r>
              <a:t>明日からの1アクション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0F2F5"/>
                </a:solidFill>
                <a:latin typeface="Calibri"/>
              </a:defRPr>
              <a:buChar char="●"/>
            </a:pPr>
            <a:r>
              <a:t>研修医の「できること」を1つ、EPAのLevelで評価してみる</a:t>
            </a:r>
          </a:p>
          <a:p>
            <a:pPr>
              <a:defRPr sz="1300">
                <a:solidFill>
                  <a:srgbClr val="F0F2F5"/>
                </a:solidFill>
                <a:latin typeface="Calibri"/>
              </a:defRPr>
              <a:buChar char="●"/>
            </a:pPr>
            <a:r>
              <a:t>「できなかったこと」ではなく「できたこと」をフィードバックする</a:t>
            </a:r>
          </a:p>
          <a:p>
            <a:pPr>
              <a:defRPr sz="1300">
                <a:solidFill>
                  <a:srgbClr val="F0F2F5"/>
                </a:solidFill>
                <a:latin typeface="Calibri"/>
              </a:defRPr>
              <a:buChar char="●"/>
            </a:pPr>
            <a:r>
              <a:t>「次はこれを任せてみようか」という対話を、1回してみる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