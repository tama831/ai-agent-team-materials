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7A8A9A"/>
                </a:solidFill>
                <a:latin typeface="Calibri"/>
              </a:defRPr>
            </a:pPr>
            <a:r>
              <a:t>2026年度 診療報酬改定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4800" b="1">
                <a:solidFill>
                  <a:srgbClr val="E89B3B"/>
                </a:solidFill>
                <a:latin typeface="Calibri"/>
              </a:defRPr>
            </a:pPr>
            <a:r>
              <a:t>本体 +3.09%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000" b="0">
                <a:solidFill>
                  <a:srgbClr val="F5F0E8"/>
                </a:solidFill>
                <a:latin typeface="Calibri"/>
              </a:defRPr>
            </a:pPr>
            <a:r>
              <a:t>30年ぶりの大幅引き上げ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834640"/>
            <a:ext cx="27432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60320" y="3108960"/>
          <a:ext cx="4023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内訳</a:t>
                      </a:r>
                    </a:p>
                  </a:txBody>
                  <a:tcPr marL="45720" marR="45720" marT="18288" marB="18288"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改定率</a:t>
                      </a:r>
                    </a:p>
                  </a:txBody>
                  <a:tcPr marL="45720" marR="45720" marT="18288" marB="18288">
                    <a:solidFill>
                      <a:srgbClr val="0D2B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賃上げ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+1.70%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物価高騰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+0.76%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食費・光熱水費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+0.09%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経営難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+0.44%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206240"/>
            <a:ext cx="54864" cy="64008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4206240"/>
            <a:ext cx="811987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279392"/>
            <a:ext cx="7863840" cy="493775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Georgia"/>
              </a:defRPr>
            </a:pPr>
            <a:r>
              <a:t>この改定で「あなたの給料」は上がるのか？</a:t>
            </a:r>
            <a:br/>
            <a:r>
              <a:t>そして「あなたの診療」はどう変わるのか？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今日の学習目標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7A8A9A"/>
                </a:solidFill>
                <a:latin typeface="Calibri"/>
              </a:defRPr>
            </a:pPr>
            <a:r>
              <a:t>この15分の後、あなたは: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7680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6576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800" b="1">
                <a:solidFill>
                  <a:srgbClr val="E89B3B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68580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説明できる — 2026年度改定の全体像と4つの柱（理解）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7680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36576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800" b="1">
                <a:solidFill>
                  <a:srgbClr val="E89B3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97480"/>
            <a:ext cx="68580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整理できる — 外来・入院・救急・連携の設定別に改定ポイントを分類（分析）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566160"/>
            <a:ext cx="7680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36576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800" b="1">
                <a:solidFill>
                  <a:srgbClr val="E89B3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03320"/>
            <a:ext cx="68580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提案できる — 自院でのBCP策定・医療DX対応の具体的アクション（創造）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400" b="1">
                <a:solidFill>
                  <a:srgbClr val="F5F0E8"/>
                </a:solidFill>
                <a:latin typeface="Calibri"/>
              </a:defRPr>
            </a:pPr>
            <a:r>
              <a:t>前提確認 — Quick Poll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27432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F5F0E8"/>
                </a:solidFill>
                <a:latin typeface="Calibri"/>
              </a:defRPr>
            </a:pPr>
            <a:r>
              <a:t>✋  前回（2024年度）の改定内容を覚えている人？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772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F5F0E8"/>
                </a:solidFill>
                <a:latin typeface="Calibri"/>
              </a:defRPr>
            </a:pPr>
            <a:r>
              <a:t>✋  「生活習慣病管理料」を算定したことがある人？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39"/>
            <a:ext cx="7772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F5F0E8"/>
                </a:solidFill>
                <a:latin typeface="Calibri"/>
              </a:defRPr>
            </a:pPr>
            <a:r>
              <a:t>✋  「地域包括診療加算」の施設基準を知っている人？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7772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F5F0E8"/>
                </a:solidFill>
                <a:latin typeface="Calibri"/>
              </a:defRPr>
            </a:pPr>
            <a:r>
              <a:t>✋  BCPって何の略？（Business Continuity Plan）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840480"/>
            <a:ext cx="54864" cy="9144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3840480"/>
            <a:ext cx="811987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913632"/>
            <a:ext cx="7863840" cy="7680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Georgia"/>
              </a:defRPr>
            </a:pPr>
            <a:r>
              <a:t>2024年改定では生活習慣病管理料の見直しや医療DX推進体制整備加算が新設。</a:t>
            </a:r>
            <a:br/>
            <a:r>
              <a:t>2026年改定はその延長線上にありつつ、大幅な再編が行われています。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改定全体像 — 4つの柱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22860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8595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657600"/>
                <a:gridCol w="292608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柱</a:t>
                      </a:r>
                    </a:p>
                  </a:txBody>
                  <a:tcPr marL="45720" marR="45720" marT="18288" marB="18288"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内容</a:t>
                      </a:r>
                    </a:p>
                  </a:txBody>
                  <a:tcPr marL="45720" marR="45720" marT="18288" marB="18288"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総合診療との関連</a:t>
                      </a:r>
                    </a:p>
                  </a:txBody>
                  <a:tcPr marL="45720" marR="45720" marT="18288" marB="18288">
                    <a:solidFill>
                      <a:srgbClr val="0D2B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1. 賃上げ・物価対応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ベースアップ評価料拡充、物価対応料新設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全スタッフの給与に直結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2. 医療DX推進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既存加算廃止→電子的診療情報連携体制整備加算に統合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マイナ保険証利用率が算定に影響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3. かかりつけ医機能強化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地域包括診療加算/料の再編、BCP義務化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家庭医の中核業務そのもの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4. 急性期再編と連携強化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入院料の細分化、救急外来の新評価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病院総合診療科・救急の評価が変わる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設定別ポイント (A) 外来（診療所）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18288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822960"/>
          <a:ext cx="859536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2651760"/>
              </a:tblGrid>
              <a:tr h="30175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項目</a:t>
                      </a:r>
                    </a:p>
                  </a:txBody>
                  <a:tcPr marL="45720" marR="45720" marT="18288" marB="18288"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変更内容</a:t>
                      </a:r>
                    </a:p>
                  </a:txBody>
                  <a:tcPr marL="45720" marR="45720" marT="18288" marB="18288"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ポイント</a:t>
                      </a:r>
                    </a:p>
                  </a:txBody>
                  <a:tcPr marL="45720" marR="45720" marT="18288" marB="18288">
                    <a:solidFill>
                      <a:srgbClr val="0D2B3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再診料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75点→76点（+1点）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微増だが全再診に影響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機能強化加算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80点維持 + BCP策定が施設基準追加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経過措置: 2027年5月末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地域包括診療加算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認知症地域包括加算を統合・2区分化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加算1:(1)38点/(2)28点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生活習慣病管理料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眼科・歯科連携加算を新設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糖尿病合併症予防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物価対応料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初診2点/再診2点（新設）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2027年度に倍増予定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ベースアップ評価料(I)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6点→17点（+11点）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全職員対象に拡大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外来データ提出加算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10点/月（新設）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データ継続提出で加算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設定別ポイント (B) 入院（病院総合診療科）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18288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822960"/>
          <a:ext cx="859536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2651760"/>
              </a:tblGrid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項目</a:t>
                      </a:r>
                    </a:p>
                  </a:txBody>
                  <a:tcPr marL="45720" marR="45720" marT="18288" marB="18288"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変更内容</a:t>
                      </a:r>
                    </a:p>
                  </a:txBody>
                  <a:tcPr marL="45720" marR="45720" marT="18288" marB="18288"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ポイント</a:t>
                      </a:r>
                    </a:p>
                  </a:txBody>
                  <a:tcPr marL="45720" marR="45720" marT="18288" marB="18288">
                    <a:solidFill>
                      <a:srgbClr val="0D2B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地域包括医療病棟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6区分に細分化（3367-3066点）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急性期併設有無・救急/予定で区分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地域包括ケア病棟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入院料1: 2838→2955点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包括期医療の充実評価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総合的診療機能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小児・周産期等の幅広い対応を高評価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「地域最後の砦」に有利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急性期一般入院料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新区分の新設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高度/一般の役割分担加速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入院時物価対応料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新設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食材費・光熱水費対応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3383280"/>
            <a:ext cx="54864" cy="54864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383280"/>
            <a:ext cx="81198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456432"/>
            <a:ext cx="7863840" cy="402335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Georgia"/>
              </a:defRPr>
            </a:pPr>
            <a:r>
              <a:t>地域包括医療病棟の細分化→「どの区分を取るか」が経営戦略に直結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設定別ポイント (C) 救急 + (D) 連携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8288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E89B3B"/>
                </a:solidFill>
                <a:latin typeface="Calibri"/>
              </a:defRPr>
            </a:pPr>
            <a:r>
              <a:t>救急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868680"/>
          <a:ext cx="41148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</a:tblGrid>
              <a:tr h="30175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項目</a:t>
                      </a:r>
                    </a:p>
                  </a:txBody>
                  <a:tcPr marL="45720" marR="45720" marT="18288" marB="18288"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変更内容</a:t>
                      </a:r>
                    </a:p>
                  </a:txBody>
                  <a:tcPr marL="45720" marR="45720" marT="18288" marB="18288">
                    <a:solidFill>
                      <a:srgbClr val="0D2B3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院内トリアージ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廃止→体制加算に再編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ウォークイン患者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夜間休日にも加算可能に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時間外救急搬送加算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休日夜間300/平日夜間250/休日日中200点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救急患者連携搬送料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+600点の引き上げ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54880" y="640080"/>
            <a:ext cx="4114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E89B3B"/>
                </a:solidFill>
                <a:latin typeface="Calibri"/>
              </a:defRPr>
            </a:pPr>
            <a:r>
              <a:t>診療所 ⇄ 病院連携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0" y="868680"/>
          <a:ext cx="429768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468880"/>
              </a:tblGrid>
              <a:tr h="30175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項目</a:t>
                      </a:r>
                    </a:p>
                  </a:txBody>
                  <a:tcPr marL="45720" marR="45720" marT="18288" marB="18288"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変更内容</a:t>
                      </a:r>
                    </a:p>
                  </a:txBody>
                  <a:tcPr marL="45720" marR="45720" marT="18288" marB="18288">
                    <a:solidFill>
                      <a:srgbClr val="0D2B3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紹介患者受入加算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60点（新設）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救急患者連携搬送料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高次→地域の転院搬送を評価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電子的診療情報連携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電子カルテ情報共有サービス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眼科・歯科連携加算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新設（多職種連携）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5F0E8"/>
                </a:solidFill>
                <a:latin typeface="Calibri"/>
              </a:defRPr>
            </a:pPr>
            <a:r>
              <a:t>医療DXとBCP — 2つの必須対応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27432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4114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E89B3B"/>
                </a:solidFill>
                <a:latin typeface="Calibri"/>
              </a:defRPr>
            </a:pPr>
            <a:r>
              <a:t>医療DXの再編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42976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914400"/>
                <a:gridCol w="2651760"/>
              </a:tblGrid>
              <a:tr h="320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区分</a:t>
                      </a:r>
                    </a:p>
                  </a:txBody>
                  <a:tcPr marL="45720" marR="45720" marT="18288" marB="18288"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初診点数</a:t>
                      </a:r>
                    </a:p>
                  </a:txBody>
                  <a:tcPr marL="45720" marR="45720" marT="18288" marB="18288"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主な要件</a:t>
                      </a:r>
                    </a:p>
                  </a:txBody>
                  <a:tcPr marL="45720" marR="45720" marT="18288" marB="18288">
                    <a:solidFill>
                      <a:srgbClr val="0D2B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区分1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15点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電子処方箋実績+共有サービス+マイナ30%以上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区分2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9点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電子処方箋体制+DXシステム整備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区分3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4点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マイナ保険証利用体制+基本DX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0" y="82296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E89B3B"/>
                </a:solidFill>
                <a:latin typeface="Calibri"/>
              </a:defRPr>
            </a:pPr>
            <a:r>
              <a:t>BCP策定義務化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188720"/>
            <a:ext cx="3840480" cy="2286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>
                <a:solidFill>
                  <a:srgbClr val="F5F0E8"/>
                </a:solidFill>
                <a:latin typeface="Calibri"/>
              </a:defRPr>
              <a:buChar char="●"/>
            </a:pPr>
            <a:r>
              <a:t>機能強化加算の施設基準にBCP追加</a:t>
            </a:r>
          </a:p>
          <a:p>
            <a:pPr>
              <a:defRPr sz="1200">
                <a:solidFill>
                  <a:srgbClr val="F5F0E8"/>
                </a:solidFill>
                <a:latin typeface="Calibri"/>
              </a:defRPr>
              <a:buChar char="●"/>
            </a:pPr>
            <a:r>
              <a:t>在支診・在支病の施設基準にも追加</a:t>
            </a:r>
          </a:p>
          <a:p>
            <a:pPr>
              <a:defRPr sz="1200">
                <a:solidFill>
                  <a:srgbClr val="F5F0E8"/>
                </a:solidFill>
                <a:latin typeface="Calibri"/>
              </a:defRPr>
              <a:buChar char="●"/>
            </a:pPr>
            <a:r>
              <a:t>経過措置: 2027年5月31日まで</a:t>
            </a:r>
          </a:p>
          <a:p>
            <a:pPr>
              <a:defRPr sz="1200">
                <a:solidFill>
                  <a:srgbClr val="F5F0E8"/>
                </a:solidFill>
                <a:latin typeface="Calibri"/>
              </a:defRPr>
              <a:buChar char="●"/>
            </a:pPr>
            <a:r>
              <a:t>災害対応 + サイバーセキュリティ対策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400" b="1">
                <a:solidFill>
                  <a:srgbClr val="F5F0E8"/>
                </a:solidFill>
                <a:latin typeface="Calibri"/>
              </a:defRPr>
            </a:pPr>
            <a:r>
              <a:t>ケースディスカッション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22860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4864" cy="9144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005840"/>
            <a:ext cx="811987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78992"/>
            <a:ext cx="7863840" cy="7680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Georgia"/>
              </a:defRPr>
            </a:pPr>
            <a:r>
              <a:t>あなたは地方の200床の病院で総合診療科の専攻医です。</a:t>
            </a:r>
            <a:br/>
            <a:r>
              <a:t>院長から「今回の改定で当院がとるべきアクションをまとめてほしい」と言われました。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1">
                <a:solidFill>
                  <a:srgbClr val="E89B3B"/>
                </a:solidFill>
                <a:latin typeface="Calibri"/>
              </a:defRPr>
            </a:pPr>
            <a:r>
              <a:t>問い1: 外来部門で最優先で対応すべき改定項目は何か？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1">
                <a:solidFill>
                  <a:srgbClr val="E89B3B"/>
                </a:solidFill>
                <a:latin typeface="Calibri"/>
              </a:defRPr>
            </a:pPr>
            <a:r>
              <a:t>問い2: 入院部門（地域包括医療病棟）でどの区分を目指すべきか？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1">
                <a:solidFill>
                  <a:srgbClr val="E89B3B"/>
                </a:solidFill>
                <a:latin typeface="Calibri"/>
              </a:defRPr>
            </a:pPr>
            <a:r>
              <a:t>問い3: 救急部門で新しく算定できる加算は何か？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600" b="0">
                <a:solidFill>
                  <a:srgbClr val="7A8A9A"/>
                </a:solidFill>
                <a:latin typeface="Calibri"/>
              </a:defRPr>
            </a:pPr>
            <a:r>
              <a:t>ペアワーク 3分  →  2-3ペアからシェア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振り返りと持ち帰りの問い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22860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4114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E89B3B"/>
                </a:solidFill>
                <a:latin typeface="Calibri"/>
              </a:defRPr>
            </a:pPr>
            <a:r>
              <a:t>理解度チェック（挙手）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114800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>
                <a:solidFill>
                  <a:srgbClr val="1A1A2E"/>
                </a:solidFill>
                <a:latin typeface="Calibri"/>
              </a:defRPr>
              <a:buChar char="●"/>
            </a:pPr>
            <a:r>
              <a:t>改定の4つの柱を2つ以上言える？</a:t>
            </a:r>
          </a:p>
          <a:p>
            <a:pPr>
              <a:defRPr sz="1200">
                <a:solidFill>
                  <a:srgbClr val="1A1A2E"/>
                </a:solidFill>
                <a:latin typeface="Calibri"/>
              </a:defRPr>
              <a:buChar char="●"/>
            </a:pPr>
            <a:r>
              <a:t>機能強化加算にBCPが必要なことを覚えた？</a:t>
            </a:r>
          </a:p>
          <a:p>
            <a:pPr>
              <a:defRPr sz="1200">
                <a:solidFill>
                  <a:srgbClr val="1A1A2E"/>
                </a:solidFill>
                <a:latin typeface="Calibri"/>
              </a:defRPr>
              <a:buChar char="●"/>
            </a:pPr>
            <a:r>
              <a:t>医療DX加算が3区分になったことを理解した？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822960"/>
            <a:ext cx="4114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E89B3B"/>
                </a:solidFill>
                <a:latin typeface="Calibri"/>
              </a:defRPr>
            </a:pPr>
            <a:r>
              <a:t>スケジュール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0" y="1097280"/>
          <a:ext cx="4297680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926080"/>
              </a:tblGrid>
              <a:tr h="30175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時期</a:t>
                      </a:r>
                    </a:p>
                  </a:txBody>
                  <a:tcPr marL="45720" marR="45720" marT="18288" marB="18288"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やるべきこと</a:t>
                      </a:r>
                    </a:p>
                  </a:txBody>
                  <a:tcPr marL="45720" marR="45720" marT="18288" marB="18288">
                    <a:solidFill>
                      <a:srgbClr val="0D2B3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今すぐ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マイナ保険証利用率の確認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2026年4月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告示・通知の詳細確認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2026年5月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新加算の届出提出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2026年6月1日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改定施行日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2027年5月末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BCP策定の経過措置期限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2926080"/>
            <a:ext cx="4114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E89B3B"/>
                </a:solidFill>
                <a:latin typeface="Calibri"/>
              </a:defRPr>
            </a:pPr>
            <a:r>
              <a:t>持ち帰りの宿題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4114800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>
                <a:solidFill>
                  <a:srgbClr val="1A1A2E"/>
                </a:solidFill>
                <a:latin typeface="Calibri"/>
              </a:defRPr>
              <a:buChar char="●"/>
            </a:pPr>
            <a:r>
              <a:t>来週: マイナ保険証利用率を確認する</a:t>
            </a:r>
          </a:p>
          <a:p>
            <a:pPr>
              <a:defRPr sz="1200">
                <a:solidFill>
                  <a:srgbClr val="1A1A2E"/>
                </a:solidFill>
                <a:latin typeface="Calibri"/>
              </a:defRPr>
              <a:buChar char="●"/>
            </a:pPr>
            <a:r>
              <a:t>来月: BCP策定の現状を上司に確認する</a:t>
            </a:r>
          </a:p>
          <a:p>
            <a:pPr>
              <a:defRPr sz="1200">
                <a:solidFill>
                  <a:srgbClr val="1A1A2E"/>
                </a:solidFill>
                <a:latin typeface="Calibri"/>
              </a:defRPr>
              <a:buChar char="●"/>
            </a:pPr>
            <a:r>
              <a:t>6月まで: 自分の設定での算定変更を1つ把握する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