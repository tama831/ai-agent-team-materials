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548640"/>
            <a:ext cx="8229600" cy="5892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800" b="1">
                <a:solidFill>
                  <a:srgbClr val="F5F0E8"/>
                </a:solidFill>
                <a:latin typeface="Calibri"/>
              </a:defRPr>
            </a:pPr>
            <a:r>
              <a:rPr/>
              <a:t>研究倫理指針の一部改正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156207"/>
            <a:ext cx="8229600" cy="37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600" b="0">
                <a:solidFill>
                  <a:srgbClr val="E89B3B"/>
                </a:solidFill>
                <a:latin typeface="Calibri"/>
              </a:defRPr>
            </a:pPr>
            <a:r>
              <a:rPr/>
              <a:t>— 研究を始める前に知っておくべきこと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1554480"/>
            <a:ext cx="82296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7A8A9A"/>
                </a:solidFill>
                <a:latin typeface="Calibri"/>
              </a:defRPr>
            </a:pPr>
            <a:r>
              <a:rPr/>
              <a:t>研修医・指導医向け ｜ 15分 ｜ 2026-03-27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2194560"/>
            <a:ext cx="54864" cy="10972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475488" y="2194560"/>
            <a:ext cx="4919472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2267712"/>
            <a:ext cx="4663440" cy="95097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0">
                <a:solidFill>
                  <a:srgbClr val="1A1A2E"/>
                </a:solidFill>
                <a:latin typeface="Georgia"/>
              </a:defRPr>
            </a:pPr>
            <a:r>
              <a:rPr/>
              <a:t>2026年度、研究倫理指針が改正されます。</a:t>
            </a:r>
            <a:br/>
            <a:r>
              <a:rPr/>
              <a:t>文科省・厚労省・経産省の3省庁合同改正。</a:t>
            </a:r>
            <a:br/>
            <a:r>
              <a:rPr/>
              <a:t>パブリックコメント終了済み。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760720" y="2194560"/>
            <a:ext cx="301752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rPr/>
              <a:t>問い: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760720" y="2514600"/>
            <a:ext cx="30175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あなたが今書いている研究計画書、</a:t>
            </a:r>
            <a:br/>
            <a:r>
              <a:rPr/>
              <a:t>新指針で何が変わるか答えられますか？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事象1: 注意の喚起 ｜ ガニェの9教授事象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4E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rPr/>
              <a:t>今日の学習目標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82296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7A8A9A"/>
                </a:solidFill>
                <a:latin typeface="Calibri"/>
              </a:defRPr>
            </a:pPr>
            <a:r>
              <a:rPr/>
              <a:t>この15分の後、あなたは:</a:t>
            </a:r>
          </a:p>
        </p:txBody>
      </p:sp>
      <p:sp>
        <p:nvSpPr>
          <p:cNvPr id="5" name="Rectangle 4"/>
          <p:cNvSpPr/>
          <p:nvPr/>
        </p:nvSpPr>
        <p:spPr>
          <a:xfrm>
            <a:off x="457200" y="1645920"/>
            <a:ext cx="822960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94360" y="1719072"/>
            <a:ext cx="36576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E89B3B"/>
                </a:solidFill>
                <a:latin typeface="Calibri"/>
              </a:defRPr>
            </a:pPr>
            <a:r>
              <a:rPr/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05840" y="175564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rPr/>
              <a:t>説明できる — 改正で何が変わるのか、3つの柱を述べられる（理解）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423160"/>
            <a:ext cx="822960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594360" y="2496312"/>
            <a:ext cx="36576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B8A9"/>
                </a:solidFill>
                <a:latin typeface="Calibri"/>
              </a:defRPr>
            </a:pPr>
            <a:r>
              <a:rPr/>
              <a:t>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53288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rPr/>
              <a:t>分析できる — 自分の研究計画に影響する変更点を特定できる（分析）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200400"/>
            <a:ext cx="8229600" cy="6400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594360" y="3273552"/>
            <a:ext cx="36576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4EB8A9"/>
                </a:solidFill>
                <a:latin typeface="Calibri"/>
              </a:defRPr>
            </a:pPr>
            <a:r>
              <a:rPr/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310128"/>
            <a:ext cx="749807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0">
                <a:solidFill>
                  <a:srgbClr val="F5F0E8"/>
                </a:solidFill>
                <a:latin typeface="Calibri"/>
              </a:defRPr>
            </a:pPr>
            <a:r>
              <a:rPr/>
              <a:t>作成できる — 新指針に準拠した研究計画書の骨子を書き始められる（創造）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事象2: 学習目標を知らせる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まず確認 — 現行指針、どこまで知っていますか？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51560"/>
            <a:ext cx="27432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Quick Poll（挙手）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63040"/>
            <a:ext cx="45720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「人を対象とする生命科学・医学系研究に関する倫理指針」を読んだことがある人？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ICとオプトアウトの違いを説明できる人？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自分の研究で仮名加工情報を扱ったことがある人？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3017520"/>
            <a:ext cx="54864" cy="640080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Rectangle 6"/>
          <p:cNvSpPr/>
          <p:nvPr/>
        </p:nvSpPr>
        <p:spPr>
          <a:xfrm>
            <a:off x="475488" y="3017520"/>
            <a:ext cx="4645152" cy="640080"/>
          </a:xfrm>
          <a:prstGeom prst="rect">
            <a:avLst/>
          </a:prstGeom>
          <a:solidFill>
            <a:srgbClr val="FFFFFF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8" name="TextBox 7"/>
          <p:cNvSpPr txBox="1"/>
          <p:nvPr/>
        </p:nvSpPr>
        <p:spPr>
          <a:xfrm>
            <a:off x="594360" y="3090672"/>
            <a:ext cx="4389120" cy="4937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0">
                <a:solidFill>
                  <a:srgbClr val="1A1A2E"/>
                </a:solidFill>
                <a:latin typeface="Georgia"/>
              </a:defRPr>
            </a:pPr>
            <a:r>
              <a:rPr/>
              <a:t>今日は「同意のとり方」と「個人情報の種類」の2つを軸に、</a:t>
            </a:r>
            <a:br/>
            <a:r>
              <a:rPr/>
              <a:t>改正のポイントを整理します。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303520" y="1051560"/>
            <a:ext cx="36576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rPr/>
              <a:t>現行指針の基本構造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5303520" y="1417320"/>
          <a:ext cx="3474720" cy="1600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31520"/>
                <a:gridCol w="2743200"/>
              </a:tblGrid>
              <a:tr h="32004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章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内容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第1章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総則（目的・適用範囲・定義）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第2〜7章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研究実施の手続（計画書・IC・試料管理等）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第8章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倫理審査委員会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第9章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個人情報等・匿名加工情報の取扱い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事象3: 前提条件の想起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rPr/>
              <a:t>改正の3つの柱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1097280"/>
            <a:ext cx="73152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rPr/>
              <a:t>柱1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420367"/>
            <a:ext cx="256032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F0E8"/>
                </a:solidFill>
                <a:latin typeface="Calibri"/>
              </a:defRPr>
            </a:pPr>
            <a:r>
              <a:rPr/>
              <a:t>同意手続きの簡素化・一元化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761234"/>
            <a:ext cx="25603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rPr/>
              <a:t>改正前: IC手続きが複雑に分岐</a:t>
            </a:r>
            <a:br/>
            <a:r>
              <a:rPr/>
              <a:t>改正後: ICとオプトアウトに二元化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0" y="1097280"/>
            <a:ext cx="73152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rPr/>
              <a:t>柱2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0" y="1420367"/>
            <a:ext cx="25603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F0E8"/>
                </a:solidFill>
                <a:latin typeface="Calibri"/>
              </a:defRPr>
            </a:pPr>
            <a:r>
              <a:rPr/>
              <a:t>仮名加工情報・匿名加工情報の</a:t>
            </a:r>
            <a:br/>
            <a:r>
              <a:rPr/>
              <a:t>取扱い明確化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91840" y="1965960"/>
          <a:ext cx="274320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828800"/>
              </a:tblGrid>
              <a:tr h="320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種類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改正のポイント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仮名加工情報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自機関作成 → ICは必ずしも不要（オプトアウトで可）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匿名加工情報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「困難な場合」制限撤廃 → 幅広く利用可能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個人関連情報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個人情報保護法に沿った取扱いを明確化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400800" y="1097280"/>
            <a:ext cx="731520" cy="3047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200" b="1">
                <a:solidFill>
                  <a:srgbClr val="E89B3B"/>
                </a:solidFill>
                <a:latin typeface="Calibri"/>
              </a:defRPr>
            </a:pPr>
            <a:r>
              <a:rPr/>
              <a:t>柱3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1420367"/>
            <a:ext cx="237744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F5F0E8"/>
                </a:solidFill>
                <a:latin typeface="Calibri"/>
              </a:defRPr>
            </a:pPr>
            <a:r>
              <a:rPr/>
              <a:t>包括同意からオプトアウトへの</a:t>
            </a:r>
            <a:br/>
            <a:r>
              <a:rPr/>
              <a:t>移行ルール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0" y="1965960"/>
            <a:ext cx="237744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000" b="0">
                <a:solidFill>
                  <a:srgbClr val="7A8A9A"/>
                </a:solidFill>
                <a:latin typeface="Calibri"/>
              </a:defRPr>
            </a:pPr>
            <a:r>
              <a:rPr/>
              <a:t>改正前: 包括同意の扱いが不明確</a:t>
            </a:r>
            <a:br/>
            <a:r>
              <a:rPr/>
              <a:t>改正後: 包括同意 + オプトアウト</a:t>
            </a:r>
            <a:br/>
            <a:r>
              <a:rPr/>
              <a:t>= 新たなICなしで研究利用可能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事象4: 新しい内容の提示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4EB8A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82296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同意の3類型を整理する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05840"/>
          <a:ext cx="512064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05840"/>
                <a:gridCol w="1463040"/>
                <a:gridCol w="1371600"/>
                <a:gridCol w="1280160"/>
              </a:tblGrid>
              <a:tr h="320040"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同意の種類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何をするか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いつ使うか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改正での位置づけ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IC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研究内容を説明し書面同意を取得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侵襲を伴う研究、新規試料採取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引き続き必要な場面あり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オプトアウト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研究情報を公開し拒否機会を保障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既存試料・情報、仮名加工情報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改正で適用範囲が拡大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20040"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将来の研究利用含む広範な同意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バイオバンク、大規模コホート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8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単独では不十分→オプトアウトと組合せ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669280" y="1005840"/>
            <a:ext cx="32004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1A1A2E"/>
                </a:solidFill>
                <a:latin typeface="Calibri"/>
              </a:defRPr>
            </a:pPr>
            <a:r>
              <a:rPr/>
              <a:t>判断フローチャート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0" y="1371600"/>
            <a:ext cx="3200400" cy="2926080"/>
          </a:xfrm>
          <a:prstGeom prst="rect">
            <a:avLst/>
          </a:prstGeom>
          <a:solidFill>
            <a:srgbClr val="E8F0F0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7" name="TextBox 6"/>
          <p:cNvSpPr txBox="1"/>
          <p:nvPr/>
        </p:nvSpPr>
        <p:spPr>
          <a:xfrm>
            <a:off x="5806440" y="1463040"/>
            <a:ext cx="292608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1A1A2E"/>
                </a:solidFill>
                <a:latin typeface="Calibri"/>
              </a:defRPr>
            </a:pPr>
            <a:r>
              <a:rPr/>
              <a:t>研究で使うデータは？</a:t>
            </a:r>
            <a:br/>
            <a:br/>
            <a:r>
              <a:rPr/>
              <a:t>├ 新規採取・侵襲あり</a:t>
            </a:r>
            <a:br/>
            <a:r>
              <a:rPr/>
              <a:t>│  → IC必須</a:t>
            </a:r>
            <a:br/>
            <a:br/>
            <a:r>
              <a:rPr/>
              <a:t>├ 既存の試料・情報</a:t>
            </a:r>
            <a:br/>
            <a:r>
              <a:rPr/>
              <a:t>│  ├ 匿名加工情報 → 同意不要</a:t>
            </a:r>
            <a:br/>
            <a:r>
              <a:rPr/>
              <a:t>│  ├ 仮名加工（自機関）→ オプトアウト</a:t>
            </a:r>
            <a:br/>
            <a:r>
              <a:rPr/>
              <a:t>│  └ その他 → オプトアウトが基本</a:t>
            </a:r>
            <a:br/>
            <a:br/>
            <a:r>
              <a:rPr/>
              <a:t>└ 包括同意取得済み</a:t>
            </a:r>
            <a:br/>
            <a:r>
              <a:rPr/>
              <a:t>   → 範囲内特定 + オプトアウト → 利用可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事象5: 学習の指針を与える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rPr/>
              <a:t>ミニ研究計画書ワーク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39367"/>
            <a:ext cx="82296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E89B3B"/>
                </a:solidFill>
                <a:latin typeface="Calibri"/>
              </a:defRPr>
            </a:pPr>
            <a:r>
              <a:rPr/>
              <a:t>ペアワーク（4分）: シナリオを1つ選び、研究計画書の骨子を作成</a:t>
            </a:r>
          </a:p>
        </p:txBody>
      </p:sp>
      <p:sp>
        <p:nvSpPr>
          <p:cNvPr id="5" name="Rectangle 4"/>
          <p:cNvSpPr/>
          <p:nvPr/>
        </p:nvSpPr>
        <p:spPr>
          <a:xfrm>
            <a:off x="365760" y="1463040"/>
            <a:ext cx="2697480" cy="1554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6" name="TextBox 5"/>
          <p:cNvSpPr txBox="1"/>
          <p:nvPr/>
        </p:nvSpPr>
        <p:spPr>
          <a:xfrm>
            <a:off x="502920" y="1554480"/>
            <a:ext cx="242316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rPr/>
              <a:t>A: カルテ後方視的研究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1874519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0E8"/>
                </a:solidFill>
                <a:latin typeface="Calibri"/>
              </a:defRPr>
            </a:pPr>
            <a:r>
              <a:rPr/>
              <a:t>糖尿病患者の治療アウトカムを</a:t>
            </a:r>
            <a:br/>
            <a:r>
              <a:rPr/>
              <a:t>過去5年分のカルテデータで解析。</a:t>
            </a:r>
            <a:br/>
            <a:r>
              <a:rPr/>
              <a:t>対象: 自施設約500名。侵襲なし。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3246120" y="1463040"/>
            <a:ext cx="2697480" cy="1554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9" name="TextBox 8"/>
          <p:cNvSpPr txBox="1"/>
          <p:nvPr/>
        </p:nvSpPr>
        <p:spPr>
          <a:xfrm>
            <a:off x="3383279" y="1554480"/>
            <a:ext cx="242316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rPr/>
              <a:t>B: 多施設バイオバンク研究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83279" y="1874519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0E8"/>
                </a:solidFill>
                <a:latin typeface="Calibri"/>
              </a:defRPr>
            </a:pPr>
            <a:r>
              <a:rPr/>
              <a:t>バイオバンク保管の血液検体</a:t>
            </a:r>
            <a:br/>
            <a:r>
              <a:rPr/>
              <a:t>（包括同意取得済み）で</a:t>
            </a:r>
            <a:br/>
            <a:r>
              <a:rPr/>
              <a:t>新バイオマーカー探索。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126480" y="1463040"/>
            <a:ext cx="2697480" cy="1554480"/>
          </a:xfrm>
          <a:prstGeom prst="rect">
            <a:avLst/>
          </a:prstGeom>
          <a:solidFill>
            <a:srgbClr val="0D2B3E"/>
          </a:solidFill>
          <a:ln w="12700">
            <a:solidFill>
              <a:srgbClr val="4EB8A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12" name="TextBox 11"/>
          <p:cNvSpPr txBox="1"/>
          <p:nvPr/>
        </p:nvSpPr>
        <p:spPr>
          <a:xfrm>
            <a:off x="6263640" y="1554480"/>
            <a:ext cx="242316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rPr/>
              <a:t>C: AI診断支援ツール精度評価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63640" y="1874519"/>
            <a:ext cx="24231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900" b="0">
                <a:solidFill>
                  <a:srgbClr val="F5F0E8"/>
                </a:solidFill>
                <a:latin typeface="Calibri"/>
              </a:defRPr>
            </a:pPr>
            <a:r>
              <a:rPr/>
              <a:t>既存画像データ（匿名化済み）で</a:t>
            </a:r>
            <a:br/>
            <a:r>
              <a:rPr/>
              <a:t>AI診断ツールの精度を検証。</a:t>
            </a:r>
            <a:br/>
            <a:r>
              <a:rPr/>
              <a:t>他施設からのデータ提供あり。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3200400"/>
            <a:ext cx="1828800" cy="2870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100" b="1">
                <a:solidFill>
                  <a:srgbClr val="E89B3B"/>
                </a:solidFill>
                <a:latin typeface="Calibri"/>
              </a:defRPr>
            </a:pPr>
            <a:r>
              <a:rPr/>
              <a:t>記入シート項目: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3520440"/>
            <a:ext cx="8229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研究タイトル / 研究デザイン / 対象者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データの種類（個人情報/仮名加工/匿名加工）★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同意の方法（IC/オプトアウト/不要）★</a:t>
            </a:r>
          </a:p>
          <a:p>
            <a:pPr>
              <a:defRPr sz="1000">
                <a:solidFill>
                  <a:srgbClr val="F5F0E8"/>
                </a:solidFill>
                <a:latin typeface="Calibri"/>
              </a:defRPr>
              <a:buChar char="●"/>
            </a:pPr>
            <a:r>
              <a:rPr/>
              <a:t>改正で変わるポイント / 倫理審査の要否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事象6: 練習の機会を設ける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5F0E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457200"/>
            <a:ext cx="8229600" cy="482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200" b="1">
                <a:solidFill>
                  <a:srgbClr val="1A1A2E"/>
                </a:solidFill>
                <a:latin typeface="Calibri"/>
              </a:defRPr>
            </a:pPr>
            <a:r>
              <a:rPr/>
              <a:t>フィードバック — 各シナリオの答え合わせ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274320" y="1097280"/>
          <a:ext cx="8595360" cy="1463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71600"/>
                <a:gridCol w="2194560"/>
                <a:gridCol w="2194560"/>
                <a:gridCol w="2834640"/>
              </a:tblGrid>
              <a:tr h="365760"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シナリオ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データの種類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同意の方法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 b="1">
                          <a:solidFill>
                            <a:srgbClr val="F5F0E8"/>
                          </a:solidFill>
                          <a:latin typeface="Calibri"/>
                        </a:defRPr>
                      </a:pPr>
                      <a:r>
                        <a:t>改正で変わること</a:t>
                      </a:r>
                    </a:p>
                  </a:txBody>
                  <a:tcPr>
                    <a:solidFill>
                      <a:srgbClr val="0D2B3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A: カルテ後方視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既存個人情報→仮名加工推奨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オプトアウトでOK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現行ではIC必要だったケースが簡素化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B: バイオバンク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包括同意取得済みの試料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包括同意+オプトアウト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包括同意だけでは不十分が明確化</a:t>
                      </a:r>
                    </a:p>
                  </a:txBody>
                  <a:tcPr>
                    <a:solidFill>
                      <a:srgbClr val="F5F0E8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C: AI画像データ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匿名加工情報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同意不要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00">
                          <a:solidFill>
                            <a:srgbClr val="1A1A2E"/>
                          </a:solidFill>
                          <a:latin typeface="Calibri"/>
                        </a:defRPr>
                      </a:pPr>
                      <a:r>
                        <a:t>「困難な場合」制限が撤廃</a:t>
                      </a:r>
                    </a:p>
                  </a:txBody>
                  <a:tcPr>
                    <a:solidFill>
                      <a:srgbClr val="E8F0F0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365760" y="2926080"/>
            <a:ext cx="45720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1A1A2E"/>
                </a:solidFill>
                <a:latin typeface="Calibri"/>
              </a:defRPr>
            </a:pPr>
            <a:r>
              <a:rPr/>
              <a:t>振り返りの問い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3291840"/>
            <a:ext cx="82296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あなたが選んだシナリオで、改正前後で手続きはどう変わりましたか？</a:t>
            </a:r>
          </a:p>
          <a:p>
            <a:pPr>
              <a:defRPr sz="1200">
                <a:solidFill>
                  <a:srgbClr val="1A1A2E"/>
                </a:solidFill>
                <a:latin typeface="Calibri"/>
              </a:defRPr>
              <a:buChar char="●"/>
            </a:pPr>
            <a:r>
              <a:rPr/>
              <a:t>その変更は研究を進めやすくする方向？ 慎重にする方向？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65760" y="466344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事象7-8: フィードバック + 学習成果の評価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2B3E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365760" y="274320"/>
            <a:ext cx="2286000" cy="73152"/>
          </a:xfrm>
          <a:prstGeom prst="rect">
            <a:avLst/>
          </a:prstGeom>
          <a:solidFill>
            <a:srgbClr val="E89B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</a:p>
        </p:txBody>
      </p:sp>
      <p:sp>
        <p:nvSpPr>
          <p:cNvPr id="3" name="TextBox 2"/>
          <p:cNvSpPr txBox="1"/>
          <p:nvPr/>
        </p:nvSpPr>
        <p:spPr>
          <a:xfrm>
            <a:off x="365760" y="502920"/>
            <a:ext cx="8229600" cy="5181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2400" b="1">
                <a:solidFill>
                  <a:srgbClr val="F5F0E8"/>
                </a:solidFill>
                <a:latin typeface="Calibri"/>
              </a:defRPr>
            </a:pPr>
            <a:r>
              <a:rPr/>
              <a:t>持ち帰り — 明日から使える3つのアクション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1097280"/>
            <a:ext cx="4572000" cy="340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400" b="1">
                <a:solidFill>
                  <a:srgbClr val="E89B3B"/>
                </a:solidFill>
                <a:latin typeface="Calibri"/>
              </a:defRPr>
            </a:pPr>
            <a:r>
              <a:rPr/>
              <a:t>今日のまとめ: 3つの変更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508760"/>
            <a:ext cx="2743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9B3B"/>
                </a:solidFill>
                <a:latin typeface="Calibri"/>
              </a:defRPr>
            </a:pPr>
            <a:r>
              <a:rPr/>
              <a:t>1.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53619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同意手続きの二元化 — IC とオプトアウトの2本柱にシンプル化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2011680"/>
            <a:ext cx="2743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9B3B"/>
                </a:solidFill>
                <a:latin typeface="Calibri"/>
              </a:defRPr>
            </a:pPr>
            <a:r>
              <a:rPr/>
              <a:t>2.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03911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仮名加工情報のオプトアウト利用 — 自機関作成ならICなしでOK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2514600"/>
            <a:ext cx="274320" cy="4114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800" b="1">
                <a:solidFill>
                  <a:srgbClr val="E89B3B"/>
                </a:solidFill>
                <a:latin typeface="Calibri"/>
              </a:defRPr>
            </a:pPr>
            <a:r>
              <a:rPr/>
              <a:t>3.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542032"/>
            <a:ext cx="7772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0">
                <a:solidFill>
                  <a:srgbClr val="F5F0E8"/>
                </a:solidFill>
                <a:latin typeface="Calibri"/>
              </a:defRPr>
            </a:pPr>
            <a:r>
              <a:rPr/>
              <a:t>匿名加工情報の制限撤廃 — より幅広いデータ利活用が可能に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65760" y="3200400"/>
            <a:ext cx="4572000" cy="3225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1300" b="1">
                <a:solidFill>
                  <a:srgbClr val="4EB8A9"/>
                </a:solidFill>
                <a:latin typeface="Calibri"/>
              </a:defRPr>
            </a:pPr>
            <a:r>
              <a:rPr/>
              <a:t>あなたの次のアクション（1つ選んでください）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3566160"/>
            <a:ext cx="8229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☐"/>
            </a:pPr>
            <a:r>
              <a:rPr/>
              <a:t>今すぐ: 自分の研究の同意手続きが改正でどう変わるか確認する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☐"/>
            </a:pPr>
            <a:r>
              <a:rPr/>
              <a:t>今週中: 倫理審査委員会の事務局に新指針への移行スケジュールを問い合わせる</a:t>
            </a:r>
          </a:p>
          <a:p>
            <a:pPr>
              <a:defRPr sz="1100">
                <a:solidFill>
                  <a:srgbClr val="F5F0E8"/>
                </a:solidFill>
                <a:latin typeface="Calibri"/>
              </a:defRPr>
              <a:buChar char="☐"/>
            </a:pPr>
            <a:r>
              <a:rPr/>
              <a:t>来月: 新指針に準拠した研究計画書のドラフトを書いてみる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5760" y="4617720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defRPr sz="800" b="0">
                <a:solidFill>
                  <a:srgbClr val="7A8A9A"/>
                </a:solidFill>
                <a:latin typeface="Calibri"/>
              </a:defRPr>
            </a:pPr>
            <a:r>
              <a:rPr/>
              <a:t>※ 本教材は2026年3月27日時点の情報に基づいています。施行は2026年度中の予定。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