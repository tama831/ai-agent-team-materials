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200" b="1">
                <a:solidFill>
                  <a:srgbClr val="FFF8F0"/>
                </a:solidFill>
                <a:latin typeface="Calibri"/>
              </a:defRPr>
            </a:pPr>
            <a:r>
              <a:rPr/>
              <a:t>地域で支える緩和ケア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0">
                <a:solidFill>
                  <a:srgbClr val="E8A84C"/>
                </a:solidFill>
                <a:latin typeface="Calibri"/>
              </a:defRPr>
            </a:pPr>
            <a:r>
              <a:rPr/>
              <a:t>— 私たちにできること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94560"/>
            <a:ext cx="36576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200" b="0">
                <a:solidFill>
                  <a:srgbClr val="8A9E8C"/>
                </a:solidFill>
                <a:latin typeface="Calibri"/>
              </a:defRPr>
            </a:pPr>
            <a:r>
              <a:rPr/>
              <a:t>20分 | 全スタッフ向け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54864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ctangle 6"/>
          <p:cNvSpPr/>
          <p:nvPr/>
        </p:nvSpPr>
        <p:spPr>
          <a:xfrm>
            <a:off x="1024128" y="3200400"/>
            <a:ext cx="72054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43000" y="3273552"/>
            <a:ext cx="69494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Georgia"/>
              </a:defRPr>
            </a:pPr>
            <a:r>
              <a:rPr/>
              <a:t>「この方、最近つらそうだな」</a:t>
            </a:r>
            <a:br/>
            <a:r>
              <a:rPr/>
              <a:t>その「気づき」こそが、緩和ケアの出発点です。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000" b="1">
                <a:solidFill>
                  <a:srgbClr val="2D2D2D"/>
                </a:solidFill>
                <a:latin typeface="Calibri"/>
              </a:defRPr>
            </a:pPr>
            <a:r>
              <a:rPr/>
              <a:t>「緩和ケア」と聞いて何を思い浮かべますか？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731520"/>
          </a:xfrm>
          <a:prstGeom prst="rect">
            <a:avLst/>
          </a:prstGeom>
          <a:solidFill>
            <a:srgbClr val="F0F7F2"/>
          </a:solidFill>
          <a:ln w="12700">
            <a:solidFill>
              <a:srgbClr val="8A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8C"/>
                </a:solidFill>
                <a:latin typeface="Calibri"/>
              </a:defRPr>
            </a:pPr>
            <a:r>
              <a:rPr/>
              <a:t>✕ 終末期の人だけが受けるもの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114800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937760" y="1188720"/>
            <a:ext cx="3749039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3D6B5E"/>
                </a:solidFill>
                <a:latin typeface="Calibri"/>
              </a:defRPr>
            </a:pPr>
            <a:r>
              <a:rPr/>
              <a:t>○ 診断されたときから始められる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931920" cy="731520"/>
          </a:xfrm>
          <a:prstGeom prst="rect">
            <a:avLst/>
          </a:prstGeom>
          <a:solidFill>
            <a:srgbClr val="F0F7F2"/>
          </a:solidFill>
          <a:ln w="12700">
            <a:solidFill>
              <a:srgbClr val="8A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8C"/>
                </a:solidFill>
                <a:latin typeface="Calibri"/>
              </a:defRPr>
            </a:pPr>
            <a:r>
              <a:rPr/>
              <a:t>✕ がんの人だけが対象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11680"/>
            <a:ext cx="4114800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937760" y="2103120"/>
            <a:ext cx="3749039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3D6B5E"/>
                </a:solidFill>
                <a:latin typeface="Calibri"/>
              </a:defRPr>
            </a:pPr>
            <a:r>
              <a:rPr/>
              <a:t>○ 心不全、認知症、呼吸器疾患なども対象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3931920" cy="731520"/>
          </a:xfrm>
          <a:prstGeom prst="rect">
            <a:avLst/>
          </a:prstGeom>
          <a:solidFill>
            <a:srgbClr val="F0F7F2"/>
          </a:solidFill>
          <a:ln w="12700">
            <a:solidFill>
              <a:srgbClr val="8A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8C"/>
                </a:solidFill>
                <a:latin typeface="Calibri"/>
              </a:defRPr>
            </a:pPr>
            <a:r>
              <a:rPr/>
              <a:t>✕ 特別な専門家だけがやること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926080"/>
            <a:ext cx="4114800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4937760" y="3017520"/>
            <a:ext cx="3749039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3D6B5E"/>
                </a:solidFill>
                <a:latin typeface="Calibri"/>
              </a:defRPr>
            </a:pPr>
            <a:r>
              <a:rPr/>
              <a:t>○ すべての職種が関われる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3931920" cy="731520"/>
          </a:xfrm>
          <a:prstGeom prst="rect">
            <a:avLst/>
          </a:prstGeom>
          <a:solidFill>
            <a:srgbClr val="F0F7F2"/>
          </a:solidFill>
          <a:ln w="12700">
            <a:solidFill>
              <a:srgbClr val="8A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3657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8C"/>
                </a:solidFill>
                <a:latin typeface="Calibri"/>
              </a:defRPr>
            </a:pPr>
            <a:r>
              <a:rPr/>
              <a:t>✕ 「もう何もできない」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840480"/>
            <a:ext cx="4114800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937760" y="3931920"/>
            <a:ext cx="3749039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1">
                <a:solidFill>
                  <a:srgbClr val="3D6B5E"/>
                </a:solidFill>
                <a:latin typeface="Calibri"/>
              </a:defRPr>
            </a:pPr>
            <a:r>
              <a:rPr/>
              <a:t>○ 「できることはまだたくさんある」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FF8F0"/>
                </a:solidFill>
                <a:latin typeface="Calibri"/>
              </a:defRPr>
            </a:pPr>
            <a:r>
              <a:rPr/>
              <a:t>「つらさ」には4つの種類がある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114800" cy="137160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E8A84C"/>
                </a:solidFill>
                <a:latin typeface="Calibri"/>
              </a:defRPr>
            </a:pPr>
            <a:r>
              <a:rPr/>
              <a:t>身体的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FF8F0"/>
                </a:solidFill>
                <a:latin typeface="Calibri"/>
              </a:defRPr>
            </a:pPr>
            <a:r>
              <a:rPr/>
              <a:t>痛み、息苦しさ、だるさ、食欲不振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4114800" cy="137160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983480" y="118872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E8A84C"/>
                </a:solidFill>
                <a:latin typeface="Calibri"/>
              </a:defRPr>
            </a:pPr>
            <a:r>
              <a:rPr/>
              <a:t>精神的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64208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FF8F0"/>
                </a:solidFill>
                <a:latin typeface="Calibri"/>
              </a:defRPr>
            </a:pPr>
            <a:r>
              <a:rPr/>
              <a:t>不安、うつ、恐れ、怒り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4114800" cy="137160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E8A84C"/>
                </a:solidFill>
                <a:latin typeface="Calibri"/>
              </a:defRPr>
            </a:pPr>
            <a:r>
              <a:rPr/>
              <a:t>社会的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FF8F0"/>
                </a:solidFill>
                <a:latin typeface="Calibri"/>
              </a:defRPr>
            </a:pPr>
            <a:r>
              <a:rPr/>
              <a:t>仕事・お金の心配、家族への負担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743200"/>
            <a:ext cx="4114800" cy="1371600"/>
          </a:xfrm>
          <a:prstGeom prst="rect">
            <a:avLst/>
          </a:prstGeom>
          <a:solidFill>
            <a:srgbClr val="3D6B5E"/>
          </a:solidFill>
          <a:ln w="12700">
            <a:solidFill>
              <a:srgbClr val="E8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983480" y="2834640"/>
            <a:ext cx="3840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800" b="1">
                <a:solidFill>
                  <a:srgbClr val="E8A84C"/>
                </a:solidFill>
                <a:latin typeface="Calibri"/>
              </a:defRPr>
            </a:pPr>
            <a:r>
              <a:rPr/>
              <a:t>スピリチュアル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29184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FFF8F0"/>
                </a:solidFill>
                <a:latin typeface="Calibri"/>
              </a:defRPr>
            </a:pPr>
            <a:r>
              <a:rPr/>
              <a:t>「自分の人生に意味はあったのか」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54864" cy="36576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ectangle 16"/>
          <p:cNvSpPr/>
          <p:nvPr/>
        </p:nvSpPr>
        <p:spPr>
          <a:xfrm>
            <a:off x="566928" y="4572000"/>
            <a:ext cx="811987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85800" y="4645152"/>
            <a:ext cx="786384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Georgia"/>
              </a:defRPr>
            </a:pPr>
            <a:r>
              <a:rPr/>
              <a:t>すべての職種が、どれかの「つらさ」に関われる。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rPr/>
              <a:t>数字で見る「実装のギャップ」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2860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286000" cy="5892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3D6B5E"/>
                </a:solidFill>
                <a:latin typeface="Calibri"/>
              </a:defRPr>
            </a:pPr>
            <a:r>
              <a:rPr/>
              <a:t>64.8%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23444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rPr/>
              <a:t>の施設に緩和ケア相談体制あり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4592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8C"/>
                </a:solidFill>
                <a:latin typeface="Calibri"/>
              </a:defRPr>
            </a:pPr>
            <a:r>
              <a:rPr/>
              <a:t>でも実際の利用は年数回程度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2860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286000" cy="5892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3D6B5E"/>
                </a:solidFill>
                <a:latin typeface="Calibri"/>
              </a:defRPr>
            </a:pPr>
            <a:r>
              <a:rPr/>
              <a:t>~10%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2316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rPr/>
              <a:t>の施設が介護職に緩和教育を実施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3464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8C"/>
                </a:solidFill>
                <a:latin typeface="Calibri"/>
              </a:defRPr>
            </a:pPr>
            <a:r>
              <a:rPr/>
              <a:t>最も接する時間が長い職種なのに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22860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2286000" cy="58927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3D6B5E"/>
                </a:solidFill>
                <a:latin typeface="Calibri"/>
              </a:defRPr>
            </a:pPr>
            <a:r>
              <a:rPr/>
              <a:t>8-16h/日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1188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Calibri"/>
              </a:defRPr>
            </a:pPr>
            <a:r>
              <a:rPr/>
              <a:t>介護職が利用者と過ごす時間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2336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8C"/>
                </a:solidFill>
                <a:latin typeface="Calibri"/>
              </a:defRPr>
            </a:pPr>
            <a:r>
              <a:rPr/>
              <a:t>医師は数分〜数十分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FF8F0"/>
                </a:solidFill>
                <a:latin typeface="Calibri"/>
              </a:defRPr>
            </a:pPr>
            <a:r>
              <a:rPr/>
              <a:t>あなたの職種でできる緩和ケア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4114800" cy="1188720"/>
          </a:xfrm>
          <a:prstGeom prst="rect">
            <a:avLst/>
          </a:prstGeom>
          <a:solidFill>
            <a:srgbClr val="3D6B5E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A84C"/>
                </a:solidFill>
                <a:latin typeface="Calibri"/>
              </a:defRPr>
            </a:pPr>
            <a:r>
              <a:rPr/>
              <a:t>看護師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rPr/>
              <a:t>痛みや息苦しさの日常的な評価</a:t>
            </a:r>
            <a:br/>
            <a:r>
              <a:rPr/>
              <a:t>「つらさの寒暖計」の活用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188720"/>
            <a:ext cx="4114800" cy="1188720"/>
          </a:xfrm>
          <a:prstGeom prst="rect">
            <a:avLst/>
          </a:prstGeom>
          <a:solidFill>
            <a:srgbClr val="3D6B5E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983480" y="123444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A84C"/>
                </a:solidFill>
                <a:latin typeface="Calibri"/>
              </a:defRPr>
            </a:pPr>
            <a:r>
              <a:rPr/>
              <a:t>介護士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0020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rPr/>
              <a:t>入浴・食事中の痛み観察</a:t>
            </a:r>
            <a:br/>
            <a:r>
              <a:rPr/>
              <a:t>「いつもと違う」に気づく力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4114800" cy="1188720"/>
          </a:xfrm>
          <a:prstGeom prst="rect">
            <a:avLst/>
          </a:prstGeom>
          <a:solidFill>
            <a:srgbClr val="3D6B5E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A84C"/>
                </a:solidFill>
                <a:latin typeface="Calibri"/>
              </a:defRPr>
            </a:pPr>
            <a:r>
              <a:rPr/>
              <a:t>リハビリ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rPr/>
              <a:t>できることを増やすアプローチ</a:t>
            </a:r>
            <a:br/>
            <a:r>
              <a:rPr/>
              <a:t>生活の質を支えるリハ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651760"/>
            <a:ext cx="4114800" cy="1188720"/>
          </a:xfrm>
          <a:prstGeom prst="rect">
            <a:avLst/>
          </a:prstGeom>
          <a:solidFill>
            <a:srgbClr val="3D6B5E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983480" y="269748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E8A84C"/>
                </a:solidFill>
                <a:latin typeface="Calibri"/>
              </a:defRPr>
            </a:pPr>
            <a:r>
              <a:rPr/>
              <a:t>事務・相談員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063240"/>
            <a:ext cx="3840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rPr/>
              <a:t>制度利用の橋渡し</a:t>
            </a:r>
            <a:br/>
            <a:r>
              <a:rPr/>
              <a:t>家族の相談窓口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82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rPr/>
              <a:t>グループワーク（5分）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4864" cy="18288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1024128" y="1371600"/>
            <a:ext cx="72054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43000" y="1444752"/>
            <a:ext cx="6949440" cy="16824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Georgia"/>
              </a:defRPr>
            </a:pPr>
            <a:r>
              <a:rPr/>
              <a:t>隣の人と話し合ってください:</a:t>
            </a:r>
            <a:br/>
            <a:br/>
            <a:r>
              <a:rPr/>
              <a:t>「あなたが最近関わった方で、</a:t>
            </a:r>
            <a:br/>
            <a:r>
              <a:rPr/>
              <a:t> 何かもう少しできたかもしれない、</a:t>
            </a:r>
            <a:br/>
            <a:r>
              <a:rPr/>
              <a:t> と感じた場面はありますか？」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6400800" cy="304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8A9E8C"/>
                </a:solidFill>
                <a:latin typeface="Calibri"/>
              </a:defRPr>
            </a:pPr>
            <a:r>
              <a:rPr/>
              <a:t>正解を求めません。感じたことを大切にしてください。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FF8F0"/>
                </a:solidFill>
                <a:latin typeface="Calibri"/>
              </a:defRPr>
            </a:pPr>
            <a:r>
              <a:rPr/>
              <a:t>今日持って帰ってほしいこと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9144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3D6B5E"/>
                </a:solidFill>
                <a:latin typeface="Calibri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960120"/>
            <a:ext cx="68580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FF8F0"/>
                </a:solidFill>
                <a:latin typeface="Calibri"/>
              </a:defRPr>
            </a:pPr>
            <a:r>
              <a:rPr/>
              <a:t>緩和ケアは終末期だけじゃない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7160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rPr/>
              <a:t>診断時から、どの疾患でも、どの職種でも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9144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3D6B5E"/>
                </a:solidFill>
                <a:latin typeface="Calibri"/>
              </a:defRPr>
            </a:pPr>
            <a:r>
              <a:rPr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39"/>
            <a:ext cx="68580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FF8F0"/>
                </a:solidFill>
                <a:latin typeface="Calibri"/>
              </a:defRPr>
            </a:pPr>
            <a:r>
              <a:rPr/>
              <a:t>あなたの「気づき」が出発点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603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rPr/>
              <a:t>8-16時間一緒にいるあなただからこそ気づける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9144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3D6B5E"/>
                </a:solidFill>
                <a:latin typeface="Calibri"/>
              </a:defRPr>
            </a:pPr>
            <a:r>
              <a:rPr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37560"/>
            <a:ext cx="6858000" cy="37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FF8F0"/>
                </a:solidFill>
                <a:latin typeface="Calibri"/>
              </a:defRPr>
            </a:pPr>
            <a:r>
              <a:rPr/>
              <a:t>困ったら相談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49039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rPr/>
              <a:t>緩和ケアチーム・地域連携室に声をかけてください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389120"/>
            <a:ext cx="54864" cy="4572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Rectangle 16"/>
          <p:cNvSpPr/>
          <p:nvPr/>
        </p:nvSpPr>
        <p:spPr>
          <a:xfrm>
            <a:off x="1481328" y="4389120"/>
            <a:ext cx="62910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600200" y="4462272"/>
            <a:ext cx="6035040" cy="340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Georgia"/>
              </a:defRPr>
            </a:pPr>
            <a:r>
              <a:rPr/>
              <a:t>「自分には関係ない」→「自分にもできることがある」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