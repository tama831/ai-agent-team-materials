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5C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AF3E8"/>
                </a:solidFill>
                <a:latin typeface="Georgia"/>
              </a:defRPr>
            </a:pPr>
            <a:r>
              <a:t>AIが病院で</a:t>
            </a:r>
            <a:br/>
            <a:r>
              <a:t>どう使われ始めているか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47B56"/>
                </a:solidFill>
                <a:latin typeface="Calibri"/>
              </a:defRPr>
            </a:pPr>
            <a:r>
              <a:t>最新研究から見える未来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94560"/>
            <a:ext cx="1828800" cy="36576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E8A7E"/>
                </a:solidFill>
                <a:latin typeface="Calibri"/>
              </a:defRPr>
            </a:pPr>
            <a:r>
              <a:t>全スタッフ向け｜15分｜2026-03-21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A3A3A"/>
                </a:solidFill>
                <a:latin typeface="Georgia"/>
              </a:defRPr>
            </a:pPr>
            <a:r>
              <a:t>AIって結局なに？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7B56"/>
                </a:solidFill>
                <a:latin typeface="Calibri"/>
              </a:defRPr>
            </a:pPr>
            <a:r>
              <a:t>まずはここから！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A3A3A"/>
                </a:solidFill>
                <a:latin typeface="Calibri"/>
              </a:defRPr>
            </a:pPr>
            <a:r>
              <a:t>💡 「ChatGPTに質問したことがある人？」→ きっと多い</a:t>
            </a:r>
            <a:br/>
            <a:r>
              <a:t>💡 「AIに仕事を任せたことがある人？」→ きっと少ない</a:t>
            </a:r>
            <a:br/>
            <a:r>
              <a:t>→ ここが今日のテーマ！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7B56"/>
                </a:solidFill>
                <a:latin typeface="Calibri"/>
              </a:defRPr>
            </a:pPr>
            <a:r>
              <a:t>今日のゴール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A3A3A"/>
                </a:solidFill>
                <a:latin typeface="Calibri"/>
              </a:defRPr>
              <a:buChar char="●"/>
            </a:pPr>
            <a:r>
              <a:t>「AIエージェント」がどういうものかイメージできる</a:t>
            </a:r>
          </a:p>
          <a:p>
            <a:pPr>
              <a:defRPr sz="1400">
                <a:solidFill>
                  <a:srgbClr val="3A3A3A"/>
                </a:solidFill>
                <a:latin typeface="Calibri"/>
              </a:defRPr>
              <a:buChar char="●"/>
            </a:pPr>
            <a:r>
              <a:t>医療AIが自分の業務にどう関わるか考えられる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A3A3A"/>
                </a:solidFill>
                <a:latin typeface="Georgia"/>
              </a:defRPr>
            </a:pPr>
            <a:r>
              <a:t>「質問に答えるAI」から</a:t>
            </a:r>
            <a:br/>
            <a:r>
              <a:t>「仕事をするAI」へ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05840"/>
          <a:ext cx="76809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017520"/>
                <a:gridCol w="301752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AF3E8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7A5C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AF3E8"/>
                          </a:solidFill>
                          <a:latin typeface="Calibri"/>
                        </a:defRPr>
                      </a:pPr>
                      <a:r>
                        <a:t>今までのAI</a:t>
                      </a:r>
                    </a:p>
                  </a:txBody>
                  <a:tcPr>
                    <a:solidFill>
                      <a:srgbClr val="7A5C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AF3E8"/>
                          </a:solidFill>
                          <a:latin typeface="Calibri"/>
                        </a:defRPr>
                      </a:pPr>
                      <a:r>
                        <a:t>これからのAI</a:t>
                      </a:r>
                    </a:p>
                  </a:txBody>
                  <a:tcPr>
                    <a:solidFill>
                      <a:srgbClr val="7A5C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例え</a:t>
                      </a:r>
                    </a:p>
                  </a:txBody>
                  <a:tcPr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辞書・百科事典</a:t>
                      </a:r>
                    </a:p>
                  </a:txBody>
                  <a:tcPr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新人スタッフ</a:t>
                      </a:r>
                    </a:p>
                  </a:txBody>
                  <a:tcPr>
                    <a:solidFill>
                      <a:srgbClr val="F5EEE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できること</a:t>
                      </a:r>
                    </a:p>
                  </a:txBody>
                  <a:tcPr>
                    <a:solidFill>
                      <a:srgbClr val="FA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聞いたことに答える</a:t>
                      </a:r>
                    </a:p>
                  </a:txBody>
                  <a:tcPr>
                    <a:solidFill>
                      <a:srgbClr val="FA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指示を受けて自分で動く</a:t>
                      </a:r>
                    </a:p>
                  </a:txBody>
                  <a:tcPr>
                    <a:solidFill>
                      <a:srgbClr val="FAF3E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イメージ</a:t>
                      </a:r>
                    </a:p>
                  </a:txBody>
                  <a:tcPr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「○○って何？」→回答</a:t>
                      </a:r>
                    </a:p>
                  </a:txBody>
                  <a:tcPr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「業務お願い」→自分で判断</a:t>
                      </a:r>
                    </a:p>
                  </a:txBody>
                  <a:tcPr>
                    <a:solidFill>
                      <a:srgbClr val="F5EEE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2651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7B56"/>
                </a:solidFill>
                <a:latin typeface="Calibri"/>
              </a:defRPr>
            </a:pPr>
            <a:r>
              <a:t>身近な例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A3A3A"/>
                </a:solidFill>
                <a:latin typeface="Calibri"/>
              </a:defRPr>
              <a:buChar char="●"/>
            </a:pPr>
            <a:r>
              <a:t>「検査結果をチェックして異常値があったら教えて」</a:t>
            </a:r>
          </a:p>
          <a:p>
            <a:pPr>
              <a:defRPr sz="1200">
                <a:solidFill>
                  <a:srgbClr val="3A3A3A"/>
                </a:solidFill>
                <a:latin typeface="Calibri"/>
              </a:defRPr>
              <a:buChar char="●"/>
            </a:pPr>
            <a:r>
              <a:t>「退院サマリーの下書きを作って」</a:t>
            </a:r>
          </a:p>
          <a:p>
            <a:pPr>
              <a:defRPr sz="1200">
                <a:solidFill>
                  <a:srgbClr val="3A3A3A"/>
                </a:solidFill>
                <a:latin typeface="Calibri"/>
              </a:defRPr>
              <a:buChar char="●"/>
            </a:pPr>
            <a:r>
              <a:t>「患者データを集計してグラフにして」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A3A3A"/>
                </a:solidFill>
                <a:latin typeface="Georgia"/>
              </a:defRPr>
            </a:pPr>
            <a:r>
              <a:t>チームで働くAI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E8A7E"/>
                </a:solidFill>
                <a:latin typeface="Calibri"/>
              </a:defRPr>
            </a:pPr>
            <a:r>
              <a:t>Mount Sinai病院の研究: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7B56"/>
                </a:solidFill>
                <a:latin typeface="Georgia"/>
              </a:defRPr>
            </a:pPr>
            <a:r>
              <a:t>「AIも、1人より「チーム」の方が良い仕事をする」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50292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AF3E8"/>
                          </a:solidFill>
                          <a:latin typeface="Calibri"/>
                        </a:defRPr>
                      </a:pPr>
                      <a:r>
                        <a:t>チーム医療</a:t>
                      </a:r>
                    </a:p>
                  </a:txBody>
                  <a:tcPr>
                    <a:solidFill>
                      <a:srgbClr val="7A5C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AF3E8"/>
                          </a:solidFill>
                          <a:latin typeface="Calibri"/>
                        </a:defRPr>
                      </a:pPr>
                      <a:r>
                        <a:t>チームAI</a:t>
                      </a:r>
                    </a:p>
                  </a:txBody>
                  <a:tcPr>
                    <a:solidFill>
                      <a:srgbClr val="7A5C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医師が方針を決める</a:t>
                      </a:r>
                    </a:p>
                  </a:txBody>
                  <a:tcPr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リーダーAIが全体を管理</a:t>
                      </a:r>
                    </a:p>
                  </a:txBody>
                  <a:tcPr>
                    <a:solidFill>
                      <a:srgbClr val="F5EEE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看護師が観察・ケア</a:t>
                      </a:r>
                    </a:p>
                  </a:txBody>
                  <a:tcPr>
                    <a:solidFill>
                      <a:srgbClr val="FA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データ確認AIが異常を検知</a:t>
                      </a:r>
                    </a:p>
                  </a:txBody>
                  <a:tcPr>
                    <a:solidFill>
                      <a:srgbClr val="FAF3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薬剤師が薬をチェック</a:t>
                      </a:r>
                    </a:p>
                  </a:txBody>
                  <a:tcPr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薬剤チェックAIが確認</a:t>
                      </a:r>
                    </a:p>
                  </a:txBody>
                  <a:tcPr>
                    <a:solidFill>
                      <a:srgbClr val="F5EEE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事務が書類を整理</a:t>
                      </a:r>
                    </a:p>
                  </a:txBody>
                  <a:tcPr>
                    <a:solidFill>
                      <a:srgbClr val="FA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書類AIが記録を整理</a:t>
                      </a:r>
                    </a:p>
                  </a:txBody>
                  <a:tcPr>
                    <a:solidFill>
                      <a:srgbClr val="FAF3E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035040" y="1463040"/>
            <a:ext cx="2560320" cy="548640"/>
          </a:xfrm>
          <a:prstGeom prst="rect">
            <a:avLst/>
          </a:prstGeom>
          <a:solidFill>
            <a:srgbClr val="7A5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48132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7B56"/>
                </a:solidFill>
                <a:latin typeface="Calibri"/>
              </a:defRPr>
            </a:pPr>
            <a:r>
              <a:t>正確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48132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3E8"/>
                </a:solidFill>
                <a:latin typeface="Calibri"/>
              </a:defRPr>
            </a:pPr>
            <a:r>
              <a:t>チームAI &gt; 1人のAI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103120"/>
            <a:ext cx="2560320" cy="548640"/>
          </a:xfrm>
          <a:prstGeom prst="rect">
            <a:avLst/>
          </a:prstGeom>
          <a:solidFill>
            <a:srgbClr val="7A5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12140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7B56"/>
                </a:solidFill>
                <a:latin typeface="Calibri"/>
              </a:defRPr>
            </a:pPr>
            <a:r>
              <a:t>65分の1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12140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3E8"/>
                </a:solidFill>
                <a:latin typeface="Calibri"/>
              </a:defRPr>
            </a:pPr>
            <a:r>
              <a:t>コスト削減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743200"/>
            <a:ext cx="2560320" cy="548640"/>
          </a:xfrm>
          <a:prstGeom prst="rect">
            <a:avLst/>
          </a:prstGeom>
          <a:solidFill>
            <a:srgbClr val="7A5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76148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7B56"/>
                </a:solidFill>
                <a:latin typeface="Calibri"/>
              </a:defRPr>
            </a:pPr>
            <a:r>
              <a:t>品質維持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761488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AF3E8"/>
                </a:solidFill>
                <a:latin typeface="Calibri"/>
              </a:defRPr>
            </a:pPr>
            <a:r>
              <a:t>仕事が増えても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7B56"/>
                </a:solidFill>
                <a:latin typeface="Calibri"/>
              </a:defRPr>
            </a:pPr>
            <a:r>
              <a:t>まさに、チーム医療のAI版！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A3A3A"/>
                </a:solidFill>
                <a:latin typeface="Georgia"/>
              </a:defRPr>
            </a:pPr>
            <a:r>
              <a:t>AIは味方です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7680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7B56"/>
                </a:solidFill>
                <a:latin typeface="Calibri"/>
              </a:defRPr>
            </a:pPr>
            <a:r>
              <a:t>⚠️ よくある心配とお答え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A3A3A"/>
                </a:solidFill>
                <a:latin typeface="Calibri"/>
              </a:defRPr>
            </a:pPr>
            <a:r>
              <a:t>「仕事を奪われるのでは？」</a:t>
            </a:r>
            <a:br/>
            <a:r>
              <a:t>→ 電子カルテ導入で人が不要になりましたか？むしろ人間にしかできない</a:t>
            </a:r>
            <a:br/>
            <a:r>
              <a:t>  業務に集中できるようになった。AIも同じです。</a:t>
            </a:r>
            <a:br/>
            <a:br/>
            <a:r>
              <a:t>「信頼できるの？」</a:t>
            </a:r>
            <a:br/>
            <a:r>
              <a:t>→ だからこそ「チーム」が大事。1つのAIが間違えても、他がチェックする。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A3A3A"/>
                </a:solidFill>
                <a:latin typeface="Calibri"/>
              </a:defRPr>
            </a:pPr>
            <a:r>
              <a:t>AIが得意なこと → 定型作業、データ処理、パターン検出</a:t>
            </a:r>
            <a:br/>
            <a:r>
              <a:t>人間が得意なこと → 共感、判断、患者さんとの対話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5C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AF3E8"/>
                </a:solidFill>
                <a:latin typeface="Georgia"/>
              </a:defRPr>
            </a:pPr>
            <a:r>
              <a:t>みんなで考えよう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7B56"/>
                </a:solidFill>
                <a:latin typeface="Calibri"/>
              </a:defRPr>
            </a:pPr>
            <a:r>
              <a:t>グループワーク｜3分間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4864" cy="1005840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188720"/>
            <a:ext cx="757123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A7BE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261872"/>
            <a:ext cx="73152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A3A3A"/>
                </a:solidFill>
                <a:latin typeface="Georgia"/>
              </a:defRPr>
            </a:pPr>
            <a:r>
              <a:t>あなたの業務の中で、</a:t>
            </a:r>
            <a:br/>
            <a:r>
              <a:t>「これ、AIに手伝ってもらえたら助かるなぁ」</a:t>
            </a:r>
            <a:br/>
            <a:r>
              <a:t>と思うことはありますか？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7B56"/>
                </a:solidFill>
                <a:latin typeface="Calibri"/>
              </a:defRPr>
            </a:pPr>
            <a:r>
              <a:t>考えるヒント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AF3E8"/>
                </a:solidFill>
                <a:latin typeface="Calibri"/>
              </a:defRPr>
              <a:buChar char="●"/>
            </a:pPr>
            <a:r>
              <a:t>毎日繰り返している定型作業は？</a:t>
            </a:r>
          </a:p>
          <a:p>
            <a:pPr>
              <a:defRPr sz="1300">
                <a:solidFill>
                  <a:srgbClr val="FAF3E8"/>
                </a:solidFill>
                <a:latin typeface="Calibri"/>
              </a:defRPr>
              <a:buChar char="●"/>
            </a:pPr>
            <a:r>
              <a:t>「もう1人いたらなぁ」と思う場面は？</a:t>
            </a:r>
          </a:p>
          <a:p>
            <a:pPr>
              <a:defRPr sz="1300">
                <a:solidFill>
                  <a:srgbClr val="FAF3E8"/>
                </a:solidFill>
                <a:latin typeface="Calibri"/>
              </a:defRPr>
              <a:buChar char="●"/>
            </a:pPr>
            <a:r>
              <a:t>データの入力や転記で時間を取られることは？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A3A3A"/>
                </a:solidFill>
                <a:latin typeface="Georgia"/>
              </a:defRPr>
            </a:pPr>
            <a:r>
              <a:t>これからどうなる？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822960"/>
          <a:ext cx="76809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39496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AF3E8"/>
                          </a:solidFill>
                          <a:latin typeface="Calibri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7A5C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AF3E8"/>
                          </a:solidFill>
                          <a:latin typeface="Calibri"/>
                        </a:defRPr>
                      </a:pPr>
                      <a:r>
                        <a:t>予想される変化</a:t>
                      </a:r>
                    </a:p>
                  </a:txBody>
                  <a:tcPr>
                    <a:solidFill>
                      <a:srgbClr val="7A5C4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今〜1年後</a:t>
                      </a:r>
                    </a:p>
                  </a:txBody>
                  <a:tcPr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書類作成・データ集計の補助が普及</a:t>
                      </a:r>
                    </a:p>
                  </a:txBody>
                  <a:tcPr>
                    <a:solidFill>
                      <a:srgbClr val="F5EEE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1〜3年後</a:t>
                      </a:r>
                    </a:p>
                  </a:txBody>
                  <a:tcPr>
                    <a:solidFill>
                      <a:srgbClr val="FA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検査結果の自動チェック・アラートが標準化</a:t>
                      </a:r>
                    </a:p>
                  </a:txBody>
                  <a:tcPr>
                    <a:solidFill>
                      <a:srgbClr val="FAF3E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3〜5年後</a:t>
                      </a:r>
                    </a:p>
                  </a:txBody>
                  <a:tcPr>
                    <a:solidFill>
                      <a:srgbClr val="F5EE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A3A3A"/>
                          </a:solidFill>
                          <a:latin typeface="Calibri"/>
                        </a:defRPr>
                      </a:pPr>
                      <a:r>
                        <a:t>チームAIが日常的に業務を支援</a:t>
                      </a:r>
                    </a:p>
                  </a:txBody>
                  <a:tcPr>
                    <a:solidFill>
                      <a:srgbClr val="F5EEE5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731520" y="2468880"/>
            <a:ext cx="7680960" cy="36576"/>
          </a:xfrm>
          <a:prstGeom prst="rect">
            <a:avLst/>
          </a:prstGeom>
          <a:solidFill>
            <a:srgbClr val="D4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A3A3A"/>
                </a:solidFill>
                <a:latin typeface="Georgia"/>
              </a:defRPr>
            </a:pPr>
            <a:r>
              <a:t>テクノロジーは変わっても、</a:t>
            </a:r>
            <a:br/>
            <a:r>
              <a:t>患者さんの手を握れるのは、あなただけです。</a:t>
            </a:r>
            <a:br/>
            <a:br/>
            <a:r>
              <a:t>AIが得意なことはAIに。</a:t>
            </a:r>
            <a:br/>
            <a:r>
              <a:t>人間にしかできないことに、もっと時間を使えるように。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E8A7E"/>
                </a:solidFill>
                <a:latin typeface="Calibri"/>
              </a:defRPr>
            </a:pPr>
            <a:r>
              <a:t>📎 参考文献リスト（別紙配布）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