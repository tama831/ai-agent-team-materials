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AI時代の臨床推論 — 使いこなす力と疑う力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対象: 研修医・専攻医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時間: 45分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日付: 2026-03-26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IDモデル: ガニェの9教授事象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ブルーム: 理解 → 分析 → 評価 → 創造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Slide 1: 世界はもうこのフェーズにいる（0-3分）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66385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66385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517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80%超の医師がAIを臨床で活用している。</a:t>
            </a:r>
            <a:br/>
            <a:r>
              <a:t>76%がAIで診療能力が向上したと実感。</a:t>
            </a:r>
            <a:br/>
            <a:r>
              <a:t>— AMA調査 / IME 2026（マイアミ大学, 2026年3月）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2397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t>しかし同時に——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44014"/>
            <a:ext cx="54864" cy="115001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44014"/>
            <a:ext cx="7662672" cy="115001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7166"/>
            <a:ext cx="7406640" cy="1003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AIを使った医師の診断精度は、AI単独より低かった。</a:t>
            </a:r>
            <a:br/>
            <a:r>
              <a:t>GPT-4 単独: 90%</a:t>
            </a:r>
            <a:br/>
            <a:r>
              <a:t>医師 + GPT-4: 76%</a:t>
            </a:r>
            <a:br/>
            <a:r>
              <a:t>医師 単独: 74%</a:t>
            </a:r>
            <a:br/>
            <a:r>
              <a:t>— Frontiers in Digital Health,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118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t>問い: AIは味方か、それとも新しい罠か？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Slide 2: 今日の学習目標（3-4分）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この45分の後、あなたは: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説明できる — AIの3世代とマルチエージェントの基本概念（理解）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分析できる — AIが持つ認知バイアスの種類とメカニズム（分析）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判断できる — AIを使うべき場面と、使うと逆効果になる場面（評価）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提案できる — 自分の研修にAIをどう組み込むかの具体策（創造）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Slide 3: 前提確認 — あなたとAIの関係（4-6分）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AI（ChatGPTやClaudeなど）を臨床で使ったことがある人？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使ったとき、AIの答えに引きずられた経験がある人？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逆に「AIは間違っている」と確信して無視した経験がある人？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どちらの反応も認知バイアスの一種です。</a:t>
            </a:r>
            <a:br/>
            <a:r>
              <a:t>今日はこの「引きずられる力」と「疑う力」の両方を扱います。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Slide 4: AIの進化全体像 — 3世代からマルチエージェントへ（6-10分）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世代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医療での例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第1世代: ルールベース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人間がルールを書く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処方チェックシステム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第2世代: 生成AI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1つのAIが何でもやる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ChatGPTに症例を聞く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第3世代: エージェントAI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専門AIチームが協力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複数AIが分担して診断支援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2331720"/>
            <a:ext cx="54864" cy="12606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7662672" cy="1260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04872"/>
            <a:ext cx="7406640" cy="1114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  [Supervisor Agent]（総合医）</a:t>
            </a:r>
            <a:br/>
            <a:r>
              <a:t>    ├── [Agent A]（検査データ専門）</a:t>
            </a:r>
            <a:br/>
            <a:r>
              <a:t>    ├── [Agent B]（画像診断専門）</a:t>
            </a:r>
            <a:br/>
            <a:r>
              <a:t>    ├── [Agent C]（薬剤相互作用専門）</a:t>
            </a:r>
            <a:br/>
            <a:r>
              <a:t>    └── [Agent D]（ガイドライン照合専門）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29532"/>
          <a:ext cx="777240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発見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精度向上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マルチエージェントが単一AIを統計的に有意に上回る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Slide 5: 臨床実装の最前線 — BJC Healthcareの事例（10-12分）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機関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BJC Healthcare ACO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データ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35,000人超の患者データで訓練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機能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高リスク患者の自動選定 + 終末期ケア計画ワークフロー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学習方式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教師あり学習 + 臨床医フィードバックによる強化学習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デプロイ後も継続的に学習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8803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human-in-the-loop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human-on-the-loop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AIが提案 → 人間が毎回承認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AIが自律実行 → 人間が監督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安全だが遅い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速いが信頼性の設計が重要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現在の多くの医療AI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BJC等の先進事例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389120"/>
            <a:ext cx="54864" cy="1828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4389120"/>
            <a:ext cx="76626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62272"/>
            <a:ext cx="7406640" cy="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「人間がすべてチェックしなくてもいいAI」は、医療でどこまで許されるか？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Slide 6: しかしAIにはバイアスがある（12-16分）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t>1. アンカリングバイアス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最初に得た情報に固執し、後の情報を過小評価する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例: 「胸痛の30歳男性」→ 筋骨格系と決めつけ → 心筋炎を見逃す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t>2. プレマチュアクロージャー（早期閉鎖）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十分な情報収集前に診断を確定してしまう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例: 発熱+咳 → 「風邪でしょう」→ 肺炎を見逃す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t>3. 利用可能性ヒューリスティクス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最近経験した症例に引きずられる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59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例: 先週コロナ患者を10人診た → 今日の発熱患者もコロナだろう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51959"/>
            <a:ext cx="54864" cy="3200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251959"/>
            <a:ext cx="766267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25112"/>
            <a:ext cx="74066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共通点: ワーキングメモリの制約（同時に4-5項目しか処理できない）が根本原因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Slide 7: 新発見 — AIそのものがバイアスを「増幅」する（16-19分）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バイアスの種類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人間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LLM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不作為バイアス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あり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人間より強い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「何もしない」を過度に推奨する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フレーミング効果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あり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顕著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問いの立て方で答えが変わる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あり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確認済み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最初の情報に引きずられる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233172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終末期ケア: AIが「積極的治療介入しない」を過度に推奨する可能性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救急判断: 問診の聞き方（フレーミング）でAIの推奨が変わる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鑑別診断: 最初に提示した仮説にAIが引きずられる（アンカリング）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37559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3337559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10711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AIを「答え合わせ」に使うと、自分の仮説をAIに確認させるだけになる。</a:t>
            </a:r>
            <a:br/>
            <a:r>
              <a:t>→ 医師のアンカリング + AIのアンカリング = バイアスの二重増幅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Slide 8: 「使いこなす力」— AIの3つの正しい使い方（19-22分）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「この症例で見落としている鑑別は？」と構造化を促す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バイアス対策: プレマチュアクロージャーの防止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「なぜその診断だと思いますか？他の可能性は？」と問いを立てる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バイアス対策: アンカリングの自覚を促す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t>「あなたの診断が間違っているとしたら、最も危険な見逃しは？」と反論する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バイアス対策: 利用可能性ヒューリスティクスの打破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54864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3154680"/>
            <a:ext cx="76626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27832"/>
            <a:ext cx="74066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キーインサイト: AIは「答えを出す道具」ではなく「問いを立てる鏡」として使うと効果的。</a:t>
            </a:r>
            <a:br/>
            <a:r>
              <a:t>PNAS研究を踏まえると、AIに「判断」を委ねるのではなく「思考の拡張」に使うことが重要。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Slide 9: ハンズオン体験（22-28分）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t>症例: 45歳女性、2週間前からの倦怠感と微熱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手順: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Aさん（2分）: ChatGPT/Claudeに「患者役」をさせて問診する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Bさん（2分）: AIを「ソクラテス的ガイド」として使い、自分の鑑別診断を検証する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比較（2分）: 体験を比較 — どちらが「考えさせられた」か？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プロンプト例（患者役）: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80360"/>
            <a:ext cx="54864" cy="65714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880360"/>
            <a:ext cx="7662672" cy="65714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53512"/>
            <a:ext cx="7406640" cy="510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あなたは45歳女性の患者です。2週間前からの倦怠感と微熱で</a:t>
            </a:r>
            <a:br/>
            <a:r>
              <a:t>受診しました。医学生の問診練習に協力してください。</a:t>
            </a:r>
            <a:br/>
            <a:r>
              <a:t>質問されるまで情報を出さないでください。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7466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プロンプト例（ソクラテス的ガイド）: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40428"/>
            <a:ext cx="54864" cy="531571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040428"/>
            <a:ext cx="7662672" cy="531571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3580"/>
            <a:ext cx="7406640" cy="385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私は研修医です。45歳女性、倦怠感と微熱の患者を診ています。</a:t>
            </a:r>
            <a:br/>
            <a:r>
              <a:t>私の鑑別診断に対して、見落としている可能性を</a:t>
            </a:r>
            <a:br/>
            <a:r>
              <a:t>ソクラテス的に問いかけてください。答えは教えないでください。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Slide 10: 「疑う力」— AI仮想患者の構造的限界（28-31分）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機能的忠実度（臨床精度）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会話的忠実度（人間らしさ）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評価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症状・検査値は正しい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自然な間、感情表現が不自然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多疾患対応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苦手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さらに低下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2331720"/>
            <a:ext cx="54864" cy="155234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7662672" cy="1552346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04872"/>
            <a:ext cx="7406640" cy="1406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Stage 1          Stage 2          Stage 3       Stage 4</a:t>
            </a:r>
            <a:br/>
            <a:r>
              <a:t>安定・恒常性  →  創発・適応  →  カオス  →  不連続的変容</a:t>
            </a:r>
            <a:br/>
            <a:r>
              <a:t>━━━━━━━━━      ━━━━━━━━━      ━━━━━━      ━━━━━━━━━━━</a:t>
            </a:r>
            <a:br/>
            <a:r>
              <a:t>予測可能        パターンが       予測不能     根本的な</a:t>
            </a:r>
            <a:br/>
            <a:r>
              <a:t>ルールベース    動的に変化       非線形       パラダイム転換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021226"/>
          <a:ext cx="777240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Stage 1（安定）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Stage 2（創発）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Slide 11: 統合・使い分けマトリクス（31-34分）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場面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AIの役割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推奨度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根拠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OSCE事前練習（単一疾患）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模擬患者の代替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推奨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Stage 1、機能的忠実度が高い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鑑別診断の網羅性チェック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Red Team Partner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推奨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バイアス打破に有効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EBM文献の構造化要約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Framework Coach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推奨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情報の構造化はAIの得意領域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複雑症例の臨床判断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答え合わせ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非推奨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バイアスの二重増幅リスク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多疾患患者のシミュレーション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模擬患者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時期尚早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会話的忠実度の限界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患者への共感的対応の練習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模擬患者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不十分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Stage 2以降、人間の指導が不可欠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終末期ケアの意思決定支援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判断支援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要注意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不作為バイアスのリスク（PNAS）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3428999"/>
            <a:ext cx="54864" cy="626973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3428999"/>
            <a:ext cx="7662672" cy="626973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02151"/>
            <a:ext cx="7406640" cy="480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原則1（使いこなす力）: Stage 1の課題にはAIを積極的に活用する。3つの役割（Coach/Guide/Red Team）で使う。</a:t>
            </a:r>
            <a:br/>
            <a:r>
              <a:t>原則2（疑う力）: Stage 2以降の課題では、AIの出力を批判的に読む。特に「何もしない」という推奨には要警戒。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Slide 12: ディスカッション（34-40分）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t>問い（1つ選んでください）: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体験の振り返り: ハンズオンで「患者役AI」「ソクラテス的ガイドAI」「Red Team AI」のうち、どれが最も学びになりましたか？ なぜ？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PNAS研究の臨床的含意: AIが「何もしない」を過度に推奨する（不作為バイアス）ことは、あなたの臨床でどんな場面で問題になりそうですか？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未来の研修像: 80%超の医師がAIを使う時代に、研修医教育はどう変わるべきですか？「AIリテラシー」はOSCEに入れるべき？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Slide 13: 振り返りとアクション（40-45分）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1. 世界は「使うかどうか」から「どう教育に組み込むか」へ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80%超の医師がAI活用（IME 2026）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マルチエージェントAIが臨床実装段階（Mount Sinai, BJC Healthcare）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2. AIは答えを出す道具ではなく、問いを立てる鏡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受動的に使うとバイアスを二重増幅する（Frontiers + PNAS）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3つの役割（Coach/Guide/Red Team）で能動的に使う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3. AIの限界を知ることが、これからの医師の必須能力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79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不作為バイアス、フレーミング効果はAIにも存在する（PNAS 2026）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機能的忠実度は高いが、会話的忠実度は低い（JMIR 2026）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Stage 2以降の複雑さは、現在のAIの限界の先にある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7772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[ ] 明日の外来で、AIに「ソクラテス的ガイド」として1回聞いてみる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[ ] 同僚と「AIを使って失敗した体験」を1つ共有する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[ ] Mount Sinai論文またはPNAS論文のAbstractを1本読む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[ ] 自分の業務で「AIに任せたい業務」と「AIに任せたくない業務」を書き出す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Slide 14: 参考文献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Mount Sinai (2026) — Orchestrated Multi-Agent AI Systems Outperform Single Agents in Health Care. npj Health Systems.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Frontiers in Digital Health (2025) — Transforming Clinical Reasoning: The Role of AI in Supporting Human Cognitive Limitations.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PNAS (2026) — LLMs Amplify Cognitive Biases in Moral Decision-Making.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JMIR Formative Research (2026/3) — Scaling Multimodal Agentic AI in Medical Education: Multisite Cross-Sectional Study.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JMIR Medical Informatics (2026) — LLM-Based Virtual Patient Systems: Comprehensive Systematic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npj Digital Medicine (2026) — Anchoring Bias in Clinical LLMs.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IME 2026 — Innovations in Medical Education Conference, University of Miami.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AMA — Boost Health AI Training Across Medical Education Continuum.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777240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HIMSS26 — Multi-AI Agents for Clinical Decision Support (BJC Healthcare).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t>Generated by Scribe Agent | Learning Design Lab | 2026-03-26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t>Integrated from: 2026-03-21 Multi-Agent AI, 2026-03-25 AI Clinical Reasoning, 2026-03-26 Briefing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