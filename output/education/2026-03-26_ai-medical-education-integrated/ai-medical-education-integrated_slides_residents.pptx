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6B7B8D"/>
                </a:solidFill>
                <a:latin typeface="Calibri"/>
              </a:defRPr>
            </a:pPr>
            <a:r>
              <a:t>AI時代の臨床推論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0F4F8"/>
                </a:solidFill>
                <a:latin typeface="Calibri"/>
              </a:defRPr>
            </a:pPr>
            <a:r>
              <a:t>使いこなす力と疑う力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371600"/>
            <a:ext cx="3657600" cy="54864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840480" cy="137160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600" b="1">
                <a:solidFill>
                  <a:srgbClr val="0F1B3D"/>
                </a:solidFill>
                <a:latin typeface="Calibri"/>
              </a:defRPr>
            </a:pPr>
            <a:r>
              <a:t>80%超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38404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0F1B3D"/>
                </a:solidFill>
                <a:latin typeface="Calibri"/>
              </a:defRPr>
            </a:pPr>
            <a:r>
              <a:t>の医師がAIを臨床活用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286000"/>
            <a:ext cx="5486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B4A6"/>
                </a:solidFill>
                <a:latin typeface="Calibri"/>
              </a:defRPr>
            </a:pPr>
            <a:r>
              <a:t>しかし…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1828800"/>
            <a:ext cx="3840480" cy="13716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92024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0F4F8"/>
                </a:solidFill>
                <a:latin typeface="Calibri"/>
              </a:defRPr>
            </a:pPr>
            <a:r>
              <a:t>AI+医師 &lt; AI単独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560320"/>
            <a:ext cx="38404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0F4F8"/>
                </a:solidFill>
                <a:latin typeface="Calibri"/>
              </a:defRPr>
            </a:pPr>
            <a:r>
              <a:t>診断精度 76% vs 90%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66160"/>
            <a:ext cx="54864" cy="73152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56616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3931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AIは味方か、それとも新しい罠か？</a:t>
            </a:r>
            <a:br/>
            <a:r>
              <a:t>— AMA調査 / IME 2026 / Frontiers in Digital Health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Calibri"/>
              </a:defRPr>
            </a:pPr>
            <a:r>
              <a:t>今日の学習目標（45分）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7680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00B4A6"/>
                </a:solidFill>
                <a:latin typeface="Calibri"/>
              </a:defRPr>
            </a:pPr>
            <a:r>
              <a:t>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AIの3世代とマルチエージェントの概念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680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39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00B4A6"/>
                </a:solidFill>
                <a:latin typeface="Calibri"/>
              </a:defRPr>
            </a:pPr>
            <a:r>
              <a:t>分析できる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194560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AIが持つ認知バイアスの種類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26080"/>
            <a:ext cx="7680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00B4A6"/>
                </a:solidFill>
                <a:latin typeface="Calibri"/>
              </a:defRPr>
            </a:pPr>
            <a:r>
              <a:t>判断できる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017520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AIを使うべき場面と逆効果な場面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49039"/>
            <a:ext cx="7680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94759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00B4A6"/>
                </a:solidFill>
                <a:latin typeface="Calibri"/>
              </a:defRPr>
            </a:pPr>
            <a:r>
              <a:t>提案できる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840479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自分の研修にAIをどう組み込むか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8"/>
                </a:solidFill>
                <a:latin typeface="Calibri"/>
              </a:defRPr>
            </a:pPr>
            <a:r>
              <a:t>AIの進化 — 3世代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1005840"/>
          </a:xfrm>
          <a:prstGeom prst="rect">
            <a:avLst/>
          </a:prstGeom>
          <a:solidFill>
            <a:srgbClr val="0F1B3D"/>
          </a:solidFill>
          <a:ln w="12700">
            <a:solidFill>
              <a:srgbClr val="6B7B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F0F4F8"/>
                </a:solidFill>
                <a:latin typeface="Calibri"/>
              </a:defRPr>
            </a:pPr>
            <a:r>
              <a:t>第1世代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143000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0F4F8"/>
                </a:solidFill>
                <a:latin typeface="Calibri"/>
              </a:defRPr>
            </a:pPr>
            <a:r>
              <a:t>ルールベース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114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alibri"/>
              </a:defRPr>
            </a:pPr>
            <a:r>
              <a:t>人間がルールを書く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2588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alibri"/>
              </a:defRPr>
            </a:pPr>
            <a:r>
              <a:t>例: 処方チェックシステム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8229600" cy="1005840"/>
          </a:xfrm>
          <a:prstGeom prst="rect">
            <a:avLst/>
          </a:prstGeom>
          <a:solidFill>
            <a:srgbClr val="0F1B3D"/>
          </a:solidFill>
          <a:ln w="12700">
            <a:solidFill>
              <a:srgbClr val="6B7B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1371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F0F4F8"/>
                </a:solidFill>
                <a:latin typeface="Calibri"/>
              </a:defRPr>
            </a:pPr>
            <a:r>
              <a:t>第2世代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331720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0F4F8"/>
                </a:solidFill>
                <a:latin typeface="Calibri"/>
              </a:defRPr>
            </a:pPr>
            <a:r>
              <a:t>生成AI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4114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alibri"/>
              </a:defRPr>
            </a:pPr>
            <a:r>
              <a:t>1つのAIが何でもやる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1460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alibri"/>
              </a:defRPr>
            </a:pPr>
            <a:r>
              <a:t>例: ChatGPTに症例を聞く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520439"/>
            <a:ext cx="1371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F1B3D"/>
                </a:solidFill>
                <a:latin typeface="Calibri"/>
              </a:defRPr>
            </a:pPr>
            <a:r>
              <a:t>第3世代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520439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0F1B3D"/>
                </a:solidFill>
                <a:latin typeface="Calibri"/>
              </a:defRPr>
            </a:pPr>
            <a:r>
              <a:t>エージェントAI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4114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0F1B3D"/>
                </a:solidFill>
                <a:latin typeface="Calibri"/>
              </a:defRPr>
            </a:pPr>
            <a:r>
              <a:t>専門AIチームが協力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70332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0F1B3D"/>
                </a:solidFill>
                <a:latin typeface="Calibri"/>
              </a:defRPr>
            </a:pPr>
            <a:r>
              <a:t>例: 複数AIが分担して診断支援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マルチエージェント = チーム医療のAI版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1097280"/>
            <a:ext cx="3657600" cy="64008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1143000"/>
            <a:ext cx="36576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0F1B3D"/>
                </a:solidFill>
                <a:latin typeface="Calibri"/>
              </a:defRPr>
            </a:pPr>
            <a:r>
              <a:t>Supervisor Agent（総合医）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103120"/>
            <a:ext cx="2011680" cy="548640"/>
          </a:xfrm>
          <a:prstGeom prst="rect">
            <a:avLst/>
          </a:prstGeom>
          <a:solidFill>
            <a:srgbClr val="E6F0EE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130552"/>
            <a:ext cx="20116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検査データ専門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2103120"/>
            <a:ext cx="2011680" cy="548640"/>
          </a:xfrm>
          <a:prstGeom prst="rect">
            <a:avLst/>
          </a:prstGeom>
          <a:solidFill>
            <a:srgbClr val="E6F0EE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2130552"/>
            <a:ext cx="20116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画像診断専門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103120"/>
            <a:ext cx="2011680" cy="548640"/>
          </a:xfrm>
          <a:prstGeom prst="rect">
            <a:avLst/>
          </a:prstGeom>
          <a:solidFill>
            <a:srgbClr val="E6F0EE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130552"/>
            <a:ext cx="20116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薬剤相互作用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103120"/>
            <a:ext cx="2011680" cy="548640"/>
          </a:xfrm>
          <a:prstGeom prst="rect">
            <a:avLst/>
          </a:prstGeom>
          <a:solidFill>
            <a:srgbClr val="E6F0EE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130552"/>
            <a:ext cx="20116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ガイドライン照合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B4A6"/>
                </a:solidFill>
                <a:latin typeface="Calibri"/>
              </a:defRPr>
            </a:pPr>
            <a:r>
              <a:t>Mount Sinai研究の3つの発見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83280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B4A6"/>
                </a:solidFill>
                <a:latin typeface="Calibri"/>
              </a:defRPr>
            </a:pPr>
            <a:r>
              <a:t>  精度向上: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38328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マルチエージェントが単一AIを統計的に有意に上回る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886200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B4A6"/>
                </a:solidFill>
                <a:latin typeface="Calibri"/>
              </a:defRPr>
            </a:pPr>
            <a:r>
              <a:t>  コスト削減: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88620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計算コストを最大65分の1に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89120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B4A6"/>
                </a:solidFill>
                <a:latin typeface="Calibri"/>
              </a:defRPr>
            </a:pPr>
            <a:r>
              <a:t>  スケーラビリティ: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38912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タスク増加でも性能維持（単一AIは低下）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8"/>
                </a:solidFill>
                <a:latin typeface="Calibri"/>
              </a:defRPr>
            </a:pPr>
            <a:r>
              <a:t>AIが引き起こす認知バイアス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931920" cy="10058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0F4F8"/>
                </a:solidFill>
                <a:latin typeface="Calibri"/>
              </a:defRPr>
            </a:pPr>
            <a:r>
              <a:t>アンカリング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657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alibri"/>
              </a:defRPr>
            </a:pPr>
            <a:r>
              <a:t>AIの最初の提案に引きずられる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097280"/>
            <a:ext cx="4114800" cy="100584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14300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F1B3D"/>
                </a:solidFill>
                <a:latin typeface="Calibri"/>
              </a:defRPr>
            </a:pPr>
            <a:r>
              <a:t>対策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55448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0F1B3D"/>
                </a:solidFill>
                <a:latin typeface="Calibri"/>
              </a:defRPr>
            </a:pPr>
            <a:r>
              <a:t>鑑別を自分で考えてからAIに聞く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77439"/>
            <a:ext cx="3931920" cy="10058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23159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0F4F8"/>
                </a:solidFill>
                <a:latin typeface="Calibri"/>
              </a:defRPr>
            </a:pPr>
            <a:r>
              <a:t>自動化バイアス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34639"/>
            <a:ext cx="3657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alibri"/>
              </a:defRPr>
            </a:pPr>
            <a:r>
              <a:t>AIが正しいと無条件に信じる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2377439"/>
            <a:ext cx="4114800" cy="100584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2423159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F1B3D"/>
                </a:solidFill>
                <a:latin typeface="Calibri"/>
              </a:defRPr>
            </a:pPr>
            <a:r>
              <a:t>対策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834639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0F1B3D"/>
                </a:solidFill>
                <a:latin typeface="Calibri"/>
              </a:defRPr>
            </a:pPr>
            <a:r>
              <a:t>「AIが言ったから」を理由にしない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3931920" cy="10058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0332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0F4F8"/>
                </a:solidFill>
                <a:latin typeface="Calibri"/>
              </a:defRPr>
            </a:pPr>
            <a:r>
              <a:t>確証バイアス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3657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alibri"/>
              </a:defRPr>
            </a:pPr>
            <a:r>
              <a:t>AIの答えを支持する情報だけ探す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3657600"/>
            <a:ext cx="4114800" cy="100584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370332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F1B3D"/>
                </a:solidFill>
                <a:latin typeface="Calibri"/>
              </a:defRPr>
            </a:pPr>
            <a:r>
              <a:t>対策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11480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0F1B3D"/>
                </a:solidFill>
                <a:latin typeface="Calibri"/>
              </a:defRPr>
            </a:pPr>
            <a:r>
              <a:t>反証を意識的に探すルーチン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AIを使うべき場面 vs 使うと危ない場面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931920" cy="228600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0F1B3D"/>
                </a:solidFill>
                <a:latin typeface="Calibri"/>
              </a:defRPr>
            </a:pPr>
            <a:r>
              <a:t>AIが得意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474720" cy="164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0F1B3D"/>
                </a:solidFill>
                <a:latin typeface="Calibri"/>
              </a:defRPr>
              <a:buChar char="●"/>
            </a:pPr>
            <a:r>
              <a:t>網羅的な鑑別診断リスト</a:t>
            </a:r>
          </a:p>
          <a:p>
            <a:pPr>
              <a:defRPr sz="1200">
                <a:solidFill>
                  <a:srgbClr val="0F1B3D"/>
                </a:solidFill>
                <a:latin typeface="Calibri"/>
              </a:defRPr>
              <a:buChar char="●"/>
            </a:pPr>
            <a:r>
              <a:t>ガイドラインの確認</a:t>
            </a:r>
          </a:p>
          <a:p>
            <a:pPr>
              <a:defRPr sz="1200">
                <a:solidFill>
                  <a:srgbClr val="0F1B3D"/>
                </a:solidFill>
                <a:latin typeface="Calibri"/>
              </a:defRPr>
              <a:buChar char="●"/>
            </a:pPr>
            <a:r>
              <a:t>薬剤相互作用チェック</a:t>
            </a:r>
          </a:p>
          <a:p>
            <a:pPr>
              <a:defRPr sz="1200">
                <a:solidFill>
                  <a:srgbClr val="0F1B3D"/>
                </a:solidFill>
                <a:latin typeface="Calibri"/>
              </a:defRPr>
              <a:buChar char="●"/>
            </a:pPr>
            <a:r>
              <a:t>文献検索・要約</a:t>
            </a:r>
          </a:p>
          <a:p>
            <a:pPr>
              <a:defRPr sz="1200">
                <a:solidFill>
                  <a:srgbClr val="0F1B3D"/>
                </a:solidFill>
                <a:latin typeface="Calibri"/>
              </a:defRPr>
              <a:buChar char="●"/>
            </a:pPr>
            <a:r>
              <a:t>教育シナリオの生成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097280"/>
            <a:ext cx="4114800" cy="22860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143000"/>
            <a:ext cx="4114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0F4F8"/>
                </a:solidFill>
                <a:latin typeface="Calibri"/>
              </a:defRPr>
            </a:pPr>
            <a:r>
              <a:t>AIが危ない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554480"/>
            <a:ext cx="3657600" cy="164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F0F4F8"/>
                </a:solidFill>
                <a:latin typeface="Calibri"/>
              </a:defRPr>
              <a:buChar char="●"/>
            </a:pPr>
            <a:r>
              <a:t>未経験の症候の最終診断</a:t>
            </a:r>
          </a:p>
          <a:p>
            <a:pPr>
              <a:defRPr sz="1200">
                <a:solidFill>
                  <a:srgbClr val="F0F4F8"/>
                </a:solidFill>
                <a:latin typeface="Calibri"/>
              </a:defRPr>
              <a:buChar char="●"/>
            </a:pPr>
            <a:r>
              <a:t>患者の価値観を踏まえた意思決定</a:t>
            </a:r>
          </a:p>
          <a:p>
            <a:pPr>
              <a:defRPr sz="1200">
                <a:solidFill>
                  <a:srgbClr val="F0F4F8"/>
                </a:solidFill>
                <a:latin typeface="Calibri"/>
              </a:defRPr>
              <a:buChar char="●"/>
            </a:pPr>
            <a:r>
              <a:t>文脈依存の臨床判断</a:t>
            </a:r>
          </a:p>
          <a:p>
            <a:pPr>
              <a:defRPr sz="1200">
                <a:solidFill>
                  <a:srgbClr val="F0F4F8"/>
                </a:solidFill>
                <a:latin typeface="Calibri"/>
              </a:defRPr>
              <a:buChar char="●"/>
            </a:pPr>
            <a:r>
              <a:t>ハルシネーション（もっともらしい嘘）</a:t>
            </a:r>
          </a:p>
          <a:p>
            <a:pPr>
              <a:defRPr sz="1200">
                <a:solidFill>
                  <a:srgbClr val="F0F4F8"/>
                </a:solidFill>
                <a:latin typeface="Calibri"/>
              </a:defRPr>
              <a:buChar char="●"/>
            </a:pPr>
            <a:r>
              <a:t>感情的サポートが必要な場面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40480"/>
            <a:ext cx="54864" cy="45720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840480"/>
            <a:ext cx="81198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13632"/>
            <a:ext cx="78638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Georgia"/>
              </a:defRPr>
            </a:pPr>
            <a:r>
              <a:t>AIは「考える相棒」であって「判断する主治医」ではない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F0F4F8"/>
                </a:solidFill>
                <a:latin typeface="Calibri"/>
              </a:defRPr>
            </a:pPr>
            <a:r>
              <a:t>AIロールプレイ（15分）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6B7B8D"/>
                </a:solidFill>
                <a:latin typeface="Calibri"/>
              </a:defRPr>
            </a:pPr>
            <a:r>
              <a:t>3つの役割を体験してみましょう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solidFill>
            <a:srgbClr val="0F1B3D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00B4A6"/>
                </a:solidFill>
                <a:latin typeface="Calibri"/>
              </a:defRPr>
            </a:pPr>
            <a:r>
              <a:t>Patient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00200"/>
            <a:ext cx="50292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Calibri"/>
              </a:defRPr>
            </a:pPr>
            <a:r>
              <a:t>症例を提示する</a:t>
            </a:r>
            <a:br/>
            <a:r>
              <a:t>（症状・検査結果を段階的に開示）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680960" cy="914400"/>
          </a:xfrm>
          <a:prstGeom prst="rect">
            <a:avLst/>
          </a:prstGeom>
          <a:solidFill>
            <a:srgbClr val="0F1B3D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97479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00B4A6"/>
                </a:solidFill>
                <a:latin typeface="Calibri"/>
              </a:defRPr>
            </a:pPr>
            <a:r>
              <a:t>Socratic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697479"/>
            <a:ext cx="50292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Calibri"/>
              </a:defRPr>
            </a:pPr>
            <a:r>
              <a:t>考えを深める質問をする</a:t>
            </a:r>
            <a:br/>
            <a:r>
              <a:t>（「なぜそう考えた？」「他には？」）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49039"/>
            <a:ext cx="7680960" cy="914400"/>
          </a:xfrm>
          <a:prstGeom prst="rect">
            <a:avLst/>
          </a:prstGeom>
          <a:solidFill>
            <a:srgbClr val="0F1B3D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94759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00B4A6"/>
                </a:solidFill>
                <a:latin typeface="Calibri"/>
              </a:defRPr>
            </a:pPr>
            <a:r>
              <a:t>Red Team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794759"/>
            <a:ext cx="50292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Calibri"/>
              </a:defRPr>
            </a:pPr>
            <a:r>
              <a:t>意図的に反論する</a:t>
            </a:r>
            <a:br/>
            <a:r>
              <a:t>（「この診断を否定するエビデンスは？」）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6B7B8D"/>
                </a:solidFill>
                <a:latin typeface="Calibri"/>
              </a:defRPr>
            </a:pPr>
            <a:r>
              <a:t>3人1組 | 各役割5分ずつ | 症例は配布シート参照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ロールプレイの振り返り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solidFill>
            <a:srgbClr val="E6F0EE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AIに引きずられた瞬間はあったか？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7680960" cy="548640"/>
          </a:xfrm>
          <a:prstGeom prst="rect">
            <a:avLst/>
          </a:prstGeom>
          <a:solidFill>
            <a:srgbClr val="E6F0EE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「自分で考える」と「AIに聞く」のバランスは？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680960" cy="548640"/>
          </a:xfrm>
          <a:prstGeom prst="rect">
            <a:avLst/>
          </a:prstGeom>
          <a:solidFill>
            <a:srgbClr val="E6F0EE"/>
          </a:solidFill>
          <a:ln w="12700">
            <a:solidFill>
              <a:srgbClr val="00B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Red Teamの反論で気づきはあったか？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40480"/>
            <a:ext cx="54864" cy="73152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8404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136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t>PNAS 2026: AIを使った群は、使わない群より確証バイアスが強くなった</a:t>
            </a:r>
            <a:br/>
            <a:r>
              <a:t>→ 「疑う力」を意識的に鍛える必要がある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F0F4F8"/>
                </a:solidFill>
                <a:latin typeface="Calibri"/>
              </a:defRPr>
            </a:pPr>
            <a:r>
              <a:t>AI活用の3つのルール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914400" cy="91440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9144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0F1B3D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14300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0F4F8"/>
                </a:solidFill>
                <a:latin typeface="Calibri"/>
              </a:defRPr>
            </a:pPr>
            <a:r>
              <a:t>まず自分で考える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55448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0F4F8"/>
                </a:solidFill>
                <a:latin typeface="Calibri"/>
              </a:defRPr>
            </a:pPr>
            <a:r>
              <a:t>鑑別を3つ挙げてからAIに聞く</a:t>
            </a:r>
            <a:br/>
            <a:r>
              <a:t>→ アンカリングを防ぐ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86000"/>
            <a:ext cx="914400" cy="91440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9144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0F1B3D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3172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0F4F8"/>
                </a:solidFill>
                <a:latin typeface="Calibri"/>
              </a:defRPr>
            </a:pPr>
            <a:r>
              <a:t>AIの答えを疑う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4320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0F4F8"/>
                </a:solidFill>
                <a:latin typeface="Calibri"/>
              </a:defRPr>
            </a:pPr>
            <a:r>
              <a:t>「AIが言ったから」を理由にしない</a:t>
            </a:r>
            <a:br/>
            <a:r>
              <a:t>→ 反証を探すルーチン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474720"/>
            <a:ext cx="914400" cy="91440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9144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0F1B3D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20439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0F4F8"/>
                </a:solidFill>
                <a:latin typeface="Calibri"/>
              </a:defRPr>
            </a:pPr>
            <a:r>
              <a:t>使った過程を記録する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93192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0F4F8"/>
                </a:solidFill>
                <a:latin typeface="Calibri"/>
              </a:defRPr>
            </a:pPr>
            <a:r>
              <a:t>どの場面でAIを使い、どう判断したか</a:t>
            </a:r>
            <a:br/>
            <a:r>
              <a:t>→ ポートフォリオに活かせる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持ち帰りのアクション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828800" cy="91440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8288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000" b="1">
                <a:solidFill>
                  <a:srgbClr val="0F1B3D"/>
                </a:solidFill>
                <a:latin typeface="Calibri"/>
              </a:defRPr>
            </a:pPr>
            <a:r>
              <a:t>今日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051560"/>
            <a:ext cx="5943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次の症例で「まず自分で3つ鑑別」→ AIに聞く、を試す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18288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000" b="1">
                <a:solidFill>
                  <a:srgbClr val="0F1B3D"/>
                </a:solidFill>
                <a:latin typeface="Calibri"/>
              </a:defRPr>
            </a:pPr>
            <a:r>
              <a:t>今週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148840"/>
            <a:ext cx="5943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AIの提案を1回は意識的に疑ってみる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08960"/>
            <a:ext cx="1828800" cy="91440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18288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000" b="1">
                <a:solidFill>
                  <a:srgbClr val="0F1B3D"/>
                </a:solidFill>
                <a:latin typeface="Calibri"/>
              </a:defRPr>
            </a:pPr>
            <a:r>
              <a:t>今月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246120"/>
            <a:ext cx="5943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AI活用の経験をポートフォリオに1つ書く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4206240"/>
            <a:ext cx="54864" cy="457200"/>
          </a:xfrm>
          <a:prstGeom prst="rect">
            <a:avLst/>
          </a:prstGeom>
          <a:solidFill>
            <a:srgbClr val="00B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81328" y="4206240"/>
            <a:ext cx="62910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4279392"/>
            <a:ext cx="60350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Georgia"/>
              </a:defRPr>
            </a:pPr>
            <a:r>
              <a:t>AIは最強の相棒になれる。でも、主治医はあなたです。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